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8" d="100"/>
          <a:sy n="58" d="100"/>
        </p:scale>
        <p:origin x="78" y="10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c:v>
                </c:pt>
              </c:strCache>
            </c:strRef>
          </c:tx>
          <c:spPr>
            <a:ln w="31750">
              <a:solidFill>
                <a:srgbClr val="2E75B6"/>
              </a:solidFill>
            </a:ln>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10.9</c:v>
                </c:pt>
                <c:pt idx="1">
                  <c:v>11.5</c:v>
                </c:pt>
                <c:pt idx="2">
                  <c:v>13.1</c:v>
                </c:pt>
                <c:pt idx="3">
                  <c:v>12.2</c:v>
                </c:pt>
                <c:pt idx="4">
                  <c:v>11</c:v>
                </c:pt>
                <c:pt idx="5">
                  <c:v>12.9</c:v>
                </c:pt>
                <c:pt idx="6">
                  <c:v>11.7</c:v>
                </c:pt>
                <c:pt idx="7">
                  <c:v>9.4</c:v>
                </c:pt>
                <c:pt idx="8">
                  <c:v>9.1999999999999993</c:v>
                </c:pt>
                <c:pt idx="9">
                  <c:v>12.5</c:v>
                </c:pt>
                <c:pt idx="10">
                  <c:v>12.6</c:v>
                </c:pt>
                <c:pt idx="11">
                  <c:v>12.3</c:v>
                </c:pt>
              </c:numCache>
            </c:numRef>
          </c:val>
          <c:smooth val="0"/>
          <c:extLst>
            <c:ext xmlns:c16="http://schemas.microsoft.com/office/drawing/2014/chart" uri="{C3380CC4-5D6E-409C-BE32-E72D297353CC}">
              <c16:uniqueId val="{00000000-CD01-4927-9DD2-2D4438B6D23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w="9525">
            <a:solidFill>
              <a:srgbClr val="DFE6EE"/>
            </a:solidFill>
          </a:ln>
        </c:spPr>
        <c:txPr>
          <a:bodyPr/>
          <a:lstStyle/>
          <a:p>
            <a:pPr>
              <a:defRPr sz="950">
                <a:solidFill>
                  <a:srgbClr val="64748B"/>
                </a:solidFill>
                <a:latin typeface="Calibri"/>
              </a:defRPr>
            </a:pPr>
            <a:endParaRPr lang="en-US"/>
          </a:p>
        </c:txPr>
        <c:crossAx val="2140495176"/>
        <c:crosses val="autoZero"/>
        <c:auto val="1"/>
        <c:lblAlgn val="ctr"/>
        <c:lblOffset val="100"/>
        <c:noMultiLvlLbl val="0"/>
      </c:catAx>
      <c:valAx>
        <c:axId val="2140495176"/>
        <c:scaling>
          <c:orientation val="minMax"/>
          <c:max val="14"/>
          <c:min val="8"/>
        </c:scaling>
        <c:delete val="0"/>
        <c:axPos val="l"/>
        <c:majorGridlines>
          <c:spPr>
            <a:ln w="6350">
              <a:solidFill>
                <a:srgbClr val="DFE6EE"/>
              </a:solidFill>
            </a:ln>
          </c:spPr>
        </c:majorGridlines>
        <c:numFmt formatCode="0" sourceLinked="0"/>
        <c:majorTickMark val="out"/>
        <c:minorTickMark val="none"/>
        <c:tickLblPos val="nextTo"/>
        <c:spPr>
          <a:ln w="9525">
            <a:solidFill>
              <a:srgbClr val="DFE6EE"/>
            </a:solidFill>
          </a:ln>
        </c:spPr>
        <c:txPr>
          <a:bodyPr/>
          <a:lstStyle/>
          <a:p>
            <a:pPr>
              <a:defRPr sz="950">
                <a:solidFill>
                  <a:srgbClr val="64748B"/>
                </a:solidFill>
                <a:latin typeface="Calibri"/>
              </a:defRPr>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c:v>
                </c:pt>
              </c:strCache>
            </c:strRef>
          </c:tx>
          <c:dPt>
            <c:idx val="0"/>
            <c:bubble3D val="0"/>
            <c:spPr>
              <a:solidFill>
                <a:srgbClr val="1F3A5F"/>
              </a:solidFill>
              <a:ln w="25400">
                <a:solidFill>
                  <a:srgbClr val="FFFFFF"/>
                </a:solidFill>
              </a:ln>
            </c:spPr>
            <c:extLst>
              <c:ext xmlns:c16="http://schemas.microsoft.com/office/drawing/2014/chart" uri="{C3380CC4-5D6E-409C-BE32-E72D297353CC}">
                <c16:uniqueId val="{00000001-F42C-41E9-B84A-62FC1CD28E38}"/>
              </c:ext>
            </c:extLst>
          </c:dPt>
          <c:dPt>
            <c:idx val="1"/>
            <c:bubble3D val="0"/>
            <c:spPr>
              <a:solidFill>
                <a:srgbClr val="2E75B6"/>
              </a:solidFill>
              <a:ln w="25400">
                <a:solidFill>
                  <a:srgbClr val="FFFFFF"/>
                </a:solidFill>
              </a:ln>
            </c:spPr>
            <c:extLst>
              <c:ext xmlns:c16="http://schemas.microsoft.com/office/drawing/2014/chart" uri="{C3380CC4-5D6E-409C-BE32-E72D297353CC}">
                <c16:uniqueId val="{00000003-F42C-41E9-B84A-62FC1CD28E38}"/>
              </c:ext>
            </c:extLst>
          </c:dPt>
          <c:cat>
            <c:strRef>
              <c:f>Sheet1!$A$2:$A$3</c:f>
              <c:strCache>
                <c:ptCount val="2"/>
                <c:pt idx="0">
                  <c:v>Male</c:v>
                </c:pt>
                <c:pt idx="1">
                  <c:v>Female</c:v>
                </c:pt>
              </c:strCache>
            </c:strRef>
          </c:cat>
          <c:val>
            <c:numRef>
              <c:f>Sheet1!$B$2:$B$3</c:f>
              <c:numCache>
                <c:formatCode>General</c:formatCode>
                <c:ptCount val="2"/>
                <c:pt idx="0">
                  <c:v>52</c:v>
                </c:pt>
                <c:pt idx="1">
                  <c:v>48</c:v>
                </c:pt>
              </c:numCache>
            </c:numRef>
          </c:val>
          <c:extLst>
            <c:ext xmlns:c16="http://schemas.microsoft.com/office/drawing/2014/chart" uri="{C3380CC4-5D6E-409C-BE32-E72D297353CC}">
              <c16:uniqueId val="{00000004-F42C-41E9-B84A-62FC1CD28E38}"/>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1000">
              <a:solidFill>
                <a:srgbClr val="64748B"/>
              </a:solidFill>
              <a:latin typeface="Calibri"/>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c:v>
                </c:pt>
              </c:strCache>
            </c:strRef>
          </c:tx>
          <c:spPr>
            <a:solidFill>
              <a:srgbClr val="2E75B6"/>
            </a:solidFill>
            <a:ln>
              <a:noFill/>
            </a:ln>
          </c:spPr>
          <c:invertIfNegative val="1"/>
          <c:dLbls>
            <c:numFmt formatCode="0.0" sourceLinked="0"/>
            <c:spPr>
              <a:noFill/>
              <a:ln>
                <a:noFill/>
              </a:ln>
              <a:effectLst/>
            </c:spPr>
            <c:txPr>
              <a:bodyPr/>
              <a:lstStyle/>
              <a:p>
                <a:pPr>
                  <a:defRPr sz="950" b="1">
                    <a:solidFill>
                      <a:srgbClr val="1F3A5F"/>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Adult</c:v>
                </c:pt>
                <c:pt idx="1">
                  <c:v>Middle Age</c:v>
                </c:pt>
                <c:pt idx="2">
                  <c:v>Young</c:v>
                </c:pt>
                <c:pt idx="3">
                  <c:v>Senior</c:v>
                </c:pt>
              </c:strCache>
            </c:strRef>
          </c:cat>
          <c:val>
            <c:numRef>
              <c:f>Sheet1!$B$2:$B$5</c:f>
              <c:numCache>
                <c:formatCode>General</c:formatCode>
                <c:ptCount val="4"/>
                <c:pt idx="0">
                  <c:v>46.3</c:v>
                </c:pt>
                <c:pt idx="1">
                  <c:v>40.799999999999997</c:v>
                </c:pt>
                <c:pt idx="2">
                  <c:v>37.200000000000003</c:v>
                </c:pt>
                <c:pt idx="3">
                  <c:v>15.1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190-4F51-A84D-F6BE38AAB0D3}"/>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w="9525">
            <a:solidFill>
              <a:srgbClr val="DFE6EE"/>
            </a:solidFill>
          </a:ln>
        </c:spPr>
        <c:txPr>
          <a:bodyPr/>
          <a:lstStyle/>
          <a:p>
            <a:pPr>
              <a:defRPr sz="950">
                <a:solidFill>
                  <a:srgbClr val="64748B"/>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w="9525">
            <a:noFill/>
          </a:ln>
        </c:spPr>
        <c:txPr>
          <a:bodyPr/>
          <a:lstStyle/>
          <a:p>
            <a:pPr>
              <a:defRPr sz="100">
                <a:solidFill>
                  <a:srgbClr val="FFFFFF"/>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v>
                </c:pt>
              </c:strCache>
            </c:strRef>
          </c:tx>
          <c:spPr>
            <a:solidFill>
              <a:srgbClr val="2E75B6"/>
            </a:solidFill>
            <a:ln>
              <a:noFill/>
            </a:ln>
          </c:spPr>
          <c:invertIfNegative val="1"/>
          <c:dPt>
            <c:idx val="5"/>
            <c:invertIfNegative val="1"/>
            <c:bubble3D val="0"/>
            <c:spPr>
              <a:solidFill>
                <a:srgbClr val="1F3A5F"/>
              </a:solidFill>
            </c:spPr>
            <c:extLst>
              <c:ext xmlns:c16="http://schemas.microsoft.com/office/drawing/2014/chart" uri="{C3380CC4-5D6E-409C-BE32-E72D297353CC}">
                <c16:uniqueId val="{00000001-891F-4A96-B0F4-BF86443D2403}"/>
              </c:ext>
            </c:extLst>
          </c:dPt>
          <c:dLbls>
            <c:numFmt formatCode="0.0" sourceLinked="0"/>
            <c:spPr>
              <a:noFill/>
              <a:ln>
                <a:noFill/>
              </a:ln>
              <a:effectLst/>
            </c:spPr>
            <c:txPr>
              <a:bodyPr/>
              <a:lstStyle/>
              <a:p>
                <a:pPr>
                  <a:defRPr sz="950" b="1">
                    <a:solidFill>
                      <a:srgbClr val="1F3A5F"/>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Delhi</c:v>
                </c:pt>
                <c:pt idx="1">
                  <c:v>Hyderabad</c:v>
                </c:pt>
                <c:pt idx="2">
                  <c:v>Mumbai</c:v>
                </c:pt>
                <c:pt idx="3">
                  <c:v>Bengaluru</c:v>
                </c:pt>
                <c:pt idx="4">
                  <c:v>Kolkata</c:v>
                </c:pt>
                <c:pt idx="5">
                  <c:v>Patna</c:v>
                </c:pt>
              </c:strCache>
            </c:strRef>
          </c:cat>
          <c:val>
            <c:numRef>
              <c:f>Sheet1!$B$2:$B$7</c:f>
              <c:numCache>
                <c:formatCode>General</c:formatCode>
                <c:ptCount val="6"/>
                <c:pt idx="0">
                  <c:v>16.100000000000001</c:v>
                </c:pt>
                <c:pt idx="1">
                  <c:v>17.2</c:v>
                </c:pt>
                <c:pt idx="2">
                  <c:v>18.8</c:v>
                </c:pt>
                <c:pt idx="3">
                  <c:v>18.8</c:v>
                </c:pt>
                <c:pt idx="4">
                  <c:v>18.899999999999999</c:v>
                </c:pt>
                <c:pt idx="5">
                  <c:v>20.8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91F-4A96-B0F4-BF86443D2403}"/>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w="9525">
            <a:solidFill>
              <a:srgbClr val="DFE6EE"/>
            </a:solidFill>
          </a:ln>
        </c:spPr>
        <c:txPr>
          <a:bodyPr/>
          <a:lstStyle/>
          <a:p>
            <a:pPr>
              <a:defRPr sz="950">
                <a:solidFill>
                  <a:srgbClr val="64748B"/>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b"/>
        <c:numFmt formatCode="General" sourceLinked="1"/>
        <c:majorTickMark val="out"/>
        <c:minorTickMark val="none"/>
        <c:tickLblPos val="nextTo"/>
        <c:spPr>
          <a:ln w="9525">
            <a:noFill/>
          </a:ln>
        </c:spPr>
        <c:txPr>
          <a:bodyPr/>
          <a:lstStyle/>
          <a:p>
            <a:pPr>
              <a:defRPr sz="100">
                <a:solidFill>
                  <a:srgbClr val="FFFFFF"/>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c:v>
                </c:pt>
              </c:strCache>
            </c:strRef>
          </c:tx>
          <c:spPr>
            <a:solidFill>
              <a:srgbClr val="2E75B6"/>
            </a:solidFill>
            <a:ln>
              <a:noFill/>
            </a:ln>
          </c:spPr>
          <c:invertIfNegative val="1"/>
          <c:dPt>
            <c:idx val="0"/>
            <c:invertIfNegative val="1"/>
            <c:bubble3D val="0"/>
            <c:spPr>
              <a:solidFill>
                <a:srgbClr val="1F3A5F"/>
              </a:solidFill>
            </c:spPr>
            <c:extLst>
              <c:ext xmlns:c16="http://schemas.microsoft.com/office/drawing/2014/chart" uri="{C3380CC4-5D6E-409C-BE32-E72D297353CC}">
                <c16:uniqueId val="{00000001-3101-4C82-9B94-43A1C5EA30E7}"/>
              </c:ext>
            </c:extLst>
          </c:dPt>
          <c:dLbls>
            <c:numFmt formatCode="0.0" sourceLinked="0"/>
            <c:spPr>
              <a:noFill/>
              <a:ln>
                <a:noFill/>
              </a:ln>
              <a:effectLst/>
            </c:spPr>
            <c:txPr>
              <a:bodyPr/>
              <a:lstStyle/>
              <a:p>
                <a:pPr>
                  <a:defRPr sz="950" b="1">
                    <a:solidFill>
                      <a:srgbClr val="1F3A5F"/>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Electronics</c:v>
                </c:pt>
                <c:pt idx="1">
                  <c:v>Education</c:v>
                </c:pt>
                <c:pt idx="2">
                  <c:v>Grocery</c:v>
                </c:pt>
                <c:pt idx="3">
                  <c:v>Furniture</c:v>
                </c:pt>
                <c:pt idx="4">
                  <c:v>Fashion</c:v>
                </c:pt>
              </c:strCache>
            </c:strRef>
          </c:cat>
          <c:val>
            <c:numRef>
              <c:f>Sheet1!$B$2:$B$6</c:f>
              <c:numCache>
                <c:formatCode>General</c:formatCode>
                <c:ptCount val="5"/>
                <c:pt idx="0">
                  <c:v>50.8</c:v>
                </c:pt>
                <c:pt idx="1">
                  <c:v>25</c:v>
                </c:pt>
                <c:pt idx="2">
                  <c:v>22.2</c:v>
                </c:pt>
                <c:pt idx="3">
                  <c:v>21.5</c:v>
                </c:pt>
                <c:pt idx="4">
                  <c:v>19.8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101-4C82-9B94-43A1C5EA30E7}"/>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w="9525">
            <a:solidFill>
              <a:srgbClr val="DFE6EE"/>
            </a:solidFill>
          </a:ln>
        </c:spPr>
        <c:txPr>
          <a:bodyPr/>
          <a:lstStyle/>
          <a:p>
            <a:pPr>
              <a:defRPr sz="950">
                <a:solidFill>
                  <a:srgbClr val="64748B"/>
                </a:solidFill>
                <a:latin typeface="Calibri"/>
              </a:defRPr>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spPr>
          <a:ln w="9525">
            <a:noFill/>
          </a:ln>
        </c:spPr>
        <c:txPr>
          <a:bodyPr/>
          <a:lstStyle/>
          <a:p>
            <a:pPr>
              <a:defRPr sz="100">
                <a:solidFill>
                  <a:srgbClr val="FFFFFF"/>
                </a:solidFill>
                <a:latin typeface="Calibri"/>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20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I'm Durga Prasad. Over the next twelve minutes I'll show you how one thousand raw sales transactions become decisions leadership can sign. Three stages: understand the data, find the patterns, then test every pattern statistically before reporting it. The headline: one hundred thirty-nine million rupees of revenue, now fully understood. Let's begin.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objective: turn a raw transaction log into intelligence the business acts on. What makes this genuinely end-to-end is the sequence on the right — six disciplines, each producing a versioned deliverable. I cleaned the data before exploring it, explored it before querying it, queried it before testing it, and only reported what the tests confirmed. That discipline separates analytics from reporting.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project should start with the questions, not the data. Four questions shaped this one. What actually drives revenue. Whether demographics like gender and age really change spending — or if leadership was acting on assumption. Which cities deserve the next marketing dollar. And the question that separates analytics from reporting: can we trust what we see in a sample of this size? The stakes: next year's budgets depend on these answers being right.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raw material: one thousand transaction rows, nine hundred ninety-two orders, all of FY2025. Thirteen attributes per row in three groups — order identifiers, customer demographics, and transaction economics. Eight cities from Mumbai to Patna. Before any analysis, every column went through a documented quality audit. I also engineered one derived field — Age Group — which becomes critical on the customer story slide. The result: a dataset I can defend, not just describe.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toolchain mirrors what a real analytics team runs. Python for cleaning and aggregation. MySQL for business KPI queries — the same SQL a BI team would productionize. Power BI for two interactive dashboards. The whole workflow lives in Jupyter notebooks under Git, published to GitHub. The point isn't the logos — it's the shape. Anyone who clones the repo can re-run this entire analysis from raw file to dashboard output.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stages, run in strict order. Data immersion first — you can't clean what you haven't profiled. Wrangling followed, then exploratory analysis in Python. Stage four expressed every business question as SQL. Stage five is the differentiator: statistical validation, where every pattern faced a formal test. Only what survived the tests made it into this deck. Every stage ended with a committed artifact on GitHub, so the entire chain is auditable.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the stories, the scoreboard. Total revenue: one hundred thirty-nine million rupees. Nine hundred ninety-two orders at roughly two point seven a day. Nine hundred forty-seven unique customers — and that deserves a pause. Ninety-five percent bought exactly once. That single number is the most important on this slide: retention is the largest untapped lever in the data. Average order value is one forty thousand, bounded with ninety-five percent confidence between one thirty-two and one forty-six thousand. Everything that follows refines one of these six baselines.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revenue line tells a healthy story. Revenue lives in a nine-to-thirteen million band all year, with three reliable peaks — March at thirteen point one on fiscal year-end buying, June at twelve point nine, and the October-November festive run. The one genuine weakness: August and September sag to nine-point-three million, a thirty percent drop from the March peak. The structural read matters: this is seasonality, not decline. There is no downtrend. The prescription: protect the peaks with inventory readiness, and attack the trough with pre-festive campaigns.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Who is the customer? Males contribute fifty-two percent of revenue; Adults lead the age groups at forty-six million. It would be easy to build a persona deck around that. But this is where validation earns its keep. A t-test on gender returns p equals zero point four nine five — the gap is noise. ANOVA across age groups returns zero point nine seven — order values are statistically identical across every age band. The business implication: stop splitting marketing budgets by demographics. Segment on what people buy, where they live, and when.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geographic story carries the deck's biggest surprise. Ranking all eight cities, the winner isn't Mumbai or Delhi — it's Patna, at twenty point eight million and nearly fifteen percent of national revenue. Two readings matter. First: five cities hold sixty-eight percent of revenue — focused marketing is efficient. Second: high-value demand is not metro-exclusive. Tier-2 India buys premium baskets. The expansion playbook should follow revenue density, not city prestige.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Product tells a story of concentration. Electronics generates fifty point eight million — thirty-six percent of all revenue, more than double the next category. Laptop is the highest-revenue product at twenty-five million; Mobile is the volume king at over a thousand units. Two nuances add texture: Grocery posts the highest average order value at one forty-five thousand — bulk-buying worth cultivating. Fashion is the laggard at nineteen point eight million, sixty-one percent behind Electronics. That's a repositioning brief, not a reason to exit.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Analysis only creates value if decision-makers can use it without me in the room. The Executive Overview is the daily posture check: KPI cards, revenue breakdowns, monthly trend. The Customer Deep Dive serves targeting decisions: demographics, top customer list, order patterns by category. Both are fully interactive — a regional manager slices to their city and quarter and every visual recalculates instantly. Together they turn a one-time analysis into an operating tool.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why the deck can be trusted. Four formal tests, alpha five percent throughout. Pearson correlation: r equals zero point six five, p below one in a thousand — volume genuinely drives the top line. T-test on gender: p equals zero point five — the apparent gap is noise, not insight. ANOVA across age groups: p equals zero point nine seven — age does not shape order value. Confidence interval: the true average order value sits between one thirty-two and one forty-six thousand with ninety-five percent confidence. Two findings confirmed, two myths retired.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point in this SWOT traces to a tested finding. Strengths: a genuine revenue engine in Electronics, a premium average basket above one-forty thousand, and a well-spread eight-city footprint. Weaknesses mirror them directly: Fashion underperforms by sixty-one percent, the August-September trough cuts a third off peak revenue, and ninety-five percent of customers buy only once. The opportunities target those exact gaps: bundles, loyalty, East-India expansion. Notice the symmetry — every opportunity is a weakness, inverted. That's what makes the next slide actionable, not generic.</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recommendations in priority order. One and two protect the core: keep Electronics stocked and market Laptop and Mobile as hero products. Three and four are the value plays: bundles to push AOV past its current baseline, and a loyalty programme attacking the ninety-five percent one-time-buyer problem — the largest untapped lever in the data. Five: concentrate marketing where two-thirds of revenue lives, starting with Patna. Six: reposition Fashion rather than abandon it. Seven: cross-selling is provably profitable at r equals zero point six five. Eight: counter-seasonal campaigns to fill the August-September trough.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impact in business terms, not analytical ones. Revenue drivers identified and quantified: thirty-six percent of the top line traced, hero SKUs confirmed. Two costly demographic myths retired before they could misdirect budgets. Every reported insight statistically certified. Two Power BI dashboards live. Eight evidence-backed recommendations ready to act on. All four original business questions answered with quantified confidence. That is decision support: not more charts — fewer, better-defended decisions.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demonstrated. First, engineering discipline: a thousand messy rows became a reliable, queryable asset with a full audit trail. Second, intellectual honesty: validation confirmed the real levers and retired two myths that could have misdirected an entire marketing budget. Third, operational value: the work ends in dashboards the business checks daily and recommendations it acts on this quarter. Good analytics ends with decisions someone is willing to sign.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this goes next. Demand forecasting with ARIMA or Prophet lets inventory decisions run ahead of the seasonal peaks we proved. RFM segmentation gives the loyalty programme a precise target list. Market-basket analysis designs the bundles from actual co-purchase patterns. Automated ETL and Power BI Service with row-level security remove manual refresh and enable regional access. A/B frameworks extend the statistical toolkit from validating the past to measuring campaign ROI as it happens. Each item builds directly on an asset this project already created.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One thousand raw transactions, cleaned and audited; explored in Python and SQL; every insight statistically validated; delivered as two live Power BI dashboards and eight evidence-backed recommendations. The full project is public on GitHub — notebooks, SQL scripts, test results, dashboard files. I welcome questions on any stage of the pipeline, from cleaning decisions to the choice of statistical tests.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7.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0292"/>
          </a:xfrm>
          <a:prstGeom prst="roundRect">
            <a:avLst>
              <a:gd name="adj" fmla="val 163636"/>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143000"/>
            <a:ext cx="7772400" cy="292608"/>
          </a:xfrm>
          <a:prstGeom prst="rect">
            <a:avLst/>
          </a:prstGeom>
          <a:noFill/>
        </p:spPr>
        <p:txBody>
          <a:bodyPr wrap="square" lIns="0" tIns="0" rIns="0" bIns="0" anchor="t">
            <a:spAutoFit/>
          </a:bodyPr>
          <a:lstStyle/>
          <a:p>
            <a:pPr algn="l"/>
            <a:r>
              <a:rPr sz="1000" b="1" i="0">
                <a:solidFill>
                  <a:srgbClr val="A9C4E8"/>
                </a:solidFill>
                <a:latin typeface="Calibri"/>
              </a:rPr>
              <a:t>APEXPLANET SOFTWARE PVT. LTD.  ·  DATA ANALYTICS INTERNSHIP  ·  TASK 4</a:t>
            </a:r>
          </a:p>
        </p:txBody>
      </p:sp>
      <p:sp>
        <p:nvSpPr>
          <p:cNvPr id="4" name="TextBox 3"/>
          <p:cNvSpPr txBox="1"/>
          <p:nvPr/>
        </p:nvSpPr>
        <p:spPr>
          <a:xfrm>
            <a:off x="914399" y="1481328"/>
            <a:ext cx="10690167" cy="1772280"/>
          </a:xfrm>
          <a:prstGeom prst="rect">
            <a:avLst/>
          </a:prstGeom>
          <a:noFill/>
        </p:spPr>
        <p:txBody>
          <a:bodyPr wrap="square" lIns="0" tIns="0" rIns="0" bIns="0" anchor="t">
            <a:spAutoFit/>
          </a:bodyPr>
          <a:lstStyle/>
          <a:p>
            <a:pPr algn="l">
              <a:spcAft>
                <a:spcPts val="0"/>
              </a:spcAft>
            </a:pPr>
            <a:r>
              <a:rPr lang="en-IN" sz="5200" b="1" i="0" dirty="0">
                <a:solidFill>
                  <a:srgbClr val="FFFFFF"/>
                </a:solidFill>
                <a:latin typeface="Cambria"/>
              </a:rPr>
              <a:t>End-to-End Sales Analytics</a:t>
            </a:r>
            <a:r>
              <a:rPr sz="5200" b="1" i="0" dirty="0">
                <a:solidFill>
                  <a:srgbClr val="FFFFFF"/>
                </a:solidFill>
                <a:latin typeface="Cambria"/>
              </a:rPr>
              <a:t>,</a:t>
            </a:r>
          </a:p>
          <a:p>
            <a:pPr algn="l">
              <a:spcAft>
                <a:spcPts val="1400"/>
              </a:spcAft>
            </a:pPr>
            <a:r>
              <a:rPr lang="en-US" sz="3200" b="1" i="0" dirty="0">
                <a:solidFill>
                  <a:srgbClr val="A9C4E8"/>
                </a:solidFill>
                <a:latin typeface="Cambria"/>
              </a:rPr>
              <a:t>From Raw Data to Business Intelligence</a:t>
            </a:r>
          </a:p>
          <a:p>
            <a:pPr algn="l">
              <a:spcAft>
                <a:spcPts val="1400"/>
              </a:spcAft>
            </a:pPr>
            <a:r>
              <a:rPr lang="en-US" sz="1400" b="0" i="1" dirty="0">
                <a:solidFill>
                  <a:srgbClr val="A9C4E8"/>
                </a:solidFill>
                <a:latin typeface="Cambria"/>
              </a:rPr>
              <a:t>From </a:t>
            </a:r>
            <a:r>
              <a:rPr lang="en-US" sz="1550" b="0" i="1" dirty="0">
                <a:solidFill>
                  <a:srgbClr val="A9C4E8"/>
                </a:solidFill>
                <a:latin typeface="Cambria"/>
              </a:rPr>
              <a:t>1,000 raw transactions to statistically validated business decisions</a:t>
            </a:r>
          </a:p>
        </p:txBody>
      </p:sp>
      <p:sp>
        <p:nvSpPr>
          <p:cNvPr id="5" name="Rectangle 4"/>
          <p:cNvSpPr/>
          <p:nvPr/>
        </p:nvSpPr>
        <p:spPr>
          <a:xfrm>
            <a:off x="914400" y="3703320"/>
            <a:ext cx="6858000" cy="109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3886200"/>
            <a:ext cx="4572000" cy="713232"/>
          </a:xfrm>
          <a:prstGeom prst="rect">
            <a:avLst/>
          </a:prstGeom>
          <a:noFill/>
        </p:spPr>
        <p:txBody>
          <a:bodyPr wrap="square" lIns="0" tIns="0" rIns="0" bIns="0" anchor="t">
            <a:spAutoFit/>
          </a:bodyPr>
          <a:lstStyle/>
          <a:p>
            <a:pPr algn="l">
              <a:spcAft>
                <a:spcPts val="300"/>
              </a:spcAft>
            </a:pPr>
            <a:r>
              <a:rPr sz="1600" b="1" i="0">
                <a:solidFill>
                  <a:srgbClr val="FFFFFF"/>
                </a:solidFill>
                <a:latin typeface="Calibri"/>
              </a:rPr>
              <a:t>Durga Prasad</a:t>
            </a:r>
          </a:p>
          <a:p>
            <a:pPr algn="l"/>
            <a:r>
              <a:rPr sz="1150" b="0" i="0">
                <a:solidFill>
                  <a:srgbClr val="A9C4E8"/>
                </a:solidFill>
                <a:latin typeface="Calibri"/>
              </a:rPr>
              <a:t>Data Analyst Intern  ·  July 2026</a:t>
            </a:r>
          </a:p>
        </p:txBody>
      </p:sp>
      <p:sp>
        <p:nvSpPr>
          <p:cNvPr id="7" name="TextBox 6"/>
          <p:cNvSpPr txBox="1"/>
          <p:nvPr/>
        </p:nvSpPr>
        <p:spPr>
          <a:xfrm>
            <a:off x="914400" y="5138928"/>
            <a:ext cx="3474720" cy="566928"/>
          </a:xfrm>
          <a:prstGeom prst="rect">
            <a:avLst/>
          </a:prstGeom>
          <a:noFill/>
        </p:spPr>
        <p:txBody>
          <a:bodyPr wrap="square" lIns="0" tIns="0" rIns="0" bIns="0" anchor="t">
            <a:spAutoFit/>
          </a:bodyPr>
          <a:lstStyle/>
          <a:p>
            <a:pPr algn="l"/>
            <a:r>
              <a:rPr sz="2600" b="1" i="0">
                <a:solidFill>
                  <a:srgbClr val="FFFFFF"/>
                </a:solidFill>
                <a:latin typeface="Cambria"/>
              </a:rPr>
              <a:t>1,000</a:t>
            </a:r>
          </a:p>
        </p:txBody>
      </p:sp>
      <p:sp>
        <p:nvSpPr>
          <p:cNvPr id="8" name="TextBox 7"/>
          <p:cNvSpPr txBox="1"/>
          <p:nvPr/>
        </p:nvSpPr>
        <p:spPr>
          <a:xfrm>
            <a:off x="914400" y="5724144"/>
            <a:ext cx="3474720" cy="292608"/>
          </a:xfrm>
          <a:prstGeom prst="rect">
            <a:avLst/>
          </a:prstGeom>
          <a:noFill/>
        </p:spPr>
        <p:txBody>
          <a:bodyPr wrap="square" lIns="0" tIns="0" rIns="0" bIns="0" anchor="t">
            <a:spAutoFit/>
          </a:bodyPr>
          <a:lstStyle/>
          <a:p>
            <a:pPr algn="l"/>
            <a:r>
              <a:rPr sz="900" b="1" i="0">
                <a:solidFill>
                  <a:srgbClr val="A9C4E8"/>
                </a:solidFill>
                <a:latin typeface="Calibri"/>
              </a:rPr>
              <a:t>TRANSACTIONS ANALYSED</a:t>
            </a:r>
          </a:p>
        </p:txBody>
      </p:sp>
      <p:sp>
        <p:nvSpPr>
          <p:cNvPr id="9" name="TextBox 8"/>
          <p:cNvSpPr txBox="1"/>
          <p:nvPr/>
        </p:nvSpPr>
        <p:spPr>
          <a:xfrm>
            <a:off x="4663440" y="5138928"/>
            <a:ext cx="3474720" cy="566928"/>
          </a:xfrm>
          <a:prstGeom prst="rect">
            <a:avLst/>
          </a:prstGeom>
          <a:noFill/>
        </p:spPr>
        <p:txBody>
          <a:bodyPr wrap="square" lIns="0" tIns="0" rIns="0" bIns="0" anchor="t">
            <a:spAutoFit/>
          </a:bodyPr>
          <a:lstStyle/>
          <a:p>
            <a:pPr algn="l"/>
            <a:r>
              <a:rPr sz="2600" b="1" i="0">
                <a:solidFill>
                  <a:srgbClr val="FFFFFF"/>
                </a:solidFill>
                <a:latin typeface="Cambria"/>
              </a:rPr>
              <a:t>₹139.4M</a:t>
            </a:r>
          </a:p>
        </p:txBody>
      </p:sp>
      <p:sp>
        <p:nvSpPr>
          <p:cNvPr id="10" name="TextBox 9"/>
          <p:cNvSpPr txBox="1"/>
          <p:nvPr/>
        </p:nvSpPr>
        <p:spPr>
          <a:xfrm>
            <a:off x="4663440" y="5724144"/>
            <a:ext cx="3474720" cy="292608"/>
          </a:xfrm>
          <a:prstGeom prst="rect">
            <a:avLst/>
          </a:prstGeom>
          <a:noFill/>
        </p:spPr>
        <p:txBody>
          <a:bodyPr wrap="square" lIns="0" tIns="0" rIns="0" bIns="0" anchor="t">
            <a:spAutoFit/>
          </a:bodyPr>
          <a:lstStyle/>
          <a:p>
            <a:pPr algn="l"/>
            <a:r>
              <a:rPr sz="900" b="1" i="0">
                <a:solidFill>
                  <a:srgbClr val="A9C4E8"/>
                </a:solidFill>
                <a:latin typeface="Calibri"/>
              </a:rPr>
              <a:t>TOTAL REVENUE</a:t>
            </a:r>
          </a:p>
        </p:txBody>
      </p:sp>
      <p:sp>
        <p:nvSpPr>
          <p:cNvPr id="11" name="TextBox 10"/>
          <p:cNvSpPr txBox="1"/>
          <p:nvPr/>
        </p:nvSpPr>
        <p:spPr>
          <a:xfrm>
            <a:off x="8412480" y="5138928"/>
            <a:ext cx="3474720" cy="566928"/>
          </a:xfrm>
          <a:prstGeom prst="rect">
            <a:avLst/>
          </a:prstGeom>
          <a:noFill/>
        </p:spPr>
        <p:txBody>
          <a:bodyPr wrap="square" lIns="0" tIns="0" rIns="0" bIns="0" anchor="t">
            <a:spAutoFit/>
          </a:bodyPr>
          <a:lstStyle/>
          <a:p>
            <a:pPr algn="l"/>
            <a:r>
              <a:rPr sz="2600" b="1" i="0">
                <a:solidFill>
                  <a:srgbClr val="FFFFFF"/>
                </a:solidFill>
                <a:latin typeface="Cambria"/>
              </a:rPr>
              <a:t>4 / 4</a:t>
            </a:r>
          </a:p>
        </p:txBody>
      </p:sp>
      <p:sp>
        <p:nvSpPr>
          <p:cNvPr id="12" name="TextBox 11"/>
          <p:cNvSpPr txBox="1"/>
          <p:nvPr/>
        </p:nvSpPr>
        <p:spPr>
          <a:xfrm>
            <a:off x="8412480" y="5724144"/>
            <a:ext cx="3474720" cy="292608"/>
          </a:xfrm>
          <a:prstGeom prst="rect">
            <a:avLst/>
          </a:prstGeom>
          <a:noFill/>
        </p:spPr>
        <p:txBody>
          <a:bodyPr wrap="square" lIns="0" tIns="0" rIns="0" bIns="0" anchor="t">
            <a:spAutoFit/>
          </a:bodyPr>
          <a:lstStyle/>
          <a:p>
            <a:pPr algn="l"/>
            <a:r>
              <a:rPr sz="900" b="1" i="0">
                <a:solidFill>
                  <a:srgbClr val="A9C4E8"/>
                </a:solidFill>
                <a:latin typeface="Calibri"/>
              </a:rPr>
              <a:t>QUESTIONS ANSWERED</a:t>
            </a:r>
          </a:p>
        </p:txBody>
      </p:sp>
      <p:sp>
        <p:nvSpPr>
          <p:cNvPr id="13" name="Rounded Rectangle 12"/>
          <p:cNvSpPr/>
          <p:nvPr/>
        </p:nvSpPr>
        <p:spPr>
          <a:xfrm>
            <a:off x="9601200" y="1005840"/>
            <a:ext cx="2286000" cy="5120640"/>
          </a:xfrm>
          <a:prstGeom prst="roundRect">
            <a:avLst>
              <a:gd name="adj" fmla="val 3599"/>
            </a:avLst>
          </a:prstGeom>
          <a:solidFill>
            <a:srgbClr val="16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10928" y="1371600"/>
            <a:ext cx="2066543" cy="329184"/>
          </a:xfrm>
          <a:prstGeom prst="rect">
            <a:avLst/>
          </a:prstGeom>
          <a:noFill/>
        </p:spPr>
        <p:txBody>
          <a:bodyPr wrap="square" lIns="0" tIns="0" rIns="0" bIns="0" anchor="t">
            <a:spAutoFit/>
          </a:bodyPr>
          <a:lstStyle/>
          <a:p>
            <a:pPr algn="l"/>
            <a:r>
              <a:rPr sz="850" b="1" i="0">
                <a:solidFill>
                  <a:srgbClr val="A9C4E8"/>
                </a:solidFill>
                <a:latin typeface="Calibri"/>
              </a:rPr>
              <a:t>PROJECT SCOPE</a:t>
            </a:r>
          </a:p>
        </p:txBody>
      </p:sp>
      <p:sp>
        <p:nvSpPr>
          <p:cNvPr id="15" name="TextBox 14"/>
          <p:cNvSpPr txBox="1"/>
          <p:nvPr/>
        </p:nvSpPr>
        <p:spPr>
          <a:xfrm>
            <a:off x="9710928" y="1810512"/>
            <a:ext cx="2066543" cy="658368"/>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6</a:t>
            </a:r>
          </a:p>
          <a:p>
            <a:pPr algn="l"/>
            <a:r>
              <a:rPr sz="850" b="0" i="0">
                <a:solidFill>
                  <a:srgbClr val="A9C4E8"/>
                </a:solidFill>
                <a:latin typeface="Calibri"/>
              </a:rPr>
              <a:t>Analytics disciplines</a:t>
            </a:r>
          </a:p>
        </p:txBody>
      </p:sp>
      <p:sp>
        <p:nvSpPr>
          <p:cNvPr id="16" name="TextBox 15"/>
          <p:cNvSpPr txBox="1"/>
          <p:nvPr/>
        </p:nvSpPr>
        <p:spPr>
          <a:xfrm>
            <a:off x="9710928" y="2505456"/>
            <a:ext cx="2066543" cy="658368"/>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8</a:t>
            </a:r>
          </a:p>
          <a:p>
            <a:pPr algn="l"/>
            <a:r>
              <a:rPr sz="850" b="0" i="0">
                <a:solidFill>
                  <a:srgbClr val="A9C4E8"/>
                </a:solidFill>
                <a:latin typeface="Calibri"/>
              </a:rPr>
              <a:t>Cities covered</a:t>
            </a:r>
          </a:p>
        </p:txBody>
      </p:sp>
      <p:sp>
        <p:nvSpPr>
          <p:cNvPr id="17" name="TextBox 16"/>
          <p:cNvSpPr txBox="1"/>
          <p:nvPr/>
        </p:nvSpPr>
        <p:spPr>
          <a:xfrm>
            <a:off x="9710928" y="3200400"/>
            <a:ext cx="2066543" cy="658368"/>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5</a:t>
            </a:r>
          </a:p>
          <a:p>
            <a:pPr algn="l"/>
            <a:r>
              <a:rPr sz="850" b="0" i="0">
                <a:solidFill>
                  <a:srgbClr val="A9C4E8"/>
                </a:solidFill>
                <a:latin typeface="Calibri"/>
              </a:rPr>
              <a:t>Product categories</a:t>
            </a:r>
          </a:p>
        </p:txBody>
      </p:sp>
      <p:sp>
        <p:nvSpPr>
          <p:cNvPr id="18" name="TextBox 17"/>
          <p:cNvSpPr txBox="1"/>
          <p:nvPr/>
        </p:nvSpPr>
        <p:spPr>
          <a:xfrm>
            <a:off x="9710928" y="3895344"/>
            <a:ext cx="2066543" cy="658368"/>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4</a:t>
            </a:r>
          </a:p>
          <a:p>
            <a:pPr algn="l"/>
            <a:r>
              <a:rPr sz="850" b="0" i="0">
                <a:solidFill>
                  <a:srgbClr val="A9C4E8"/>
                </a:solidFill>
                <a:latin typeface="Calibri"/>
              </a:rPr>
              <a:t>Statistical tests</a:t>
            </a:r>
          </a:p>
        </p:txBody>
      </p:sp>
      <p:sp>
        <p:nvSpPr>
          <p:cNvPr id="19" name="TextBox 18"/>
          <p:cNvSpPr txBox="1"/>
          <p:nvPr/>
        </p:nvSpPr>
        <p:spPr>
          <a:xfrm>
            <a:off x="9710928" y="4590288"/>
            <a:ext cx="2066543" cy="658368"/>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2</a:t>
            </a:r>
          </a:p>
          <a:p>
            <a:pPr algn="l"/>
            <a:r>
              <a:rPr sz="850" b="0" i="0">
                <a:solidFill>
                  <a:srgbClr val="A9C4E8"/>
                </a:solidFill>
                <a:latin typeface="Calibri"/>
              </a:rPr>
              <a:t>Power BI dashboards</a:t>
            </a:r>
          </a:p>
        </p:txBody>
      </p:sp>
      <p:sp>
        <p:nvSpPr>
          <p:cNvPr id="20" name="TextBox 19"/>
          <p:cNvSpPr txBox="1"/>
          <p:nvPr/>
        </p:nvSpPr>
        <p:spPr>
          <a:xfrm>
            <a:off x="9710928" y="5285231"/>
            <a:ext cx="2066543" cy="658368"/>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8</a:t>
            </a:r>
          </a:p>
          <a:p>
            <a:pPr algn="l"/>
            <a:r>
              <a:rPr sz="850" b="0" i="0">
                <a:solidFill>
                  <a:srgbClr val="A9C4E8"/>
                </a:solidFill>
                <a:latin typeface="Calibri"/>
              </a:rPr>
              <a:t>Action recommendations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PROJECT OVERVIEW</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One dataset, six disciplines, one decision-ready narrative</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An end-to-end engagement: every stage from raw data to validated boardroom story</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828800"/>
            <a:ext cx="4663440" cy="1115568"/>
          </a:xfrm>
          <a:prstGeom prst="rect">
            <a:avLst/>
          </a:prstGeom>
          <a:noFill/>
        </p:spPr>
        <p:txBody>
          <a:bodyPr wrap="square" lIns="0" tIns="0" rIns="0" bIns="0" anchor="t">
            <a:spAutoFit/>
          </a:bodyPr>
          <a:lstStyle/>
          <a:p>
            <a:pPr algn="l">
              <a:spcAft>
                <a:spcPts val="500"/>
              </a:spcAft>
            </a:pPr>
            <a:r>
              <a:rPr sz="1350" b="1" i="0">
                <a:solidFill>
                  <a:srgbClr val="1F3A5F"/>
                </a:solidFill>
                <a:latin typeface="Cambria"/>
              </a:rPr>
              <a:t>The objective</a:t>
            </a:r>
          </a:p>
          <a:p>
            <a:pPr algn="l">
              <a:lnSpc>
                <a:spcPct val="118000"/>
              </a:lnSpc>
            </a:pPr>
            <a:r>
              <a:rPr sz="1200" b="0" i="0">
                <a:solidFill>
                  <a:srgbClr val="3A4756"/>
                </a:solidFill>
                <a:latin typeface="Calibri"/>
              </a:rPr>
              <a:t>Transform a raw sales log into intelligence a business can act on — identifying what drives revenue, who buys, and where growth belongs.</a:t>
            </a:r>
          </a:p>
        </p:txBody>
      </p:sp>
      <p:sp>
        <p:nvSpPr>
          <p:cNvPr id="7" name="TextBox 6"/>
          <p:cNvSpPr txBox="1"/>
          <p:nvPr/>
        </p:nvSpPr>
        <p:spPr>
          <a:xfrm>
            <a:off x="594360" y="3017520"/>
            <a:ext cx="4663440" cy="1115568"/>
          </a:xfrm>
          <a:prstGeom prst="rect">
            <a:avLst/>
          </a:prstGeom>
          <a:noFill/>
        </p:spPr>
        <p:txBody>
          <a:bodyPr wrap="square" lIns="0" tIns="0" rIns="0" bIns="0" anchor="t">
            <a:spAutoFit/>
          </a:bodyPr>
          <a:lstStyle/>
          <a:p>
            <a:pPr algn="l">
              <a:spcAft>
                <a:spcPts val="500"/>
              </a:spcAft>
            </a:pPr>
            <a:r>
              <a:rPr sz="1350" b="1" i="0">
                <a:solidFill>
                  <a:srgbClr val="1F3A5F"/>
                </a:solidFill>
                <a:latin typeface="Cambria"/>
              </a:rPr>
              <a:t>What makes it end-to-end</a:t>
            </a:r>
          </a:p>
          <a:p>
            <a:pPr algn="l">
              <a:lnSpc>
                <a:spcPct val="118000"/>
              </a:lnSpc>
            </a:pPr>
            <a:r>
              <a:rPr sz="1200" b="0" i="0">
                <a:solidFill>
                  <a:srgbClr val="3A4756"/>
                </a:solidFill>
                <a:latin typeface="Calibri"/>
              </a:rPr>
              <a:t>Six disciplines run in sequence, each feeding the next. Every claim is formally tested before it reaches this deck. Every stage produced a versioned, auditable deliverable.</a:t>
            </a:r>
          </a:p>
        </p:txBody>
      </p:sp>
      <p:sp>
        <p:nvSpPr>
          <p:cNvPr id="8" name="Rounded Rectangle 7"/>
          <p:cNvSpPr/>
          <p:nvPr/>
        </p:nvSpPr>
        <p:spPr>
          <a:xfrm>
            <a:off x="594360" y="4251960"/>
            <a:ext cx="4663440" cy="1389888"/>
          </a:xfrm>
          <a:prstGeom prst="roundRect">
            <a:avLst>
              <a:gd name="adj" fmla="val 5921"/>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58952" y="4553712"/>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ayers_blue.png"/>
          <p:cNvPicPr>
            <a:picLocks noChangeAspect="1"/>
          </p:cNvPicPr>
          <p:nvPr/>
        </p:nvPicPr>
        <p:blipFill>
          <a:blip r:embed="rId3"/>
          <a:stretch>
            <a:fillRect/>
          </a:stretch>
        </p:blipFill>
        <p:spPr>
          <a:xfrm>
            <a:off x="895014" y="4689774"/>
            <a:ext cx="294802" cy="294802"/>
          </a:xfrm>
          <a:prstGeom prst="rect">
            <a:avLst/>
          </a:prstGeom>
        </p:spPr>
      </p:pic>
      <p:sp>
        <p:nvSpPr>
          <p:cNvPr id="11" name="TextBox 10"/>
          <p:cNvSpPr txBox="1"/>
          <p:nvPr/>
        </p:nvSpPr>
        <p:spPr>
          <a:xfrm>
            <a:off x="1490472" y="4407408"/>
            <a:ext cx="3566160" cy="1078992"/>
          </a:xfrm>
          <a:prstGeom prst="rect">
            <a:avLst/>
          </a:prstGeom>
          <a:noFill/>
        </p:spPr>
        <p:txBody>
          <a:bodyPr wrap="square" lIns="0" tIns="0" rIns="0" bIns="0" anchor="t">
            <a:spAutoFit/>
          </a:bodyPr>
          <a:lstStyle/>
          <a:p>
            <a:pPr algn="l">
              <a:spcAft>
                <a:spcPts val="300"/>
              </a:spcAft>
            </a:pPr>
            <a:r>
              <a:rPr sz="1150" b="1" i="0">
                <a:solidFill>
                  <a:srgbClr val="1F3A5F"/>
                </a:solidFill>
                <a:latin typeface="Calibri"/>
              </a:rPr>
              <a:t>Six delivered artifacts</a:t>
            </a:r>
          </a:p>
          <a:p>
            <a:pPr algn="l">
              <a:lnSpc>
                <a:spcPct val="112000"/>
              </a:lnSpc>
            </a:pPr>
            <a:r>
              <a:rPr sz="950" b="0" i="0">
                <a:solidFill>
                  <a:srgbClr val="3A4756"/>
                </a:solidFill>
                <a:latin typeface="Calibri"/>
              </a:rPr>
              <a:t>Cleaned dataset  ·  SQL library  ·  EDA notebooks  ·  test suite  ·  2 Power BI dashboards  ·  this narrative</a:t>
            </a:r>
          </a:p>
        </p:txBody>
      </p:sp>
      <p:sp>
        <p:nvSpPr>
          <p:cNvPr id="12" name="Rounded Rectangle 11"/>
          <p:cNvSpPr/>
          <p:nvPr/>
        </p:nvSpPr>
        <p:spPr>
          <a:xfrm>
            <a:off x="5394960" y="1828800"/>
            <a:ext cx="3200400"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577840" y="223113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earch_blue.png"/>
          <p:cNvPicPr>
            <a:picLocks noChangeAspect="1"/>
          </p:cNvPicPr>
          <p:nvPr/>
        </p:nvPicPr>
        <p:blipFill>
          <a:blip r:embed="rId4"/>
          <a:stretch>
            <a:fillRect/>
          </a:stretch>
        </p:blipFill>
        <p:spPr>
          <a:xfrm>
            <a:off x="5713902" y="2367198"/>
            <a:ext cx="294802" cy="294802"/>
          </a:xfrm>
          <a:prstGeom prst="rect">
            <a:avLst/>
          </a:prstGeom>
        </p:spPr>
      </p:pic>
      <p:sp>
        <p:nvSpPr>
          <p:cNvPr id="15" name="TextBox 14"/>
          <p:cNvSpPr txBox="1"/>
          <p:nvPr/>
        </p:nvSpPr>
        <p:spPr>
          <a:xfrm>
            <a:off x="6291072" y="2084832"/>
            <a:ext cx="2176272" cy="1024128"/>
          </a:xfrm>
          <a:prstGeom prst="rect">
            <a:avLst/>
          </a:prstGeom>
          <a:noFill/>
        </p:spPr>
        <p:txBody>
          <a:bodyPr wrap="square" lIns="0" tIns="0" rIns="0" bIns="0" anchor="t">
            <a:spAutoFit/>
          </a:bodyPr>
          <a:lstStyle/>
          <a:p>
            <a:pPr algn="l">
              <a:spcAft>
                <a:spcPts val="300"/>
              </a:spcAft>
            </a:pPr>
            <a:r>
              <a:rPr sz="1250" b="1" i="0">
                <a:solidFill>
                  <a:srgbClr val="1F3A5F"/>
                </a:solidFill>
                <a:latin typeface="Calibri"/>
              </a:rPr>
              <a:t>Data Cleaning</a:t>
            </a:r>
          </a:p>
          <a:p>
            <a:pPr algn="l">
              <a:lnSpc>
                <a:spcPct val="107000"/>
              </a:lnSpc>
            </a:pPr>
            <a:r>
              <a:rPr sz="950" b="0" i="0">
                <a:solidFill>
                  <a:srgbClr val="64748B"/>
                </a:solidFill>
                <a:latin typeface="Calibri"/>
              </a:rPr>
              <a:t>Profiling, nulls, types, de-duplication</a:t>
            </a:r>
          </a:p>
        </p:txBody>
      </p:sp>
      <p:sp>
        <p:nvSpPr>
          <p:cNvPr id="16" name="Rounded Rectangle 15"/>
          <p:cNvSpPr/>
          <p:nvPr/>
        </p:nvSpPr>
        <p:spPr>
          <a:xfrm>
            <a:off x="8732520" y="1828800"/>
            <a:ext cx="3200400"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915400" y="223113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bars_blue.png"/>
          <p:cNvPicPr>
            <a:picLocks noChangeAspect="1"/>
          </p:cNvPicPr>
          <p:nvPr/>
        </p:nvPicPr>
        <p:blipFill>
          <a:blip r:embed="rId5"/>
          <a:stretch>
            <a:fillRect/>
          </a:stretch>
        </p:blipFill>
        <p:spPr>
          <a:xfrm>
            <a:off x="9051462" y="2367198"/>
            <a:ext cx="294802" cy="294802"/>
          </a:xfrm>
          <a:prstGeom prst="rect">
            <a:avLst/>
          </a:prstGeom>
        </p:spPr>
      </p:pic>
      <p:sp>
        <p:nvSpPr>
          <p:cNvPr id="19" name="TextBox 18"/>
          <p:cNvSpPr txBox="1"/>
          <p:nvPr/>
        </p:nvSpPr>
        <p:spPr>
          <a:xfrm>
            <a:off x="9628632" y="2084832"/>
            <a:ext cx="2176272" cy="1024128"/>
          </a:xfrm>
          <a:prstGeom prst="rect">
            <a:avLst/>
          </a:prstGeom>
          <a:noFill/>
        </p:spPr>
        <p:txBody>
          <a:bodyPr wrap="square" lIns="0" tIns="0" rIns="0" bIns="0" anchor="t">
            <a:spAutoFit/>
          </a:bodyPr>
          <a:lstStyle/>
          <a:p>
            <a:pPr algn="l">
              <a:spcAft>
                <a:spcPts val="300"/>
              </a:spcAft>
            </a:pPr>
            <a:r>
              <a:rPr sz="1250" b="1" i="0">
                <a:solidFill>
                  <a:srgbClr val="1F3A5F"/>
                </a:solidFill>
                <a:latin typeface="Calibri"/>
              </a:rPr>
              <a:t>Exploratory Analysis</a:t>
            </a:r>
          </a:p>
          <a:p>
            <a:pPr algn="l">
              <a:lnSpc>
                <a:spcPct val="107000"/>
              </a:lnSpc>
            </a:pPr>
            <a:r>
              <a:rPr sz="950" b="0" i="0">
                <a:solidFill>
                  <a:srgbClr val="64748B"/>
                </a:solidFill>
                <a:latin typeface="Calibri"/>
              </a:rPr>
              <a:t>Trends, mix, category and city distributions</a:t>
            </a:r>
          </a:p>
        </p:txBody>
      </p:sp>
      <p:sp>
        <p:nvSpPr>
          <p:cNvPr id="20" name="Rounded Rectangle 19"/>
          <p:cNvSpPr/>
          <p:nvPr/>
        </p:nvSpPr>
        <p:spPr>
          <a:xfrm>
            <a:off x="5394960" y="3383280"/>
            <a:ext cx="3200400"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577840" y="378561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db_blue.png"/>
          <p:cNvPicPr>
            <a:picLocks noChangeAspect="1"/>
          </p:cNvPicPr>
          <p:nvPr/>
        </p:nvPicPr>
        <p:blipFill>
          <a:blip r:embed="rId6"/>
          <a:stretch>
            <a:fillRect/>
          </a:stretch>
        </p:blipFill>
        <p:spPr>
          <a:xfrm>
            <a:off x="5713902" y="3921678"/>
            <a:ext cx="294802" cy="294802"/>
          </a:xfrm>
          <a:prstGeom prst="rect">
            <a:avLst/>
          </a:prstGeom>
        </p:spPr>
      </p:pic>
      <p:sp>
        <p:nvSpPr>
          <p:cNvPr id="23" name="TextBox 22"/>
          <p:cNvSpPr txBox="1"/>
          <p:nvPr/>
        </p:nvSpPr>
        <p:spPr>
          <a:xfrm>
            <a:off x="6291072" y="3639312"/>
            <a:ext cx="2176272" cy="1024128"/>
          </a:xfrm>
          <a:prstGeom prst="rect">
            <a:avLst/>
          </a:prstGeom>
          <a:noFill/>
        </p:spPr>
        <p:txBody>
          <a:bodyPr wrap="square" lIns="0" tIns="0" rIns="0" bIns="0" anchor="t">
            <a:spAutoFit/>
          </a:bodyPr>
          <a:lstStyle/>
          <a:p>
            <a:pPr algn="l">
              <a:spcAft>
                <a:spcPts val="300"/>
              </a:spcAft>
            </a:pPr>
            <a:r>
              <a:rPr sz="1250" b="1" i="0">
                <a:solidFill>
                  <a:srgbClr val="1F3A5F"/>
                </a:solidFill>
                <a:latin typeface="Calibri"/>
              </a:rPr>
              <a:t>SQL Intelligence</a:t>
            </a:r>
          </a:p>
          <a:p>
            <a:pPr algn="l">
              <a:lnSpc>
                <a:spcPct val="107000"/>
              </a:lnSpc>
            </a:pPr>
            <a:r>
              <a:rPr sz="950" b="0" i="0">
                <a:solidFill>
                  <a:srgbClr val="64748B"/>
                </a:solidFill>
                <a:latin typeface="Calibri"/>
              </a:rPr>
              <a:t>Business KPIs queried against MySQL</a:t>
            </a:r>
          </a:p>
        </p:txBody>
      </p:sp>
      <p:sp>
        <p:nvSpPr>
          <p:cNvPr id="24" name="Rounded Rectangle 23"/>
          <p:cNvSpPr/>
          <p:nvPr/>
        </p:nvSpPr>
        <p:spPr>
          <a:xfrm>
            <a:off x="8732520" y="3383280"/>
            <a:ext cx="3200400"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915400" y="378561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linec_blue.png"/>
          <p:cNvPicPr>
            <a:picLocks noChangeAspect="1"/>
          </p:cNvPicPr>
          <p:nvPr/>
        </p:nvPicPr>
        <p:blipFill>
          <a:blip r:embed="rId7"/>
          <a:stretch>
            <a:fillRect/>
          </a:stretch>
        </p:blipFill>
        <p:spPr>
          <a:xfrm>
            <a:off x="9051462" y="3921678"/>
            <a:ext cx="294802" cy="294802"/>
          </a:xfrm>
          <a:prstGeom prst="rect">
            <a:avLst/>
          </a:prstGeom>
        </p:spPr>
      </p:pic>
      <p:sp>
        <p:nvSpPr>
          <p:cNvPr id="27" name="TextBox 26"/>
          <p:cNvSpPr txBox="1"/>
          <p:nvPr/>
        </p:nvSpPr>
        <p:spPr>
          <a:xfrm>
            <a:off x="9628632" y="3639312"/>
            <a:ext cx="2176272" cy="1024128"/>
          </a:xfrm>
          <a:prstGeom prst="rect">
            <a:avLst/>
          </a:prstGeom>
          <a:noFill/>
        </p:spPr>
        <p:txBody>
          <a:bodyPr wrap="square" lIns="0" tIns="0" rIns="0" bIns="0" anchor="t">
            <a:spAutoFit/>
          </a:bodyPr>
          <a:lstStyle/>
          <a:p>
            <a:pPr algn="l">
              <a:spcAft>
                <a:spcPts val="300"/>
              </a:spcAft>
            </a:pPr>
            <a:r>
              <a:rPr sz="1250" b="1" i="0">
                <a:solidFill>
                  <a:srgbClr val="1F3A5F"/>
                </a:solidFill>
                <a:latin typeface="Calibri"/>
              </a:rPr>
              <a:t>Statistical Tests</a:t>
            </a:r>
          </a:p>
          <a:p>
            <a:pPr algn="l">
              <a:lnSpc>
                <a:spcPct val="107000"/>
              </a:lnSpc>
            </a:pPr>
            <a:r>
              <a:rPr sz="950" b="0" i="0">
                <a:solidFill>
                  <a:srgbClr val="64748B"/>
                </a:solidFill>
                <a:latin typeface="Calibri"/>
              </a:rPr>
              <a:t>t-test, ANOVA, correlation, CI at α = 0.05</a:t>
            </a:r>
          </a:p>
        </p:txBody>
      </p:sp>
      <p:sp>
        <p:nvSpPr>
          <p:cNvPr id="28" name="Rounded Rectangle 27"/>
          <p:cNvSpPr/>
          <p:nvPr/>
        </p:nvSpPr>
        <p:spPr>
          <a:xfrm>
            <a:off x="5394960" y="4937760"/>
            <a:ext cx="3200400"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577840" y="534009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gauge_blue.png"/>
          <p:cNvPicPr>
            <a:picLocks noChangeAspect="1"/>
          </p:cNvPicPr>
          <p:nvPr/>
        </p:nvPicPr>
        <p:blipFill>
          <a:blip r:embed="rId8"/>
          <a:stretch>
            <a:fillRect/>
          </a:stretch>
        </p:blipFill>
        <p:spPr>
          <a:xfrm>
            <a:off x="5713902" y="5476158"/>
            <a:ext cx="294802" cy="294802"/>
          </a:xfrm>
          <a:prstGeom prst="rect">
            <a:avLst/>
          </a:prstGeom>
        </p:spPr>
      </p:pic>
      <p:sp>
        <p:nvSpPr>
          <p:cNvPr id="31" name="TextBox 30"/>
          <p:cNvSpPr txBox="1"/>
          <p:nvPr/>
        </p:nvSpPr>
        <p:spPr>
          <a:xfrm>
            <a:off x="6291072" y="5193792"/>
            <a:ext cx="2176272" cy="1024128"/>
          </a:xfrm>
          <a:prstGeom prst="rect">
            <a:avLst/>
          </a:prstGeom>
          <a:noFill/>
        </p:spPr>
        <p:txBody>
          <a:bodyPr wrap="square" lIns="0" tIns="0" rIns="0" bIns="0" anchor="t">
            <a:spAutoFit/>
          </a:bodyPr>
          <a:lstStyle/>
          <a:p>
            <a:pPr algn="l">
              <a:spcAft>
                <a:spcPts val="300"/>
              </a:spcAft>
            </a:pPr>
            <a:r>
              <a:rPr sz="1250" b="1" i="0">
                <a:solidFill>
                  <a:srgbClr val="1F3A5F"/>
                </a:solidFill>
                <a:latin typeface="Calibri"/>
              </a:rPr>
              <a:t>Power BI Dashboards</a:t>
            </a:r>
          </a:p>
          <a:p>
            <a:pPr algn="l">
              <a:lnSpc>
                <a:spcPct val="107000"/>
              </a:lnSpc>
            </a:pPr>
            <a:r>
              <a:rPr sz="950" b="0" i="0">
                <a:solidFill>
                  <a:srgbClr val="64748B"/>
                </a:solidFill>
                <a:latin typeface="Calibri"/>
              </a:rPr>
              <a:t>Two interactive views for daily use</a:t>
            </a:r>
          </a:p>
        </p:txBody>
      </p:sp>
      <p:sp>
        <p:nvSpPr>
          <p:cNvPr id="32" name="Rounded Rectangle 31"/>
          <p:cNvSpPr/>
          <p:nvPr/>
        </p:nvSpPr>
        <p:spPr>
          <a:xfrm>
            <a:off x="8732520" y="4937760"/>
            <a:ext cx="3200400"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915400" y="534009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doc_blue.png"/>
          <p:cNvPicPr>
            <a:picLocks noChangeAspect="1"/>
          </p:cNvPicPr>
          <p:nvPr/>
        </p:nvPicPr>
        <p:blipFill>
          <a:blip r:embed="rId9"/>
          <a:stretch>
            <a:fillRect/>
          </a:stretch>
        </p:blipFill>
        <p:spPr>
          <a:xfrm>
            <a:off x="9051462" y="5476158"/>
            <a:ext cx="294802" cy="294802"/>
          </a:xfrm>
          <a:prstGeom prst="rect">
            <a:avLst/>
          </a:prstGeom>
        </p:spPr>
      </p:pic>
      <p:sp>
        <p:nvSpPr>
          <p:cNvPr id="35" name="TextBox 34"/>
          <p:cNvSpPr txBox="1"/>
          <p:nvPr/>
        </p:nvSpPr>
        <p:spPr>
          <a:xfrm>
            <a:off x="9628632" y="5193792"/>
            <a:ext cx="2176272" cy="1024128"/>
          </a:xfrm>
          <a:prstGeom prst="rect">
            <a:avLst/>
          </a:prstGeom>
          <a:noFill/>
        </p:spPr>
        <p:txBody>
          <a:bodyPr wrap="square" lIns="0" tIns="0" rIns="0" bIns="0" anchor="t">
            <a:spAutoFit/>
          </a:bodyPr>
          <a:lstStyle/>
          <a:p>
            <a:pPr algn="l">
              <a:spcAft>
                <a:spcPts val="300"/>
              </a:spcAft>
            </a:pPr>
            <a:r>
              <a:rPr sz="1250" b="1" i="0">
                <a:solidFill>
                  <a:srgbClr val="1F3A5F"/>
                </a:solidFill>
                <a:latin typeface="Calibri"/>
              </a:rPr>
              <a:t>Executive Story</a:t>
            </a:r>
          </a:p>
          <a:p>
            <a:pPr algn="l">
              <a:lnSpc>
                <a:spcPct val="107000"/>
              </a:lnSpc>
            </a:pPr>
            <a:r>
              <a:rPr sz="950" b="0" i="0">
                <a:solidFill>
                  <a:srgbClr val="64748B"/>
                </a:solidFill>
                <a:latin typeface="Calibri"/>
              </a:rPr>
              <a:t>Insights framed as decisions, not data summaries</a:t>
            </a:r>
          </a:p>
        </p:txBody>
      </p:sp>
      <p:sp>
        <p:nvSpPr>
          <p:cNvPr id="36" name="TextBox 35"/>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7" name="TextBox 36"/>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02</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BUSINESS PROBLEM</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Four questions the business could not answer with confidence</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The data existed — the structure, evidence and statistical confidence to act on it did not</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10512"/>
            <a:ext cx="2633472" cy="2944368"/>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32104" y="2066543"/>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rupee_blue.png"/>
          <p:cNvPicPr>
            <a:picLocks noChangeAspect="1"/>
          </p:cNvPicPr>
          <p:nvPr/>
        </p:nvPicPr>
        <p:blipFill>
          <a:blip r:embed="rId3"/>
          <a:stretch>
            <a:fillRect/>
          </a:stretch>
        </p:blipFill>
        <p:spPr>
          <a:xfrm>
            <a:off x="985723" y="2220163"/>
            <a:ext cx="332841" cy="332841"/>
          </a:xfrm>
          <a:prstGeom prst="rect">
            <a:avLst/>
          </a:prstGeom>
        </p:spPr>
      </p:pic>
      <p:sp>
        <p:nvSpPr>
          <p:cNvPr id="9" name="TextBox 8"/>
          <p:cNvSpPr txBox="1"/>
          <p:nvPr/>
        </p:nvSpPr>
        <p:spPr>
          <a:xfrm>
            <a:off x="795528" y="2889504"/>
            <a:ext cx="2249424" cy="749808"/>
          </a:xfrm>
          <a:prstGeom prst="rect">
            <a:avLst/>
          </a:prstGeom>
          <a:noFill/>
        </p:spPr>
        <p:txBody>
          <a:bodyPr wrap="square" lIns="0" tIns="0" rIns="0" bIns="0" anchor="t">
            <a:spAutoFit/>
          </a:bodyPr>
          <a:lstStyle/>
          <a:p>
            <a:pPr algn="l">
              <a:lnSpc>
                <a:spcPct val="108000"/>
              </a:lnSpc>
            </a:pPr>
            <a:r>
              <a:rPr sz="1400" b="1" i="0">
                <a:solidFill>
                  <a:srgbClr val="1F3A5F"/>
                </a:solidFill>
                <a:latin typeface="Cambria"/>
              </a:rPr>
              <a:t>What drives revenue?</a:t>
            </a:r>
          </a:p>
        </p:txBody>
      </p:sp>
      <p:sp>
        <p:nvSpPr>
          <p:cNvPr id="10" name="TextBox 9"/>
          <p:cNvSpPr txBox="1"/>
          <p:nvPr/>
        </p:nvSpPr>
        <p:spPr>
          <a:xfrm>
            <a:off x="795528" y="3621024"/>
            <a:ext cx="2249424" cy="1005840"/>
          </a:xfrm>
          <a:prstGeom prst="rect">
            <a:avLst/>
          </a:prstGeom>
          <a:noFill/>
        </p:spPr>
        <p:txBody>
          <a:bodyPr wrap="square" lIns="0" tIns="0" rIns="0" bIns="0" anchor="t">
            <a:spAutoFit/>
          </a:bodyPr>
          <a:lstStyle/>
          <a:p>
            <a:pPr algn="l">
              <a:lnSpc>
                <a:spcPct val="120000"/>
              </a:lnSpc>
            </a:pPr>
            <a:r>
              <a:rPr sz="1050" b="0" i="0">
                <a:solidFill>
                  <a:srgbClr val="3A4756"/>
                </a:solidFill>
                <a:latin typeface="Calibri"/>
              </a:rPr>
              <a:t>Which categories, products and price points actually move the ₹139.4M top line — and by how much?</a:t>
            </a:r>
          </a:p>
        </p:txBody>
      </p:sp>
      <p:sp>
        <p:nvSpPr>
          <p:cNvPr id="11" name="Rounded Rectangle 10"/>
          <p:cNvSpPr/>
          <p:nvPr/>
        </p:nvSpPr>
        <p:spPr>
          <a:xfrm>
            <a:off x="3392424" y="1810512"/>
            <a:ext cx="2633472" cy="2944368"/>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30168" y="2066543"/>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users_blue.png"/>
          <p:cNvPicPr>
            <a:picLocks noChangeAspect="1"/>
          </p:cNvPicPr>
          <p:nvPr/>
        </p:nvPicPr>
        <p:blipFill>
          <a:blip r:embed="rId4"/>
          <a:stretch>
            <a:fillRect/>
          </a:stretch>
        </p:blipFill>
        <p:spPr>
          <a:xfrm>
            <a:off x="3783787" y="2220163"/>
            <a:ext cx="332841" cy="332841"/>
          </a:xfrm>
          <a:prstGeom prst="rect">
            <a:avLst/>
          </a:prstGeom>
        </p:spPr>
      </p:pic>
      <p:sp>
        <p:nvSpPr>
          <p:cNvPr id="14" name="TextBox 13"/>
          <p:cNvSpPr txBox="1"/>
          <p:nvPr/>
        </p:nvSpPr>
        <p:spPr>
          <a:xfrm>
            <a:off x="3593592" y="2889504"/>
            <a:ext cx="2249424" cy="749808"/>
          </a:xfrm>
          <a:prstGeom prst="rect">
            <a:avLst/>
          </a:prstGeom>
          <a:noFill/>
        </p:spPr>
        <p:txBody>
          <a:bodyPr wrap="square" lIns="0" tIns="0" rIns="0" bIns="0" anchor="t">
            <a:spAutoFit/>
          </a:bodyPr>
          <a:lstStyle/>
          <a:p>
            <a:pPr algn="l">
              <a:lnSpc>
                <a:spcPct val="108000"/>
              </a:lnSpc>
            </a:pPr>
            <a:r>
              <a:rPr sz="1400" b="1" i="0">
                <a:solidFill>
                  <a:srgbClr val="1F3A5F"/>
                </a:solidFill>
                <a:latin typeface="Cambria"/>
              </a:rPr>
              <a:t>Who is the customer?</a:t>
            </a:r>
          </a:p>
        </p:txBody>
      </p:sp>
      <p:sp>
        <p:nvSpPr>
          <p:cNvPr id="15" name="TextBox 14"/>
          <p:cNvSpPr txBox="1"/>
          <p:nvPr/>
        </p:nvSpPr>
        <p:spPr>
          <a:xfrm>
            <a:off x="3593592" y="3621024"/>
            <a:ext cx="2249424" cy="1005840"/>
          </a:xfrm>
          <a:prstGeom prst="rect">
            <a:avLst/>
          </a:prstGeom>
          <a:noFill/>
        </p:spPr>
        <p:txBody>
          <a:bodyPr wrap="square" lIns="0" tIns="0" rIns="0" bIns="0" anchor="t">
            <a:spAutoFit/>
          </a:bodyPr>
          <a:lstStyle/>
          <a:p>
            <a:pPr algn="l">
              <a:lnSpc>
                <a:spcPct val="120000"/>
              </a:lnSpc>
            </a:pPr>
            <a:r>
              <a:rPr sz="1050" b="0" i="0">
                <a:solidFill>
                  <a:srgbClr val="3A4756"/>
                </a:solidFill>
                <a:latin typeface="Calibri"/>
              </a:rPr>
              <a:t>Do gender and age genuinely shape spending behaviour, or are those assumptions myths waiting to be retired?</a:t>
            </a:r>
          </a:p>
        </p:txBody>
      </p:sp>
      <p:sp>
        <p:nvSpPr>
          <p:cNvPr id="16" name="Rounded Rectangle 15"/>
          <p:cNvSpPr/>
          <p:nvPr/>
        </p:nvSpPr>
        <p:spPr>
          <a:xfrm>
            <a:off x="6190488" y="1810512"/>
            <a:ext cx="2633472" cy="2944368"/>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28232" y="2066543"/>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pin_blue.png"/>
          <p:cNvPicPr>
            <a:picLocks noChangeAspect="1"/>
          </p:cNvPicPr>
          <p:nvPr/>
        </p:nvPicPr>
        <p:blipFill>
          <a:blip r:embed="rId5"/>
          <a:stretch>
            <a:fillRect/>
          </a:stretch>
        </p:blipFill>
        <p:spPr>
          <a:xfrm>
            <a:off x="6581851" y="2220163"/>
            <a:ext cx="332841" cy="332841"/>
          </a:xfrm>
          <a:prstGeom prst="rect">
            <a:avLst/>
          </a:prstGeom>
        </p:spPr>
      </p:pic>
      <p:sp>
        <p:nvSpPr>
          <p:cNvPr id="19" name="TextBox 18"/>
          <p:cNvSpPr txBox="1"/>
          <p:nvPr/>
        </p:nvSpPr>
        <p:spPr>
          <a:xfrm>
            <a:off x="6391656" y="2889504"/>
            <a:ext cx="2249424" cy="749808"/>
          </a:xfrm>
          <a:prstGeom prst="rect">
            <a:avLst/>
          </a:prstGeom>
          <a:noFill/>
        </p:spPr>
        <p:txBody>
          <a:bodyPr wrap="square" lIns="0" tIns="0" rIns="0" bIns="0" anchor="t">
            <a:spAutoFit/>
          </a:bodyPr>
          <a:lstStyle/>
          <a:p>
            <a:pPr algn="l">
              <a:lnSpc>
                <a:spcPct val="108000"/>
              </a:lnSpc>
            </a:pPr>
            <a:r>
              <a:rPr sz="1400" b="1" i="0">
                <a:solidFill>
                  <a:srgbClr val="1F3A5F"/>
                </a:solidFill>
                <a:latin typeface="Cambria"/>
              </a:rPr>
              <a:t>Where is the growth?</a:t>
            </a:r>
          </a:p>
        </p:txBody>
      </p:sp>
      <p:sp>
        <p:nvSpPr>
          <p:cNvPr id="20" name="TextBox 19"/>
          <p:cNvSpPr txBox="1"/>
          <p:nvPr/>
        </p:nvSpPr>
        <p:spPr>
          <a:xfrm>
            <a:off x="6391656" y="3621024"/>
            <a:ext cx="2249424" cy="1005840"/>
          </a:xfrm>
          <a:prstGeom prst="rect">
            <a:avLst/>
          </a:prstGeom>
          <a:noFill/>
        </p:spPr>
        <p:txBody>
          <a:bodyPr wrap="square" lIns="0" tIns="0" rIns="0" bIns="0" anchor="t">
            <a:spAutoFit/>
          </a:bodyPr>
          <a:lstStyle/>
          <a:p>
            <a:pPr algn="l">
              <a:lnSpc>
                <a:spcPct val="120000"/>
              </a:lnSpc>
            </a:pPr>
            <a:r>
              <a:rPr sz="1050" b="0" i="0">
                <a:solidFill>
                  <a:srgbClr val="3A4756"/>
                </a:solidFill>
                <a:latin typeface="Calibri"/>
              </a:rPr>
              <a:t>Which of the 8 cities deserve marketing and inventory investment first, and by what margin?</a:t>
            </a:r>
          </a:p>
        </p:txBody>
      </p:sp>
      <p:sp>
        <p:nvSpPr>
          <p:cNvPr id="21" name="Rounded Rectangle 20"/>
          <p:cNvSpPr/>
          <p:nvPr/>
        </p:nvSpPr>
        <p:spPr>
          <a:xfrm>
            <a:off x="8988552" y="1810512"/>
            <a:ext cx="2633472" cy="2944368"/>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226296" y="2066543"/>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igma_blue.png"/>
          <p:cNvPicPr>
            <a:picLocks noChangeAspect="1"/>
          </p:cNvPicPr>
          <p:nvPr/>
        </p:nvPicPr>
        <p:blipFill>
          <a:blip r:embed="rId6"/>
          <a:stretch>
            <a:fillRect/>
          </a:stretch>
        </p:blipFill>
        <p:spPr>
          <a:xfrm>
            <a:off x="9379915" y="2220163"/>
            <a:ext cx="332841" cy="332841"/>
          </a:xfrm>
          <a:prstGeom prst="rect">
            <a:avLst/>
          </a:prstGeom>
        </p:spPr>
      </p:pic>
      <p:sp>
        <p:nvSpPr>
          <p:cNvPr id="24" name="TextBox 23"/>
          <p:cNvSpPr txBox="1"/>
          <p:nvPr/>
        </p:nvSpPr>
        <p:spPr>
          <a:xfrm>
            <a:off x="9189720" y="2889504"/>
            <a:ext cx="2249424" cy="749808"/>
          </a:xfrm>
          <a:prstGeom prst="rect">
            <a:avLst/>
          </a:prstGeom>
          <a:noFill/>
        </p:spPr>
        <p:txBody>
          <a:bodyPr wrap="square" lIns="0" tIns="0" rIns="0" bIns="0" anchor="t">
            <a:spAutoFit/>
          </a:bodyPr>
          <a:lstStyle/>
          <a:p>
            <a:pPr algn="l">
              <a:lnSpc>
                <a:spcPct val="108000"/>
              </a:lnSpc>
            </a:pPr>
            <a:r>
              <a:rPr sz="1400" b="1" i="0">
                <a:solidFill>
                  <a:srgbClr val="1F3A5F"/>
                </a:solidFill>
                <a:latin typeface="Cambria"/>
              </a:rPr>
              <a:t>Can we trust the patterns?</a:t>
            </a:r>
          </a:p>
        </p:txBody>
      </p:sp>
      <p:sp>
        <p:nvSpPr>
          <p:cNvPr id="25" name="TextBox 24"/>
          <p:cNvSpPr txBox="1"/>
          <p:nvPr/>
        </p:nvSpPr>
        <p:spPr>
          <a:xfrm>
            <a:off x="9189720" y="3621024"/>
            <a:ext cx="2249424" cy="1005840"/>
          </a:xfrm>
          <a:prstGeom prst="rect">
            <a:avLst/>
          </a:prstGeom>
          <a:noFill/>
        </p:spPr>
        <p:txBody>
          <a:bodyPr wrap="square" lIns="0" tIns="0" rIns="0" bIns="0" anchor="t">
            <a:spAutoFit/>
          </a:bodyPr>
          <a:lstStyle/>
          <a:p>
            <a:pPr algn="l">
              <a:lnSpc>
                <a:spcPct val="120000"/>
              </a:lnSpc>
            </a:pPr>
            <a:r>
              <a:rPr sz="1050" b="0" i="0">
                <a:solidFill>
                  <a:srgbClr val="3A4756"/>
                </a:solidFill>
                <a:latin typeface="Calibri"/>
              </a:rPr>
              <a:t>With a 1,000-row sample, are the signals real — or artefacts of noise that evaporate under formal testing?</a:t>
            </a:r>
          </a:p>
        </p:txBody>
      </p:sp>
      <p:sp>
        <p:nvSpPr>
          <p:cNvPr id="26" name="Rounded Rectangle 25"/>
          <p:cNvSpPr/>
          <p:nvPr/>
        </p:nvSpPr>
        <p:spPr>
          <a:xfrm>
            <a:off x="594360" y="5029200"/>
            <a:ext cx="11002975" cy="777240"/>
          </a:xfrm>
          <a:prstGeom prst="roundRect">
            <a:avLst>
              <a:gd name="adj" fmla="val 10588"/>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202936"/>
            <a:ext cx="10362895" cy="457200"/>
          </a:xfrm>
          <a:prstGeom prst="rect">
            <a:avLst/>
          </a:prstGeom>
          <a:noFill/>
        </p:spPr>
        <p:txBody>
          <a:bodyPr wrap="square" lIns="0" tIns="0" rIns="0" bIns="0" anchor="t">
            <a:spAutoFit/>
          </a:bodyPr>
          <a:lstStyle/>
          <a:p>
            <a:pPr algn="l"/>
            <a:r>
              <a:rPr sz="1250" b="1" i="0">
                <a:solidFill>
                  <a:srgbClr val="1F3A5F"/>
                </a:solidFill>
                <a:latin typeface="Calibri"/>
              </a:rPr>
              <a:t>Decision at stake:  </a:t>
            </a:r>
            <a:r>
              <a:rPr sz="1250" b="0" i="0">
                <a:solidFill>
                  <a:srgbClr val="1F3A5F"/>
                </a:solidFill>
                <a:latin typeface="Calibri"/>
              </a:rPr>
              <a:t>next year’s inventory levels, marketing allocation and customer retention strategy.</a:t>
            </a:r>
          </a:p>
        </p:txBody>
      </p:sp>
      <p:sp>
        <p:nvSpPr>
          <p:cNvPr id="28" name="TextBox 27"/>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9" name="TextBox 28"/>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03</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DATASET</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1,000 transactions, audited and analysis-ready</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Retail sales transaction log  ·  FY2025  ·  one row per order line</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874519"/>
            <a:ext cx="2651760" cy="621792"/>
          </a:xfrm>
          <a:prstGeom prst="rect">
            <a:avLst/>
          </a:prstGeom>
          <a:noFill/>
        </p:spPr>
        <p:txBody>
          <a:bodyPr wrap="square" lIns="0" tIns="0" rIns="0" bIns="0" anchor="t">
            <a:spAutoFit/>
          </a:bodyPr>
          <a:lstStyle/>
          <a:p>
            <a:pPr algn="l"/>
            <a:r>
              <a:rPr sz="2800" b="1" i="0">
                <a:solidFill>
                  <a:srgbClr val="1F3A5F"/>
                </a:solidFill>
                <a:latin typeface="Cambria"/>
              </a:rPr>
              <a:t>1,000</a:t>
            </a:r>
          </a:p>
        </p:txBody>
      </p:sp>
      <p:sp>
        <p:nvSpPr>
          <p:cNvPr id="7" name="TextBox 6"/>
          <p:cNvSpPr txBox="1"/>
          <p:nvPr/>
        </p:nvSpPr>
        <p:spPr>
          <a:xfrm>
            <a:off x="594360" y="2514600"/>
            <a:ext cx="2651760" cy="274320"/>
          </a:xfrm>
          <a:prstGeom prst="rect">
            <a:avLst/>
          </a:prstGeom>
          <a:noFill/>
        </p:spPr>
        <p:txBody>
          <a:bodyPr wrap="square" lIns="0" tIns="0" rIns="0" bIns="0" anchor="t">
            <a:spAutoFit/>
          </a:bodyPr>
          <a:lstStyle/>
          <a:p>
            <a:pPr algn="l"/>
            <a:r>
              <a:rPr sz="850" b="1" i="0">
                <a:solidFill>
                  <a:srgbClr val="2E75B6"/>
                </a:solidFill>
                <a:latin typeface="Calibri"/>
              </a:rPr>
              <a:t>TRANSACTIONS</a:t>
            </a:r>
          </a:p>
        </p:txBody>
      </p:sp>
      <p:sp>
        <p:nvSpPr>
          <p:cNvPr id="8" name="TextBox 7"/>
          <p:cNvSpPr txBox="1"/>
          <p:nvPr/>
        </p:nvSpPr>
        <p:spPr>
          <a:xfrm>
            <a:off x="594360" y="2770632"/>
            <a:ext cx="2651760" cy="292608"/>
          </a:xfrm>
          <a:prstGeom prst="rect">
            <a:avLst/>
          </a:prstGeom>
          <a:noFill/>
        </p:spPr>
        <p:txBody>
          <a:bodyPr wrap="square" lIns="0" tIns="0" rIns="0" bIns="0" anchor="t">
            <a:spAutoFit/>
          </a:bodyPr>
          <a:lstStyle/>
          <a:p>
            <a:pPr algn="l"/>
            <a:r>
              <a:rPr sz="950" b="0" i="0">
                <a:solidFill>
                  <a:srgbClr val="64748B"/>
                </a:solidFill>
                <a:latin typeface="Calibri"/>
              </a:rPr>
              <a:t>992 unique orders  ·  FY2025</a:t>
            </a:r>
          </a:p>
        </p:txBody>
      </p:sp>
      <p:sp>
        <p:nvSpPr>
          <p:cNvPr id="9" name="TextBox 8"/>
          <p:cNvSpPr txBox="1"/>
          <p:nvPr/>
        </p:nvSpPr>
        <p:spPr>
          <a:xfrm>
            <a:off x="3383279" y="1874519"/>
            <a:ext cx="2651760" cy="621792"/>
          </a:xfrm>
          <a:prstGeom prst="rect">
            <a:avLst/>
          </a:prstGeom>
          <a:noFill/>
        </p:spPr>
        <p:txBody>
          <a:bodyPr wrap="square" lIns="0" tIns="0" rIns="0" bIns="0" anchor="t">
            <a:spAutoFit/>
          </a:bodyPr>
          <a:lstStyle/>
          <a:p>
            <a:pPr algn="l"/>
            <a:r>
              <a:rPr sz="2800" b="1" i="0">
                <a:solidFill>
                  <a:srgbClr val="1F3A5F"/>
                </a:solidFill>
                <a:latin typeface="Cambria"/>
              </a:rPr>
              <a:t>13</a:t>
            </a:r>
          </a:p>
        </p:txBody>
      </p:sp>
      <p:sp>
        <p:nvSpPr>
          <p:cNvPr id="10" name="TextBox 9"/>
          <p:cNvSpPr txBox="1"/>
          <p:nvPr/>
        </p:nvSpPr>
        <p:spPr>
          <a:xfrm>
            <a:off x="3383279" y="2514600"/>
            <a:ext cx="2651760" cy="274320"/>
          </a:xfrm>
          <a:prstGeom prst="rect">
            <a:avLst/>
          </a:prstGeom>
          <a:noFill/>
        </p:spPr>
        <p:txBody>
          <a:bodyPr wrap="square" lIns="0" tIns="0" rIns="0" bIns="0" anchor="t">
            <a:spAutoFit/>
          </a:bodyPr>
          <a:lstStyle/>
          <a:p>
            <a:pPr algn="l"/>
            <a:r>
              <a:rPr sz="850" b="1" i="0">
                <a:solidFill>
                  <a:srgbClr val="2E75B6"/>
                </a:solidFill>
                <a:latin typeface="Calibri"/>
              </a:rPr>
              <a:t>ATTRIBUTES PER ROW</a:t>
            </a:r>
          </a:p>
        </p:txBody>
      </p:sp>
      <p:sp>
        <p:nvSpPr>
          <p:cNvPr id="11" name="TextBox 10"/>
          <p:cNvSpPr txBox="1"/>
          <p:nvPr/>
        </p:nvSpPr>
        <p:spPr>
          <a:xfrm>
            <a:off x="3383279" y="2770632"/>
            <a:ext cx="2651760" cy="292608"/>
          </a:xfrm>
          <a:prstGeom prst="rect">
            <a:avLst/>
          </a:prstGeom>
          <a:noFill/>
        </p:spPr>
        <p:txBody>
          <a:bodyPr wrap="square" lIns="0" tIns="0" rIns="0" bIns="0" anchor="t">
            <a:spAutoFit/>
          </a:bodyPr>
          <a:lstStyle/>
          <a:p>
            <a:pPr algn="l"/>
            <a:r>
              <a:rPr sz="950" b="0" i="0">
                <a:solidFill>
                  <a:srgbClr val="64748B"/>
                </a:solidFill>
                <a:latin typeface="Calibri"/>
              </a:rPr>
              <a:t>order, customer, product</a:t>
            </a:r>
          </a:p>
        </p:txBody>
      </p:sp>
      <p:sp>
        <p:nvSpPr>
          <p:cNvPr id="12" name="TextBox 11"/>
          <p:cNvSpPr txBox="1"/>
          <p:nvPr/>
        </p:nvSpPr>
        <p:spPr>
          <a:xfrm>
            <a:off x="594360" y="3502152"/>
            <a:ext cx="2651760" cy="621792"/>
          </a:xfrm>
          <a:prstGeom prst="rect">
            <a:avLst/>
          </a:prstGeom>
          <a:noFill/>
        </p:spPr>
        <p:txBody>
          <a:bodyPr wrap="square" lIns="0" tIns="0" rIns="0" bIns="0" anchor="t">
            <a:spAutoFit/>
          </a:bodyPr>
          <a:lstStyle/>
          <a:p>
            <a:pPr algn="l"/>
            <a:r>
              <a:rPr sz="2800" b="1" i="0">
                <a:solidFill>
                  <a:srgbClr val="1F3A5F"/>
                </a:solidFill>
                <a:latin typeface="Cambria"/>
              </a:rPr>
              <a:t>8</a:t>
            </a:r>
          </a:p>
        </p:txBody>
      </p:sp>
      <p:sp>
        <p:nvSpPr>
          <p:cNvPr id="13" name="TextBox 12"/>
          <p:cNvSpPr txBox="1"/>
          <p:nvPr/>
        </p:nvSpPr>
        <p:spPr>
          <a:xfrm>
            <a:off x="594360" y="4142232"/>
            <a:ext cx="2651760" cy="274320"/>
          </a:xfrm>
          <a:prstGeom prst="rect">
            <a:avLst/>
          </a:prstGeom>
          <a:noFill/>
        </p:spPr>
        <p:txBody>
          <a:bodyPr wrap="square" lIns="0" tIns="0" rIns="0" bIns="0" anchor="t">
            <a:spAutoFit/>
          </a:bodyPr>
          <a:lstStyle/>
          <a:p>
            <a:pPr algn="l"/>
            <a:r>
              <a:rPr sz="850" b="1" i="0">
                <a:solidFill>
                  <a:srgbClr val="2E75B6"/>
                </a:solidFill>
                <a:latin typeface="Calibri"/>
              </a:rPr>
              <a:t>CITIES</a:t>
            </a:r>
          </a:p>
        </p:txBody>
      </p:sp>
      <p:sp>
        <p:nvSpPr>
          <p:cNvPr id="14" name="TextBox 13"/>
          <p:cNvSpPr txBox="1"/>
          <p:nvPr/>
        </p:nvSpPr>
        <p:spPr>
          <a:xfrm>
            <a:off x="594360" y="4398264"/>
            <a:ext cx="2651760" cy="292608"/>
          </a:xfrm>
          <a:prstGeom prst="rect">
            <a:avLst/>
          </a:prstGeom>
          <a:noFill/>
        </p:spPr>
        <p:txBody>
          <a:bodyPr wrap="square" lIns="0" tIns="0" rIns="0" bIns="0" anchor="t">
            <a:spAutoFit/>
          </a:bodyPr>
          <a:lstStyle/>
          <a:p>
            <a:pPr algn="l"/>
            <a:r>
              <a:rPr sz="950" b="0" i="0">
                <a:solidFill>
                  <a:srgbClr val="64748B"/>
                </a:solidFill>
                <a:latin typeface="Calibri"/>
              </a:rPr>
              <a:t>metro + tier-2 coverage</a:t>
            </a:r>
          </a:p>
        </p:txBody>
      </p:sp>
      <p:sp>
        <p:nvSpPr>
          <p:cNvPr id="15" name="TextBox 14"/>
          <p:cNvSpPr txBox="1"/>
          <p:nvPr/>
        </p:nvSpPr>
        <p:spPr>
          <a:xfrm>
            <a:off x="3383279" y="3502152"/>
            <a:ext cx="2651760" cy="621792"/>
          </a:xfrm>
          <a:prstGeom prst="rect">
            <a:avLst/>
          </a:prstGeom>
          <a:noFill/>
        </p:spPr>
        <p:txBody>
          <a:bodyPr wrap="square" lIns="0" tIns="0" rIns="0" bIns="0" anchor="t">
            <a:spAutoFit/>
          </a:bodyPr>
          <a:lstStyle/>
          <a:p>
            <a:pPr algn="l"/>
            <a:r>
              <a:rPr sz="2800" b="1" i="0">
                <a:solidFill>
                  <a:srgbClr val="1F3A5F"/>
                </a:solidFill>
                <a:latin typeface="Cambria"/>
              </a:rPr>
              <a:t>5</a:t>
            </a:r>
          </a:p>
        </p:txBody>
      </p:sp>
      <p:sp>
        <p:nvSpPr>
          <p:cNvPr id="16" name="TextBox 15"/>
          <p:cNvSpPr txBox="1"/>
          <p:nvPr/>
        </p:nvSpPr>
        <p:spPr>
          <a:xfrm>
            <a:off x="3383279" y="4142232"/>
            <a:ext cx="2651760" cy="274320"/>
          </a:xfrm>
          <a:prstGeom prst="rect">
            <a:avLst/>
          </a:prstGeom>
          <a:noFill/>
        </p:spPr>
        <p:txBody>
          <a:bodyPr wrap="square" lIns="0" tIns="0" rIns="0" bIns="0" anchor="t">
            <a:spAutoFit/>
          </a:bodyPr>
          <a:lstStyle/>
          <a:p>
            <a:pPr algn="l"/>
            <a:r>
              <a:rPr sz="850" b="1" i="0">
                <a:solidFill>
                  <a:srgbClr val="2E75B6"/>
                </a:solidFill>
                <a:latin typeface="Calibri"/>
              </a:rPr>
              <a:t>PRODUCT CATEGORIES</a:t>
            </a:r>
          </a:p>
        </p:txBody>
      </p:sp>
      <p:sp>
        <p:nvSpPr>
          <p:cNvPr id="17" name="TextBox 16"/>
          <p:cNvSpPr txBox="1"/>
          <p:nvPr/>
        </p:nvSpPr>
        <p:spPr>
          <a:xfrm>
            <a:off x="3383279" y="4398264"/>
            <a:ext cx="2651760" cy="292608"/>
          </a:xfrm>
          <a:prstGeom prst="rect">
            <a:avLst/>
          </a:prstGeom>
          <a:noFill/>
        </p:spPr>
        <p:txBody>
          <a:bodyPr wrap="square" lIns="0" tIns="0" rIns="0" bIns="0" anchor="t">
            <a:spAutoFit/>
          </a:bodyPr>
          <a:lstStyle/>
          <a:p>
            <a:pPr algn="l"/>
            <a:r>
              <a:rPr sz="950" b="0" i="0">
                <a:solidFill>
                  <a:srgbClr val="64748B"/>
                </a:solidFill>
                <a:latin typeface="Calibri"/>
              </a:rPr>
              <a:t>Electronics to Grocery</a:t>
            </a:r>
          </a:p>
        </p:txBody>
      </p:sp>
      <p:sp>
        <p:nvSpPr>
          <p:cNvPr id="18" name="Rounded Rectangle 17"/>
          <p:cNvSpPr/>
          <p:nvPr/>
        </p:nvSpPr>
        <p:spPr>
          <a:xfrm>
            <a:off x="594360" y="5257800"/>
            <a:ext cx="5989320" cy="1234440"/>
          </a:xfrm>
          <a:prstGeom prst="roundRect">
            <a:avLst>
              <a:gd name="adj" fmla="val 6666"/>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77240" y="5541264"/>
            <a:ext cx="566928" cy="5669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heck_blue.png"/>
          <p:cNvPicPr>
            <a:picLocks noChangeAspect="1"/>
          </p:cNvPicPr>
          <p:nvPr/>
        </p:nvPicPr>
        <p:blipFill>
          <a:blip r:embed="rId3"/>
          <a:stretch>
            <a:fillRect/>
          </a:stretch>
        </p:blipFill>
        <p:spPr>
          <a:xfrm>
            <a:off x="913302" y="5677326"/>
            <a:ext cx="294802" cy="294802"/>
          </a:xfrm>
          <a:prstGeom prst="rect">
            <a:avLst/>
          </a:prstGeom>
        </p:spPr>
      </p:pic>
      <p:sp>
        <p:nvSpPr>
          <p:cNvPr id="21" name="TextBox 20"/>
          <p:cNvSpPr txBox="1"/>
          <p:nvPr/>
        </p:nvSpPr>
        <p:spPr>
          <a:xfrm>
            <a:off x="1508760" y="5413248"/>
            <a:ext cx="4919472" cy="914400"/>
          </a:xfrm>
          <a:prstGeom prst="rect">
            <a:avLst/>
          </a:prstGeom>
          <a:noFill/>
        </p:spPr>
        <p:txBody>
          <a:bodyPr wrap="square" lIns="0" tIns="0" rIns="0" bIns="0" anchor="t">
            <a:spAutoFit/>
          </a:bodyPr>
          <a:lstStyle/>
          <a:p>
            <a:pPr algn="l">
              <a:spcAft>
                <a:spcPts val="300"/>
              </a:spcAft>
            </a:pPr>
            <a:r>
              <a:rPr sz="1150" b="1" i="0">
                <a:solidFill>
                  <a:srgbClr val="1F3A5F"/>
                </a:solidFill>
                <a:latin typeface="Calibri"/>
              </a:rPr>
              <a:t>Quality audited before every analysis</a:t>
            </a:r>
          </a:p>
          <a:p>
            <a:pPr algn="l">
              <a:lnSpc>
                <a:spcPct val="110000"/>
              </a:lnSpc>
            </a:pPr>
            <a:r>
              <a:rPr sz="950" b="0" i="0">
                <a:solidFill>
                  <a:srgbClr val="3A4756"/>
                </a:solidFill>
                <a:latin typeface="Calibri"/>
              </a:rPr>
              <a:t>Type casting  ·  null handling  ·  de-duplication  ·  outlier review  ·  documented data quality report</a:t>
            </a:r>
          </a:p>
        </p:txBody>
      </p:sp>
      <p:sp>
        <p:nvSpPr>
          <p:cNvPr id="22" name="Rounded Rectangle 21"/>
          <p:cNvSpPr/>
          <p:nvPr/>
        </p:nvSpPr>
        <p:spPr>
          <a:xfrm>
            <a:off x="6492240" y="1874519"/>
            <a:ext cx="1783080" cy="3335733"/>
          </a:xfrm>
          <a:prstGeom prst="roundRect">
            <a:avLst>
              <a:gd name="adj" fmla="val 461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56831" y="2103120"/>
            <a:ext cx="1463040" cy="320040"/>
          </a:xfrm>
          <a:prstGeom prst="rect">
            <a:avLst/>
          </a:prstGeom>
          <a:noFill/>
        </p:spPr>
        <p:txBody>
          <a:bodyPr wrap="square" lIns="0" tIns="0" rIns="0" bIns="0" anchor="t">
            <a:spAutoFit/>
          </a:bodyPr>
          <a:lstStyle/>
          <a:p>
            <a:pPr algn="l"/>
            <a:r>
              <a:rPr sz="1050" b="1" i="0">
                <a:solidFill>
                  <a:srgbClr val="2E75B6"/>
                </a:solidFill>
                <a:latin typeface="Calibri"/>
              </a:rPr>
              <a:t>ORDER</a:t>
            </a:r>
          </a:p>
        </p:txBody>
      </p:sp>
      <p:sp>
        <p:nvSpPr>
          <p:cNvPr id="24" name="TextBox 23"/>
          <p:cNvSpPr txBox="1"/>
          <p:nvPr/>
        </p:nvSpPr>
        <p:spPr>
          <a:xfrm>
            <a:off x="6656831" y="2487168"/>
            <a:ext cx="1481328" cy="2743200"/>
          </a:xfrm>
          <a:prstGeom prst="rect">
            <a:avLst/>
          </a:prstGeom>
          <a:noFill/>
        </p:spPr>
        <p:txBody>
          <a:bodyPr wrap="square" lIns="0" tIns="0" rIns="0" bIns="0" anchor="t">
            <a:spAutoFit/>
          </a:bodyPr>
          <a:lstStyle/>
          <a:p>
            <a:pPr algn="l">
              <a:spcAft>
                <a:spcPts val="800"/>
              </a:spcAft>
            </a:pPr>
            <a:r>
              <a:rPr sz="1050" b="0" i="0">
                <a:solidFill>
                  <a:srgbClr val="3A4756"/>
                </a:solidFill>
                <a:latin typeface="Calibri"/>
              </a:rPr>
              <a:t>Order_ID</a:t>
            </a:r>
          </a:p>
          <a:p>
            <a:pPr algn="l">
              <a:spcAft>
                <a:spcPts val="800"/>
              </a:spcAft>
            </a:pPr>
            <a:r>
              <a:rPr sz="1050" b="0" i="0">
                <a:solidFill>
                  <a:srgbClr val="3A4756"/>
                </a:solidFill>
                <a:latin typeface="Calibri"/>
              </a:rPr>
              <a:t>Order_Date</a:t>
            </a:r>
          </a:p>
        </p:txBody>
      </p:sp>
      <p:sp>
        <p:nvSpPr>
          <p:cNvPr id="25" name="TextBox 24"/>
          <p:cNvSpPr txBox="1"/>
          <p:nvPr/>
        </p:nvSpPr>
        <p:spPr>
          <a:xfrm>
            <a:off x="6656831" y="3310128"/>
            <a:ext cx="1481328" cy="1097280"/>
          </a:xfrm>
          <a:prstGeom prst="rect">
            <a:avLst/>
          </a:prstGeom>
          <a:noFill/>
        </p:spPr>
        <p:txBody>
          <a:bodyPr wrap="square" lIns="0" tIns="0" rIns="0" bIns="0" anchor="t">
            <a:spAutoFit/>
          </a:bodyPr>
          <a:lstStyle/>
          <a:p>
            <a:pPr algn="l">
              <a:spcAft>
                <a:spcPts val="500"/>
              </a:spcAft>
            </a:pPr>
            <a:r>
              <a:rPr sz="900" b="0" i="1">
                <a:solidFill>
                  <a:srgbClr val="64748B"/>
                </a:solidFill>
                <a:latin typeface="Calibri"/>
              </a:rPr>
              <a:t>992 unique orders</a:t>
            </a:r>
          </a:p>
          <a:p>
            <a:pPr algn="l">
              <a:spcAft>
                <a:spcPts val="500"/>
              </a:spcAft>
            </a:pPr>
            <a:r>
              <a:rPr sz="900" b="0" i="1">
                <a:solidFill>
                  <a:srgbClr val="64748B"/>
                </a:solidFill>
                <a:latin typeface="Calibri"/>
              </a:rPr>
              <a:t>Jan – Dec 2025</a:t>
            </a:r>
          </a:p>
          <a:p>
            <a:pPr algn="l">
              <a:spcAft>
                <a:spcPts val="500"/>
              </a:spcAft>
            </a:pPr>
            <a:r>
              <a:rPr sz="900" b="0" i="1">
                <a:solidFill>
                  <a:srgbClr val="64748B"/>
                </a:solidFill>
                <a:latin typeface="Calibri"/>
              </a:rPr>
              <a:t>grain: one order line</a:t>
            </a:r>
          </a:p>
        </p:txBody>
      </p:sp>
      <p:sp>
        <p:nvSpPr>
          <p:cNvPr id="26" name="Rounded Rectangle 25"/>
          <p:cNvSpPr/>
          <p:nvPr/>
        </p:nvSpPr>
        <p:spPr>
          <a:xfrm>
            <a:off x="8366759" y="1874519"/>
            <a:ext cx="1783080" cy="3335733"/>
          </a:xfrm>
          <a:prstGeom prst="roundRect">
            <a:avLst>
              <a:gd name="adj" fmla="val 461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31351" y="2103120"/>
            <a:ext cx="1463040" cy="320040"/>
          </a:xfrm>
          <a:prstGeom prst="rect">
            <a:avLst/>
          </a:prstGeom>
          <a:noFill/>
        </p:spPr>
        <p:txBody>
          <a:bodyPr wrap="square" lIns="0" tIns="0" rIns="0" bIns="0" anchor="t">
            <a:spAutoFit/>
          </a:bodyPr>
          <a:lstStyle/>
          <a:p>
            <a:pPr algn="l"/>
            <a:r>
              <a:rPr sz="1050" b="1" i="0">
                <a:solidFill>
                  <a:srgbClr val="2E75B6"/>
                </a:solidFill>
                <a:latin typeface="Calibri"/>
              </a:rPr>
              <a:t>CUSTOMER</a:t>
            </a:r>
          </a:p>
        </p:txBody>
      </p:sp>
      <p:sp>
        <p:nvSpPr>
          <p:cNvPr id="28" name="TextBox 27"/>
          <p:cNvSpPr txBox="1"/>
          <p:nvPr/>
        </p:nvSpPr>
        <p:spPr>
          <a:xfrm>
            <a:off x="8531351" y="2487168"/>
            <a:ext cx="1481328" cy="2743200"/>
          </a:xfrm>
          <a:prstGeom prst="rect">
            <a:avLst/>
          </a:prstGeom>
          <a:noFill/>
        </p:spPr>
        <p:txBody>
          <a:bodyPr wrap="square" lIns="0" tIns="0" rIns="0" bIns="0" anchor="t">
            <a:spAutoFit/>
          </a:bodyPr>
          <a:lstStyle/>
          <a:p>
            <a:pPr algn="l">
              <a:spcAft>
                <a:spcPts val="800"/>
              </a:spcAft>
            </a:pPr>
            <a:r>
              <a:rPr sz="1050" b="0" i="0">
                <a:solidFill>
                  <a:srgbClr val="3A4756"/>
                </a:solidFill>
                <a:latin typeface="Calibri"/>
              </a:rPr>
              <a:t>Customer_ID</a:t>
            </a:r>
          </a:p>
          <a:p>
            <a:pPr algn="l">
              <a:spcAft>
                <a:spcPts val="800"/>
              </a:spcAft>
            </a:pPr>
            <a:r>
              <a:rPr sz="1050" b="0" i="0">
                <a:solidFill>
                  <a:srgbClr val="3A4756"/>
                </a:solidFill>
                <a:latin typeface="Calibri"/>
              </a:rPr>
              <a:t>Name</a:t>
            </a:r>
          </a:p>
          <a:p>
            <a:pPr algn="l">
              <a:spcAft>
                <a:spcPts val="800"/>
              </a:spcAft>
            </a:pPr>
            <a:r>
              <a:rPr sz="1050" b="0" i="0">
                <a:solidFill>
                  <a:srgbClr val="3A4756"/>
                </a:solidFill>
                <a:latin typeface="Calibri"/>
              </a:rPr>
              <a:t>Age  ·  Age_Group</a:t>
            </a:r>
          </a:p>
          <a:p>
            <a:pPr algn="l">
              <a:spcAft>
                <a:spcPts val="800"/>
              </a:spcAft>
            </a:pPr>
            <a:r>
              <a:rPr sz="1050" b="0" i="0">
                <a:solidFill>
                  <a:srgbClr val="3A4756"/>
                </a:solidFill>
                <a:latin typeface="Calibri"/>
              </a:rPr>
              <a:t>Gender</a:t>
            </a:r>
          </a:p>
          <a:p>
            <a:pPr algn="l">
              <a:spcAft>
                <a:spcPts val="800"/>
              </a:spcAft>
            </a:pPr>
            <a:r>
              <a:rPr sz="1050" b="0" i="0">
                <a:solidFill>
                  <a:srgbClr val="3A4756"/>
                </a:solidFill>
                <a:latin typeface="Calibri"/>
              </a:rPr>
              <a:t>City</a:t>
            </a:r>
          </a:p>
        </p:txBody>
      </p:sp>
      <p:sp>
        <p:nvSpPr>
          <p:cNvPr id="29" name="Rounded Rectangle 28"/>
          <p:cNvSpPr/>
          <p:nvPr/>
        </p:nvSpPr>
        <p:spPr>
          <a:xfrm>
            <a:off x="10241280" y="1874519"/>
            <a:ext cx="1783080" cy="3335733"/>
          </a:xfrm>
          <a:prstGeom prst="roundRect">
            <a:avLst>
              <a:gd name="adj" fmla="val 461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05872" y="2103120"/>
            <a:ext cx="1463040" cy="320040"/>
          </a:xfrm>
          <a:prstGeom prst="rect">
            <a:avLst/>
          </a:prstGeom>
          <a:noFill/>
        </p:spPr>
        <p:txBody>
          <a:bodyPr wrap="square" lIns="0" tIns="0" rIns="0" bIns="0" anchor="t">
            <a:spAutoFit/>
          </a:bodyPr>
          <a:lstStyle/>
          <a:p>
            <a:pPr algn="l"/>
            <a:r>
              <a:rPr sz="1050" b="1" i="0">
                <a:solidFill>
                  <a:srgbClr val="2E75B6"/>
                </a:solidFill>
                <a:latin typeface="Calibri"/>
              </a:rPr>
              <a:t>TRANSACTION</a:t>
            </a:r>
          </a:p>
        </p:txBody>
      </p:sp>
      <p:sp>
        <p:nvSpPr>
          <p:cNvPr id="31" name="TextBox 30"/>
          <p:cNvSpPr txBox="1"/>
          <p:nvPr/>
        </p:nvSpPr>
        <p:spPr>
          <a:xfrm>
            <a:off x="10405872" y="2487168"/>
            <a:ext cx="1481328" cy="2743200"/>
          </a:xfrm>
          <a:prstGeom prst="rect">
            <a:avLst/>
          </a:prstGeom>
          <a:noFill/>
        </p:spPr>
        <p:txBody>
          <a:bodyPr wrap="square" lIns="0" tIns="0" rIns="0" bIns="0" anchor="t">
            <a:spAutoFit/>
          </a:bodyPr>
          <a:lstStyle/>
          <a:p>
            <a:pPr algn="l">
              <a:spcAft>
                <a:spcPts val="800"/>
              </a:spcAft>
            </a:pPr>
            <a:r>
              <a:rPr sz="1050" b="0" i="0">
                <a:solidFill>
                  <a:srgbClr val="3A4756"/>
                </a:solidFill>
                <a:latin typeface="Calibri"/>
              </a:rPr>
              <a:t>Product</a:t>
            </a:r>
          </a:p>
          <a:p>
            <a:pPr algn="l">
              <a:spcAft>
                <a:spcPts val="800"/>
              </a:spcAft>
            </a:pPr>
            <a:r>
              <a:rPr sz="1050" b="0" i="0">
                <a:solidFill>
                  <a:srgbClr val="3A4756"/>
                </a:solidFill>
                <a:latin typeface="Calibri"/>
              </a:rPr>
              <a:t>Category</a:t>
            </a:r>
          </a:p>
          <a:p>
            <a:pPr algn="l">
              <a:spcAft>
                <a:spcPts val="800"/>
              </a:spcAft>
            </a:pPr>
            <a:r>
              <a:rPr sz="1050" b="0" i="0">
                <a:solidFill>
                  <a:srgbClr val="3A4756"/>
                </a:solidFill>
                <a:latin typeface="Calibri"/>
              </a:rPr>
              <a:t>Quantity</a:t>
            </a:r>
          </a:p>
          <a:p>
            <a:pPr algn="l">
              <a:spcAft>
                <a:spcPts val="800"/>
              </a:spcAft>
            </a:pPr>
            <a:r>
              <a:rPr sz="1050" b="0" i="0">
                <a:solidFill>
                  <a:srgbClr val="3A4756"/>
                </a:solidFill>
                <a:latin typeface="Calibri"/>
              </a:rPr>
              <a:t>Unit_Price</a:t>
            </a:r>
          </a:p>
          <a:p>
            <a:pPr algn="l">
              <a:spcAft>
                <a:spcPts val="800"/>
              </a:spcAft>
            </a:pPr>
            <a:r>
              <a:rPr sz="1050" b="0" i="0">
                <a:solidFill>
                  <a:srgbClr val="3A4756"/>
                </a:solidFill>
                <a:latin typeface="Calibri"/>
              </a:rPr>
              <a:t>Total_Sales</a:t>
            </a:r>
          </a:p>
        </p:txBody>
      </p:sp>
      <p:sp>
        <p:nvSpPr>
          <p:cNvPr id="32" name="TextBox 31"/>
          <p:cNvSpPr txBox="1"/>
          <p:nvPr/>
        </p:nvSpPr>
        <p:spPr>
          <a:xfrm>
            <a:off x="6656830" y="6263640"/>
            <a:ext cx="5413249" cy="138499"/>
          </a:xfrm>
          <a:prstGeom prst="rect">
            <a:avLst/>
          </a:prstGeom>
          <a:noFill/>
        </p:spPr>
        <p:txBody>
          <a:bodyPr wrap="square" lIns="0" tIns="0" rIns="0" bIns="0" anchor="t">
            <a:spAutoFit/>
          </a:bodyPr>
          <a:lstStyle/>
          <a:p>
            <a:pPr algn="l"/>
            <a:r>
              <a:rPr sz="900" b="0" i="1">
                <a:solidFill>
                  <a:srgbClr val="64748B"/>
                </a:solidFill>
                <a:latin typeface="Calibri"/>
              </a:rPr>
              <a:t>Derived field: Age_Group (Young / Adult / Middle Age / Senior) engineered during wrangling.</a:t>
            </a:r>
          </a:p>
        </p:txBody>
      </p:sp>
      <p:sp>
        <p:nvSpPr>
          <p:cNvPr id="33" name="TextBox 32"/>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4" name="TextBox 33"/>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04</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TECHNOLOGY</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A production-shaped toolchain — nothing decorative</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Each tool earns its place; the full pipeline is reproducible end-to-end on GitHub</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28800"/>
            <a:ext cx="2633472" cy="3108960"/>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32104" y="2103120"/>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ode_blue.png"/>
          <p:cNvPicPr>
            <a:picLocks noChangeAspect="1"/>
          </p:cNvPicPr>
          <p:nvPr/>
        </p:nvPicPr>
        <p:blipFill>
          <a:blip r:embed="rId3"/>
          <a:stretch>
            <a:fillRect/>
          </a:stretch>
        </p:blipFill>
        <p:spPr>
          <a:xfrm>
            <a:off x="985723" y="2256739"/>
            <a:ext cx="332841" cy="332841"/>
          </a:xfrm>
          <a:prstGeom prst="rect">
            <a:avLst/>
          </a:prstGeom>
        </p:spPr>
      </p:pic>
      <p:sp>
        <p:nvSpPr>
          <p:cNvPr id="9" name="TextBox 8"/>
          <p:cNvSpPr txBox="1"/>
          <p:nvPr/>
        </p:nvSpPr>
        <p:spPr>
          <a:xfrm>
            <a:off x="795528" y="2944368"/>
            <a:ext cx="2231136" cy="384048"/>
          </a:xfrm>
          <a:prstGeom prst="rect">
            <a:avLst/>
          </a:prstGeom>
          <a:noFill/>
        </p:spPr>
        <p:txBody>
          <a:bodyPr wrap="square" lIns="0" tIns="0" rIns="0" bIns="0" anchor="t">
            <a:spAutoFit/>
          </a:bodyPr>
          <a:lstStyle/>
          <a:p>
            <a:pPr algn="l"/>
            <a:r>
              <a:rPr sz="1350" b="1" i="0">
                <a:solidFill>
                  <a:srgbClr val="1F3A5F"/>
                </a:solidFill>
                <a:latin typeface="Cambria"/>
              </a:rPr>
              <a:t>Data Engineering</a:t>
            </a:r>
          </a:p>
        </p:txBody>
      </p:sp>
      <p:sp>
        <p:nvSpPr>
          <p:cNvPr id="10" name="TextBox 9"/>
          <p:cNvSpPr txBox="1"/>
          <p:nvPr/>
        </p:nvSpPr>
        <p:spPr>
          <a:xfrm>
            <a:off x="795528" y="3456432"/>
            <a:ext cx="2249424" cy="1828800"/>
          </a:xfrm>
          <a:prstGeom prst="rect">
            <a:avLst/>
          </a:prstGeom>
          <a:noFill/>
        </p:spPr>
        <p:txBody>
          <a:bodyPr wrap="square" lIns="0" tIns="0" rIns="0" bIns="0" anchor="t">
            <a:spAutoFit/>
          </a:bodyPr>
          <a:lstStyle/>
          <a:p>
            <a:pPr algn="l">
              <a:lnSpc>
                <a:spcPct val="112000"/>
              </a:lnSpc>
              <a:spcAft>
                <a:spcPts val="900"/>
              </a:spcAft>
            </a:pPr>
            <a:r>
              <a:rPr sz="1150" b="1" i="0">
                <a:solidFill>
                  <a:srgbClr val="3A4756"/>
                </a:solidFill>
                <a:latin typeface="Calibri"/>
              </a:rPr>
              <a:t>Python</a:t>
            </a:r>
            <a:r>
              <a:rPr sz="1000" b="0" i="0">
                <a:solidFill>
                  <a:srgbClr val="64748B"/>
                </a:solidFill>
                <a:latin typeface="Calibri"/>
              </a:rPr>
              <a:t>  —  core analysis language</a:t>
            </a:r>
          </a:p>
          <a:p>
            <a:pPr algn="l">
              <a:lnSpc>
                <a:spcPct val="112000"/>
              </a:lnSpc>
              <a:spcAft>
                <a:spcPts val="900"/>
              </a:spcAft>
            </a:pPr>
            <a:r>
              <a:rPr sz="1150" b="1" i="0">
                <a:solidFill>
                  <a:srgbClr val="3A4756"/>
                </a:solidFill>
                <a:latin typeface="Calibri"/>
              </a:rPr>
              <a:t>Pandas</a:t>
            </a:r>
            <a:r>
              <a:rPr sz="1000" b="0" i="0">
                <a:solidFill>
                  <a:srgbClr val="64748B"/>
                </a:solidFill>
                <a:latin typeface="Calibri"/>
              </a:rPr>
              <a:t>  —  wrangling and aggregation</a:t>
            </a:r>
          </a:p>
          <a:p>
            <a:pPr algn="l">
              <a:lnSpc>
                <a:spcPct val="112000"/>
              </a:lnSpc>
              <a:spcAft>
                <a:spcPts val="900"/>
              </a:spcAft>
            </a:pPr>
            <a:r>
              <a:rPr sz="1150" b="1" i="0">
                <a:solidFill>
                  <a:srgbClr val="3A4756"/>
                </a:solidFill>
                <a:latin typeface="Calibri"/>
              </a:rPr>
              <a:t>NumPy</a:t>
            </a:r>
            <a:r>
              <a:rPr sz="1000" b="0" i="0">
                <a:solidFill>
                  <a:srgbClr val="64748B"/>
                </a:solidFill>
                <a:latin typeface="Calibri"/>
              </a:rPr>
              <a:t>  —  numerical computing</a:t>
            </a:r>
          </a:p>
        </p:txBody>
      </p:sp>
      <p:sp>
        <p:nvSpPr>
          <p:cNvPr id="11" name="Rounded Rectangle 10"/>
          <p:cNvSpPr/>
          <p:nvPr/>
        </p:nvSpPr>
        <p:spPr>
          <a:xfrm>
            <a:off x="3392424" y="1828800"/>
            <a:ext cx="2633472" cy="3108960"/>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30168" y="2103120"/>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db_blue.png"/>
          <p:cNvPicPr>
            <a:picLocks noChangeAspect="1"/>
          </p:cNvPicPr>
          <p:nvPr/>
        </p:nvPicPr>
        <p:blipFill>
          <a:blip r:embed="rId4"/>
          <a:stretch>
            <a:fillRect/>
          </a:stretch>
        </p:blipFill>
        <p:spPr>
          <a:xfrm>
            <a:off x="3783787" y="2256739"/>
            <a:ext cx="332841" cy="332841"/>
          </a:xfrm>
          <a:prstGeom prst="rect">
            <a:avLst/>
          </a:prstGeom>
        </p:spPr>
      </p:pic>
      <p:sp>
        <p:nvSpPr>
          <p:cNvPr id="14" name="TextBox 13"/>
          <p:cNvSpPr txBox="1"/>
          <p:nvPr/>
        </p:nvSpPr>
        <p:spPr>
          <a:xfrm>
            <a:off x="3593592" y="2944368"/>
            <a:ext cx="2231136" cy="384048"/>
          </a:xfrm>
          <a:prstGeom prst="rect">
            <a:avLst/>
          </a:prstGeom>
          <a:noFill/>
        </p:spPr>
        <p:txBody>
          <a:bodyPr wrap="square" lIns="0" tIns="0" rIns="0" bIns="0" anchor="t">
            <a:spAutoFit/>
          </a:bodyPr>
          <a:lstStyle/>
          <a:p>
            <a:pPr algn="l"/>
            <a:r>
              <a:rPr sz="1350" b="1" i="0">
                <a:solidFill>
                  <a:srgbClr val="1F3A5F"/>
                </a:solidFill>
                <a:latin typeface="Cambria"/>
              </a:rPr>
              <a:t>Storage &amp; Query</a:t>
            </a:r>
          </a:p>
        </p:txBody>
      </p:sp>
      <p:sp>
        <p:nvSpPr>
          <p:cNvPr id="15" name="TextBox 14"/>
          <p:cNvSpPr txBox="1"/>
          <p:nvPr/>
        </p:nvSpPr>
        <p:spPr>
          <a:xfrm>
            <a:off x="3593592" y="3456432"/>
            <a:ext cx="2249424" cy="1828800"/>
          </a:xfrm>
          <a:prstGeom prst="rect">
            <a:avLst/>
          </a:prstGeom>
          <a:noFill/>
        </p:spPr>
        <p:txBody>
          <a:bodyPr wrap="square" lIns="0" tIns="0" rIns="0" bIns="0" anchor="t">
            <a:spAutoFit/>
          </a:bodyPr>
          <a:lstStyle/>
          <a:p>
            <a:pPr algn="l">
              <a:lnSpc>
                <a:spcPct val="112000"/>
              </a:lnSpc>
              <a:spcAft>
                <a:spcPts val="900"/>
              </a:spcAft>
            </a:pPr>
            <a:r>
              <a:rPr sz="1150" b="1" i="0">
                <a:solidFill>
                  <a:srgbClr val="3A4756"/>
                </a:solidFill>
                <a:latin typeface="Calibri"/>
              </a:rPr>
              <a:t>MySQL</a:t>
            </a:r>
            <a:r>
              <a:rPr sz="1000" b="0" i="0">
                <a:solidFill>
                  <a:srgbClr val="64748B"/>
                </a:solidFill>
                <a:latin typeface="Calibri"/>
              </a:rPr>
              <a:t>  —  relational data store</a:t>
            </a:r>
          </a:p>
          <a:p>
            <a:pPr algn="l">
              <a:lnSpc>
                <a:spcPct val="112000"/>
              </a:lnSpc>
              <a:spcAft>
                <a:spcPts val="900"/>
              </a:spcAft>
            </a:pPr>
            <a:r>
              <a:rPr sz="1150" b="1" i="0">
                <a:solidFill>
                  <a:srgbClr val="3A4756"/>
                </a:solidFill>
                <a:latin typeface="Calibri"/>
              </a:rPr>
              <a:t>SQL</a:t>
            </a:r>
            <a:r>
              <a:rPr sz="1000" b="0" i="0">
                <a:solidFill>
                  <a:srgbClr val="64748B"/>
                </a:solidFill>
                <a:latin typeface="Calibri"/>
              </a:rPr>
              <a:t>  —  business KPI queries</a:t>
            </a:r>
          </a:p>
          <a:p>
            <a:pPr algn="l">
              <a:lnSpc>
                <a:spcPct val="112000"/>
              </a:lnSpc>
              <a:spcAft>
                <a:spcPts val="900"/>
              </a:spcAft>
            </a:pPr>
            <a:r>
              <a:rPr sz="1150" b="1" i="0">
                <a:solidFill>
                  <a:srgbClr val="3A4756"/>
                </a:solidFill>
                <a:latin typeface="Calibri"/>
              </a:rPr>
              <a:t>Ingest</a:t>
            </a:r>
            <a:r>
              <a:rPr sz="1000" b="0" i="0">
                <a:solidFill>
                  <a:srgbClr val="64748B"/>
                </a:solidFill>
                <a:latin typeface="Calibri"/>
              </a:rPr>
              <a:t>  —  cleaned CSV loaded to MySQL</a:t>
            </a:r>
          </a:p>
        </p:txBody>
      </p:sp>
      <p:sp>
        <p:nvSpPr>
          <p:cNvPr id="16" name="Rounded Rectangle 15"/>
          <p:cNvSpPr/>
          <p:nvPr/>
        </p:nvSpPr>
        <p:spPr>
          <a:xfrm>
            <a:off x="6190488" y="1828800"/>
            <a:ext cx="2633472" cy="3108960"/>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428232" y="2103120"/>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gauge_blue.png"/>
          <p:cNvPicPr>
            <a:picLocks noChangeAspect="1"/>
          </p:cNvPicPr>
          <p:nvPr/>
        </p:nvPicPr>
        <p:blipFill>
          <a:blip r:embed="rId5"/>
          <a:stretch>
            <a:fillRect/>
          </a:stretch>
        </p:blipFill>
        <p:spPr>
          <a:xfrm>
            <a:off x="6581851" y="2256739"/>
            <a:ext cx="332841" cy="332841"/>
          </a:xfrm>
          <a:prstGeom prst="rect">
            <a:avLst/>
          </a:prstGeom>
        </p:spPr>
      </p:pic>
      <p:sp>
        <p:nvSpPr>
          <p:cNvPr id="19" name="TextBox 18"/>
          <p:cNvSpPr txBox="1"/>
          <p:nvPr/>
        </p:nvSpPr>
        <p:spPr>
          <a:xfrm>
            <a:off x="6391656" y="2944368"/>
            <a:ext cx="2231136" cy="384048"/>
          </a:xfrm>
          <a:prstGeom prst="rect">
            <a:avLst/>
          </a:prstGeom>
          <a:noFill/>
        </p:spPr>
        <p:txBody>
          <a:bodyPr wrap="square" lIns="0" tIns="0" rIns="0" bIns="0" anchor="t">
            <a:spAutoFit/>
          </a:bodyPr>
          <a:lstStyle/>
          <a:p>
            <a:pPr algn="l"/>
            <a:r>
              <a:rPr sz="1350" b="1" i="0">
                <a:solidFill>
                  <a:srgbClr val="1F3A5F"/>
                </a:solidFill>
                <a:latin typeface="Cambria"/>
              </a:rPr>
              <a:t>Business Intelligence</a:t>
            </a:r>
          </a:p>
        </p:txBody>
      </p:sp>
      <p:sp>
        <p:nvSpPr>
          <p:cNvPr id="20" name="TextBox 19"/>
          <p:cNvSpPr txBox="1"/>
          <p:nvPr/>
        </p:nvSpPr>
        <p:spPr>
          <a:xfrm>
            <a:off x="6391656" y="3456432"/>
            <a:ext cx="2249424" cy="1828800"/>
          </a:xfrm>
          <a:prstGeom prst="rect">
            <a:avLst/>
          </a:prstGeom>
          <a:noFill/>
        </p:spPr>
        <p:txBody>
          <a:bodyPr wrap="square" lIns="0" tIns="0" rIns="0" bIns="0" anchor="t">
            <a:spAutoFit/>
          </a:bodyPr>
          <a:lstStyle/>
          <a:p>
            <a:pPr algn="l">
              <a:lnSpc>
                <a:spcPct val="112000"/>
              </a:lnSpc>
              <a:spcAft>
                <a:spcPts val="900"/>
              </a:spcAft>
            </a:pPr>
            <a:r>
              <a:rPr sz="1150" b="1" i="0">
                <a:solidFill>
                  <a:srgbClr val="3A4756"/>
                </a:solidFill>
                <a:latin typeface="Calibri"/>
              </a:rPr>
              <a:t>Power BI</a:t>
            </a:r>
            <a:r>
              <a:rPr sz="1000" b="0" i="0">
                <a:solidFill>
                  <a:srgbClr val="64748B"/>
                </a:solidFill>
                <a:latin typeface="Calibri"/>
              </a:rPr>
              <a:t>  —  two interactive dashboards</a:t>
            </a:r>
          </a:p>
          <a:p>
            <a:pPr algn="l">
              <a:lnSpc>
                <a:spcPct val="112000"/>
              </a:lnSpc>
              <a:spcAft>
                <a:spcPts val="900"/>
              </a:spcAft>
            </a:pPr>
            <a:r>
              <a:rPr sz="1150" b="1" i="0">
                <a:solidFill>
                  <a:srgbClr val="3A4756"/>
                </a:solidFill>
                <a:latin typeface="Calibri"/>
              </a:rPr>
              <a:t>Data model</a:t>
            </a:r>
            <a:r>
              <a:rPr sz="1000" b="0" i="0">
                <a:solidFill>
                  <a:srgbClr val="64748B"/>
                </a:solidFill>
                <a:latin typeface="Calibri"/>
              </a:rPr>
              <a:t>  —  KPI cards and drill-downs</a:t>
            </a:r>
          </a:p>
          <a:p>
            <a:pPr algn="l">
              <a:lnSpc>
                <a:spcPct val="112000"/>
              </a:lnSpc>
              <a:spcAft>
                <a:spcPts val="900"/>
              </a:spcAft>
            </a:pPr>
            <a:r>
              <a:rPr sz="1150" b="1" i="0">
                <a:solidFill>
                  <a:srgbClr val="3A4756"/>
                </a:solidFill>
                <a:latin typeface="Calibri"/>
              </a:rPr>
              <a:t>Slicers</a:t>
            </a:r>
            <a:r>
              <a:rPr sz="1000" b="0" i="0">
                <a:solidFill>
                  <a:srgbClr val="64748B"/>
                </a:solidFill>
                <a:latin typeface="Calibri"/>
              </a:rPr>
              <a:t>  —  month, city, category filters</a:t>
            </a:r>
          </a:p>
        </p:txBody>
      </p:sp>
      <p:sp>
        <p:nvSpPr>
          <p:cNvPr id="21" name="Rounded Rectangle 20"/>
          <p:cNvSpPr/>
          <p:nvPr/>
        </p:nvSpPr>
        <p:spPr>
          <a:xfrm>
            <a:off x="8988552" y="1828800"/>
            <a:ext cx="2633472" cy="3108960"/>
          </a:xfrm>
          <a:prstGeom prst="roundRect">
            <a:avLst>
              <a:gd name="adj" fmla="val 31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9226296" y="2103120"/>
            <a:ext cx="640080" cy="640080"/>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git_blue.png"/>
          <p:cNvPicPr>
            <a:picLocks noChangeAspect="1"/>
          </p:cNvPicPr>
          <p:nvPr/>
        </p:nvPicPr>
        <p:blipFill>
          <a:blip r:embed="rId6"/>
          <a:stretch>
            <a:fillRect/>
          </a:stretch>
        </p:blipFill>
        <p:spPr>
          <a:xfrm>
            <a:off x="9379915" y="2256739"/>
            <a:ext cx="332841" cy="332841"/>
          </a:xfrm>
          <a:prstGeom prst="rect">
            <a:avLst/>
          </a:prstGeom>
        </p:spPr>
      </p:pic>
      <p:sp>
        <p:nvSpPr>
          <p:cNvPr id="24" name="TextBox 23"/>
          <p:cNvSpPr txBox="1"/>
          <p:nvPr/>
        </p:nvSpPr>
        <p:spPr>
          <a:xfrm>
            <a:off x="9189720" y="2944368"/>
            <a:ext cx="2231136" cy="384048"/>
          </a:xfrm>
          <a:prstGeom prst="rect">
            <a:avLst/>
          </a:prstGeom>
          <a:noFill/>
        </p:spPr>
        <p:txBody>
          <a:bodyPr wrap="square" lIns="0" tIns="0" rIns="0" bIns="0" anchor="t">
            <a:spAutoFit/>
          </a:bodyPr>
          <a:lstStyle/>
          <a:p>
            <a:pPr algn="l"/>
            <a:r>
              <a:rPr sz="1350" b="1" i="0">
                <a:solidFill>
                  <a:srgbClr val="1F3A5F"/>
                </a:solidFill>
                <a:latin typeface="Cambria"/>
              </a:rPr>
              <a:t>Workflow &amp; Versioning</a:t>
            </a:r>
          </a:p>
        </p:txBody>
      </p:sp>
      <p:sp>
        <p:nvSpPr>
          <p:cNvPr id="25" name="TextBox 24"/>
          <p:cNvSpPr txBox="1"/>
          <p:nvPr/>
        </p:nvSpPr>
        <p:spPr>
          <a:xfrm>
            <a:off x="9189720" y="3456432"/>
            <a:ext cx="2249424" cy="1828800"/>
          </a:xfrm>
          <a:prstGeom prst="rect">
            <a:avLst/>
          </a:prstGeom>
          <a:noFill/>
        </p:spPr>
        <p:txBody>
          <a:bodyPr wrap="square" lIns="0" tIns="0" rIns="0" bIns="0" anchor="t">
            <a:spAutoFit/>
          </a:bodyPr>
          <a:lstStyle/>
          <a:p>
            <a:pPr algn="l">
              <a:lnSpc>
                <a:spcPct val="112000"/>
              </a:lnSpc>
              <a:spcAft>
                <a:spcPts val="900"/>
              </a:spcAft>
            </a:pPr>
            <a:r>
              <a:rPr sz="1150" b="1" i="0">
                <a:solidFill>
                  <a:srgbClr val="3A4756"/>
                </a:solidFill>
                <a:latin typeface="Calibri"/>
              </a:rPr>
              <a:t>Jupyter</a:t>
            </a:r>
            <a:r>
              <a:rPr sz="1000" b="0" i="0">
                <a:solidFill>
                  <a:srgbClr val="64748B"/>
                </a:solidFill>
                <a:latin typeface="Calibri"/>
              </a:rPr>
              <a:t>  —  reproducible notebooks</a:t>
            </a:r>
          </a:p>
          <a:p>
            <a:pPr algn="l">
              <a:lnSpc>
                <a:spcPct val="112000"/>
              </a:lnSpc>
              <a:spcAft>
                <a:spcPts val="900"/>
              </a:spcAft>
            </a:pPr>
            <a:r>
              <a:rPr sz="1150" b="1" i="0">
                <a:solidFill>
                  <a:srgbClr val="3A4756"/>
                </a:solidFill>
                <a:latin typeface="Calibri"/>
              </a:rPr>
              <a:t>Git</a:t>
            </a:r>
            <a:r>
              <a:rPr sz="1000" b="0" i="0">
                <a:solidFill>
                  <a:srgbClr val="64748B"/>
                </a:solidFill>
                <a:latin typeface="Calibri"/>
              </a:rPr>
              <a:t>  —  version control</a:t>
            </a:r>
          </a:p>
          <a:p>
            <a:pPr algn="l">
              <a:lnSpc>
                <a:spcPct val="112000"/>
              </a:lnSpc>
              <a:spcAft>
                <a:spcPts val="900"/>
              </a:spcAft>
            </a:pPr>
            <a:r>
              <a:rPr sz="1150" b="1" i="0">
                <a:solidFill>
                  <a:srgbClr val="3A4756"/>
                </a:solidFill>
                <a:latin typeface="Calibri"/>
              </a:rPr>
              <a:t>GitHub</a:t>
            </a:r>
            <a:r>
              <a:rPr sz="1000" b="0" i="0">
                <a:solidFill>
                  <a:srgbClr val="64748B"/>
                </a:solidFill>
                <a:latin typeface="Calibri"/>
              </a:rPr>
              <a:t>  —  public portfolio repository</a:t>
            </a:r>
          </a:p>
        </p:txBody>
      </p:sp>
      <p:sp>
        <p:nvSpPr>
          <p:cNvPr id="26" name="Rounded Rectangle 25"/>
          <p:cNvSpPr/>
          <p:nvPr/>
        </p:nvSpPr>
        <p:spPr>
          <a:xfrm>
            <a:off x="594360" y="5230368"/>
            <a:ext cx="11002975" cy="713232"/>
          </a:xfrm>
          <a:prstGeom prst="roundRect">
            <a:avLst>
              <a:gd name="adj" fmla="val 11538"/>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394960"/>
            <a:ext cx="10362895" cy="411480"/>
          </a:xfrm>
          <a:prstGeom prst="rect">
            <a:avLst/>
          </a:prstGeom>
          <a:noFill/>
        </p:spPr>
        <p:txBody>
          <a:bodyPr wrap="square" lIns="0" tIns="0" rIns="0" bIns="0" anchor="t">
            <a:spAutoFit/>
          </a:bodyPr>
          <a:lstStyle/>
          <a:p>
            <a:pPr algn="l"/>
            <a:r>
              <a:rPr sz="1150" b="0" i="0">
                <a:solidFill>
                  <a:srgbClr val="1F3A5F"/>
                </a:solidFill>
                <a:latin typeface="Calibri"/>
              </a:rPr>
              <a:t>Fully reproducible:  raw CSV  →  Python cleaning  →  MySQL  →  notebooks  →  Power BI  ·  all versioned on GitHub</a:t>
            </a:r>
          </a:p>
        </p:txBody>
      </p:sp>
      <p:sp>
        <p:nvSpPr>
          <p:cNvPr id="28" name="TextBox 27"/>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9" name="TextBox 28"/>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05</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METHODOLOGY</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Six stages, each closing with a committed artifact</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Insight quality is decided long before the dashboard — discipline is the differentiator</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74519"/>
            <a:ext cx="1818589" cy="2944368"/>
          </a:xfrm>
          <a:prstGeom prst="roundRect">
            <a:avLst>
              <a:gd name="adj" fmla="val 45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84831"/>
            <a:ext cx="1653997" cy="502920"/>
          </a:xfrm>
          <a:prstGeom prst="rect">
            <a:avLst/>
          </a:prstGeom>
          <a:noFill/>
        </p:spPr>
        <p:txBody>
          <a:bodyPr wrap="square" lIns="0" tIns="0" rIns="0" bIns="0" anchor="t">
            <a:spAutoFit/>
          </a:bodyPr>
          <a:lstStyle/>
          <a:p>
            <a:pPr algn="l"/>
            <a:r>
              <a:rPr sz="2200" b="1" i="0">
                <a:solidFill>
                  <a:srgbClr val="2E75B6"/>
                </a:solidFill>
                <a:latin typeface="Cambria"/>
              </a:rPr>
              <a:t>01</a:t>
            </a:r>
          </a:p>
        </p:txBody>
      </p:sp>
      <p:sp>
        <p:nvSpPr>
          <p:cNvPr id="8" name="TextBox 7"/>
          <p:cNvSpPr txBox="1"/>
          <p:nvPr/>
        </p:nvSpPr>
        <p:spPr>
          <a:xfrm>
            <a:off x="731520" y="2706624"/>
            <a:ext cx="1653997" cy="566928"/>
          </a:xfrm>
          <a:prstGeom prst="rect">
            <a:avLst/>
          </a:prstGeom>
          <a:noFill/>
        </p:spPr>
        <p:txBody>
          <a:bodyPr wrap="square" lIns="0" tIns="0" rIns="0" bIns="0" anchor="t">
            <a:spAutoFit/>
          </a:bodyPr>
          <a:lstStyle/>
          <a:p>
            <a:pPr algn="l">
              <a:lnSpc>
                <a:spcPct val="105000"/>
              </a:lnSpc>
            </a:pPr>
            <a:r>
              <a:rPr sz="1100" b="1" i="0">
                <a:solidFill>
                  <a:srgbClr val="1F3A5F"/>
                </a:solidFill>
                <a:latin typeface="Calibri"/>
              </a:rPr>
              <a:t>Data Immersion</a:t>
            </a:r>
          </a:p>
        </p:txBody>
      </p:sp>
      <p:sp>
        <p:nvSpPr>
          <p:cNvPr id="9" name="TextBox 8"/>
          <p:cNvSpPr txBox="1"/>
          <p:nvPr/>
        </p:nvSpPr>
        <p:spPr>
          <a:xfrm>
            <a:off x="731520" y="3337560"/>
            <a:ext cx="1653997" cy="1261872"/>
          </a:xfrm>
          <a:prstGeom prst="rect">
            <a:avLst/>
          </a:prstGeom>
          <a:noFill/>
        </p:spPr>
        <p:txBody>
          <a:bodyPr wrap="square" lIns="0" tIns="0" rIns="0" bIns="0" anchor="t">
            <a:spAutoFit/>
          </a:bodyPr>
          <a:lstStyle/>
          <a:p>
            <a:pPr algn="l">
              <a:lnSpc>
                <a:spcPct val="118000"/>
              </a:lnSpc>
            </a:pPr>
            <a:r>
              <a:rPr sz="900" b="0" i="0">
                <a:solidFill>
                  <a:srgbClr val="64748B"/>
                </a:solidFill>
                <a:latin typeface="Calibri"/>
              </a:rPr>
              <a:t>Profile 1,000 raw records; data quality audit; data dictionary with field-level notes.</a:t>
            </a:r>
          </a:p>
        </p:txBody>
      </p:sp>
      <p:sp>
        <p:nvSpPr>
          <p:cNvPr id="10" name="Rounded Rectangle 9"/>
          <p:cNvSpPr/>
          <p:nvPr/>
        </p:nvSpPr>
        <p:spPr>
          <a:xfrm>
            <a:off x="722376" y="4288536"/>
            <a:ext cx="1562557" cy="402336"/>
          </a:xfrm>
          <a:prstGeom prst="roundRect">
            <a:avLst>
              <a:gd name="adj" fmla="val 20454"/>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2376" y="4343400"/>
            <a:ext cx="1562557" cy="310896"/>
          </a:xfrm>
          <a:prstGeom prst="rect">
            <a:avLst/>
          </a:prstGeom>
          <a:noFill/>
        </p:spPr>
        <p:txBody>
          <a:bodyPr wrap="square" lIns="0" tIns="0" rIns="0" bIns="0" anchor="t">
            <a:spAutoFit/>
          </a:bodyPr>
          <a:lstStyle/>
          <a:p>
            <a:pPr algn="ctr"/>
            <a:r>
              <a:rPr sz="800" b="1" i="0">
                <a:solidFill>
                  <a:srgbClr val="2E75B6"/>
                </a:solidFill>
                <a:latin typeface="Calibri"/>
              </a:rPr>
              <a:t>data quality report</a:t>
            </a:r>
          </a:p>
        </p:txBody>
      </p:sp>
      <p:sp>
        <p:nvSpPr>
          <p:cNvPr id="12" name="TextBox 11"/>
          <p:cNvSpPr txBox="1"/>
          <p:nvPr/>
        </p:nvSpPr>
        <p:spPr>
          <a:xfrm>
            <a:off x="2412949" y="3291840"/>
            <a:ext cx="164592" cy="347472"/>
          </a:xfrm>
          <a:prstGeom prst="rect">
            <a:avLst/>
          </a:prstGeom>
          <a:noFill/>
        </p:spPr>
        <p:txBody>
          <a:bodyPr wrap="square" lIns="0" tIns="0" rIns="0" bIns="0" anchor="t">
            <a:spAutoFit/>
          </a:bodyPr>
          <a:lstStyle/>
          <a:p>
            <a:pPr algn="ctr"/>
            <a:r>
              <a:rPr sz="1300" b="1" i="0">
                <a:solidFill>
                  <a:srgbClr val="768392"/>
                </a:solidFill>
                <a:latin typeface="Calibri"/>
              </a:rPr>
              <a:t>›</a:t>
            </a:r>
          </a:p>
        </p:txBody>
      </p:sp>
      <p:sp>
        <p:nvSpPr>
          <p:cNvPr id="13" name="Rounded Rectangle 12"/>
          <p:cNvSpPr/>
          <p:nvPr/>
        </p:nvSpPr>
        <p:spPr>
          <a:xfrm>
            <a:off x="2431237" y="1874519"/>
            <a:ext cx="1818589" cy="2944368"/>
          </a:xfrm>
          <a:prstGeom prst="roundRect">
            <a:avLst>
              <a:gd name="adj" fmla="val 45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8397" y="2084831"/>
            <a:ext cx="1653997" cy="502920"/>
          </a:xfrm>
          <a:prstGeom prst="rect">
            <a:avLst/>
          </a:prstGeom>
          <a:noFill/>
        </p:spPr>
        <p:txBody>
          <a:bodyPr wrap="square" lIns="0" tIns="0" rIns="0" bIns="0" anchor="t">
            <a:spAutoFit/>
          </a:bodyPr>
          <a:lstStyle/>
          <a:p>
            <a:pPr algn="l"/>
            <a:r>
              <a:rPr sz="2200" b="1" i="0">
                <a:solidFill>
                  <a:srgbClr val="2E75B6"/>
                </a:solidFill>
                <a:latin typeface="Cambria"/>
              </a:rPr>
              <a:t>02</a:t>
            </a:r>
          </a:p>
        </p:txBody>
      </p:sp>
      <p:sp>
        <p:nvSpPr>
          <p:cNvPr id="15" name="TextBox 14"/>
          <p:cNvSpPr txBox="1"/>
          <p:nvPr/>
        </p:nvSpPr>
        <p:spPr>
          <a:xfrm>
            <a:off x="2568397" y="2706624"/>
            <a:ext cx="1653997" cy="566928"/>
          </a:xfrm>
          <a:prstGeom prst="rect">
            <a:avLst/>
          </a:prstGeom>
          <a:noFill/>
        </p:spPr>
        <p:txBody>
          <a:bodyPr wrap="square" lIns="0" tIns="0" rIns="0" bIns="0" anchor="t">
            <a:spAutoFit/>
          </a:bodyPr>
          <a:lstStyle/>
          <a:p>
            <a:pPr algn="l">
              <a:lnSpc>
                <a:spcPct val="105000"/>
              </a:lnSpc>
            </a:pPr>
            <a:r>
              <a:rPr sz="1100" b="1" i="0">
                <a:solidFill>
                  <a:srgbClr val="1F3A5F"/>
                </a:solidFill>
                <a:latin typeface="Calibri"/>
              </a:rPr>
              <a:t>Wrangling</a:t>
            </a:r>
          </a:p>
        </p:txBody>
      </p:sp>
      <p:sp>
        <p:nvSpPr>
          <p:cNvPr id="16" name="TextBox 15"/>
          <p:cNvSpPr txBox="1"/>
          <p:nvPr/>
        </p:nvSpPr>
        <p:spPr>
          <a:xfrm>
            <a:off x="2568397" y="3337560"/>
            <a:ext cx="1653997" cy="1261872"/>
          </a:xfrm>
          <a:prstGeom prst="rect">
            <a:avLst/>
          </a:prstGeom>
          <a:noFill/>
        </p:spPr>
        <p:txBody>
          <a:bodyPr wrap="square" lIns="0" tIns="0" rIns="0" bIns="0" anchor="t">
            <a:spAutoFit/>
          </a:bodyPr>
          <a:lstStyle/>
          <a:p>
            <a:pPr algn="l">
              <a:lnSpc>
                <a:spcPct val="118000"/>
              </a:lnSpc>
            </a:pPr>
            <a:r>
              <a:rPr sz="900" b="0" i="0">
                <a:solidFill>
                  <a:srgbClr val="64748B"/>
                </a:solidFill>
                <a:latin typeface="Calibri"/>
              </a:rPr>
              <a:t>Cast types, handle nulls, de-duplicate records; engineer the Age_Group feature.</a:t>
            </a:r>
          </a:p>
        </p:txBody>
      </p:sp>
      <p:sp>
        <p:nvSpPr>
          <p:cNvPr id="17" name="Rounded Rectangle 16"/>
          <p:cNvSpPr/>
          <p:nvPr/>
        </p:nvSpPr>
        <p:spPr>
          <a:xfrm>
            <a:off x="2559253" y="4288536"/>
            <a:ext cx="1562557" cy="402336"/>
          </a:xfrm>
          <a:prstGeom prst="roundRect">
            <a:avLst>
              <a:gd name="adj" fmla="val 20454"/>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59253" y="4343400"/>
            <a:ext cx="1562557" cy="310896"/>
          </a:xfrm>
          <a:prstGeom prst="rect">
            <a:avLst/>
          </a:prstGeom>
          <a:noFill/>
        </p:spPr>
        <p:txBody>
          <a:bodyPr wrap="square" lIns="0" tIns="0" rIns="0" bIns="0" anchor="t">
            <a:spAutoFit/>
          </a:bodyPr>
          <a:lstStyle/>
          <a:p>
            <a:pPr algn="ctr"/>
            <a:r>
              <a:rPr sz="800" b="1" i="0">
                <a:solidFill>
                  <a:srgbClr val="2E75B6"/>
                </a:solidFill>
                <a:latin typeface="Calibri"/>
              </a:rPr>
              <a:t>cleaned_dataset.csv</a:t>
            </a:r>
          </a:p>
        </p:txBody>
      </p:sp>
      <p:sp>
        <p:nvSpPr>
          <p:cNvPr id="19" name="TextBox 18"/>
          <p:cNvSpPr txBox="1"/>
          <p:nvPr/>
        </p:nvSpPr>
        <p:spPr>
          <a:xfrm>
            <a:off x="4249826" y="3291840"/>
            <a:ext cx="164592" cy="347472"/>
          </a:xfrm>
          <a:prstGeom prst="rect">
            <a:avLst/>
          </a:prstGeom>
          <a:noFill/>
        </p:spPr>
        <p:txBody>
          <a:bodyPr wrap="square" lIns="0" tIns="0" rIns="0" bIns="0" anchor="t">
            <a:spAutoFit/>
          </a:bodyPr>
          <a:lstStyle/>
          <a:p>
            <a:pPr algn="ctr"/>
            <a:r>
              <a:rPr sz="1300" b="1" i="0">
                <a:solidFill>
                  <a:srgbClr val="768392"/>
                </a:solidFill>
                <a:latin typeface="Calibri"/>
              </a:rPr>
              <a:t>›</a:t>
            </a:r>
          </a:p>
        </p:txBody>
      </p:sp>
      <p:sp>
        <p:nvSpPr>
          <p:cNvPr id="20" name="Rounded Rectangle 19"/>
          <p:cNvSpPr/>
          <p:nvPr/>
        </p:nvSpPr>
        <p:spPr>
          <a:xfrm>
            <a:off x="4268114" y="1874519"/>
            <a:ext cx="1818589" cy="2944368"/>
          </a:xfrm>
          <a:prstGeom prst="roundRect">
            <a:avLst>
              <a:gd name="adj" fmla="val 45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05274" y="2084831"/>
            <a:ext cx="1653997" cy="502920"/>
          </a:xfrm>
          <a:prstGeom prst="rect">
            <a:avLst/>
          </a:prstGeom>
          <a:noFill/>
        </p:spPr>
        <p:txBody>
          <a:bodyPr wrap="square" lIns="0" tIns="0" rIns="0" bIns="0" anchor="t">
            <a:spAutoFit/>
          </a:bodyPr>
          <a:lstStyle/>
          <a:p>
            <a:pPr algn="l"/>
            <a:r>
              <a:rPr sz="2200" b="1" i="0">
                <a:solidFill>
                  <a:srgbClr val="2E75B6"/>
                </a:solidFill>
                <a:latin typeface="Cambria"/>
              </a:rPr>
              <a:t>03</a:t>
            </a:r>
          </a:p>
        </p:txBody>
      </p:sp>
      <p:sp>
        <p:nvSpPr>
          <p:cNvPr id="22" name="TextBox 21"/>
          <p:cNvSpPr txBox="1"/>
          <p:nvPr/>
        </p:nvSpPr>
        <p:spPr>
          <a:xfrm>
            <a:off x="4405274" y="2706624"/>
            <a:ext cx="1653997" cy="566928"/>
          </a:xfrm>
          <a:prstGeom prst="rect">
            <a:avLst/>
          </a:prstGeom>
          <a:noFill/>
        </p:spPr>
        <p:txBody>
          <a:bodyPr wrap="square" lIns="0" tIns="0" rIns="0" bIns="0" anchor="t">
            <a:spAutoFit/>
          </a:bodyPr>
          <a:lstStyle/>
          <a:p>
            <a:pPr algn="l">
              <a:lnSpc>
                <a:spcPct val="105000"/>
              </a:lnSpc>
            </a:pPr>
            <a:r>
              <a:rPr sz="1100" b="1" i="0">
                <a:solidFill>
                  <a:srgbClr val="1F3A5F"/>
                </a:solidFill>
                <a:latin typeface="Calibri"/>
              </a:rPr>
              <a:t>EDA in Python</a:t>
            </a:r>
          </a:p>
        </p:txBody>
      </p:sp>
      <p:sp>
        <p:nvSpPr>
          <p:cNvPr id="23" name="TextBox 22"/>
          <p:cNvSpPr txBox="1"/>
          <p:nvPr/>
        </p:nvSpPr>
        <p:spPr>
          <a:xfrm>
            <a:off x="4405274" y="3337560"/>
            <a:ext cx="1653997" cy="1261872"/>
          </a:xfrm>
          <a:prstGeom prst="rect">
            <a:avLst/>
          </a:prstGeom>
          <a:noFill/>
        </p:spPr>
        <p:txBody>
          <a:bodyPr wrap="square" lIns="0" tIns="0" rIns="0" bIns="0" anchor="t">
            <a:spAutoFit/>
          </a:bodyPr>
          <a:lstStyle/>
          <a:p>
            <a:pPr algn="l">
              <a:lnSpc>
                <a:spcPct val="118000"/>
              </a:lnSpc>
            </a:pPr>
            <a:r>
              <a:rPr sz="900" b="0" i="0">
                <a:solidFill>
                  <a:srgbClr val="64748B"/>
                </a:solidFill>
                <a:latin typeface="Calibri"/>
              </a:rPr>
              <a:t>Revenue distributions, monthly trends, category mix, city and age breakdowns.</a:t>
            </a:r>
          </a:p>
        </p:txBody>
      </p:sp>
      <p:sp>
        <p:nvSpPr>
          <p:cNvPr id="24" name="Rounded Rectangle 23"/>
          <p:cNvSpPr/>
          <p:nvPr/>
        </p:nvSpPr>
        <p:spPr>
          <a:xfrm>
            <a:off x="4396130" y="4288536"/>
            <a:ext cx="1562557" cy="402336"/>
          </a:xfrm>
          <a:prstGeom prst="roundRect">
            <a:avLst>
              <a:gd name="adj" fmla="val 20454"/>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96130" y="4343400"/>
            <a:ext cx="1562557" cy="310896"/>
          </a:xfrm>
          <a:prstGeom prst="rect">
            <a:avLst/>
          </a:prstGeom>
          <a:noFill/>
        </p:spPr>
        <p:txBody>
          <a:bodyPr wrap="square" lIns="0" tIns="0" rIns="0" bIns="0" anchor="t">
            <a:spAutoFit/>
          </a:bodyPr>
          <a:lstStyle/>
          <a:p>
            <a:pPr algn="ctr"/>
            <a:r>
              <a:rPr sz="800" b="1" i="0">
                <a:solidFill>
                  <a:srgbClr val="2E75B6"/>
                </a:solidFill>
                <a:latin typeface="Calibri"/>
              </a:rPr>
              <a:t>EDA notebooks</a:t>
            </a:r>
          </a:p>
        </p:txBody>
      </p:sp>
      <p:sp>
        <p:nvSpPr>
          <p:cNvPr id="26" name="TextBox 25"/>
          <p:cNvSpPr txBox="1"/>
          <p:nvPr/>
        </p:nvSpPr>
        <p:spPr>
          <a:xfrm>
            <a:off x="6086703" y="3291840"/>
            <a:ext cx="164592" cy="347472"/>
          </a:xfrm>
          <a:prstGeom prst="rect">
            <a:avLst/>
          </a:prstGeom>
          <a:noFill/>
        </p:spPr>
        <p:txBody>
          <a:bodyPr wrap="square" lIns="0" tIns="0" rIns="0" bIns="0" anchor="t">
            <a:spAutoFit/>
          </a:bodyPr>
          <a:lstStyle/>
          <a:p>
            <a:pPr algn="ctr"/>
            <a:r>
              <a:rPr sz="1300" b="1" i="0">
                <a:solidFill>
                  <a:srgbClr val="768392"/>
                </a:solidFill>
                <a:latin typeface="Calibri"/>
              </a:rPr>
              <a:t>›</a:t>
            </a:r>
          </a:p>
        </p:txBody>
      </p:sp>
      <p:sp>
        <p:nvSpPr>
          <p:cNvPr id="27" name="Rounded Rectangle 26"/>
          <p:cNvSpPr/>
          <p:nvPr/>
        </p:nvSpPr>
        <p:spPr>
          <a:xfrm>
            <a:off x="6104991" y="1874519"/>
            <a:ext cx="1818589" cy="2944368"/>
          </a:xfrm>
          <a:prstGeom prst="roundRect">
            <a:avLst>
              <a:gd name="adj" fmla="val 45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42151" y="2084831"/>
            <a:ext cx="1653997" cy="502920"/>
          </a:xfrm>
          <a:prstGeom prst="rect">
            <a:avLst/>
          </a:prstGeom>
          <a:noFill/>
        </p:spPr>
        <p:txBody>
          <a:bodyPr wrap="square" lIns="0" tIns="0" rIns="0" bIns="0" anchor="t">
            <a:spAutoFit/>
          </a:bodyPr>
          <a:lstStyle/>
          <a:p>
            <a:pPr algn="l"/>
            <a:r>
              <a:rPr sz="2200" b="1" i="0">
                <a:solidFill>
                  <a:srgbClr val="2E75B6"/>
                </a:solidFill>
                <a:latin typeface="Cambria"/>
              </a:rPr>
              <a:t>04</a:t>
            </a:r>
          </a:p>
        </p:txBody>
      </p:sp>
      <p:sp>
        <p:nvSpPr>
          <p:cNvPr id="29" name="TextBox 28"/>
          <p:cNvSpPr txBox="1"/>
          <p:nvPr/>
        </p:nvSpPr>
        <p:spPr>
          <a:xfrm>
            <a:off x="6242151" y="2706624"/>
            <a:ext cx="1653997" cy="566928"/>
          </a:xfrm>
          <a:prstGeom prst="rect">
            <a:avLst/>
          </a:prstGeom>
          <a:noFill/>
        </p:spPr>
        <p:txBody>
          <a:bodyPr wrap="square" lIns="0" tIns="0" rIns="0" bIns="0" anchor="t">
            <a:spAutoFit/>
          </a:bodyPr>
          <a:lstStyle/>
          <a:p>
            <a:pPr algn="l">
              <a:lnSpc>
                <a:spcPct val="105000"/>
              </a:lnSpc>
            </a:pPr>
            <a:r>
              <a:rPr sz="1100" b="1" i="0">
                <a:solidFill>
                  <a:srgbClr val="1F3A5F"/>
                </a:solidFill>
                <a:latin typeface="Calibri"/>
              </a:rPr>
              <a:t>SQL Analysis</a:t>
            </a:r>
          </a:p>
        </p:txBody>
      </p:sp>
      <p:sp>
        <p:nvSpPr>
          <p:cNvPr id="30" name="TextBox 29"/>
          <p:cNvSpPr txBox="1"/>
          <p:nvPr/>
        </p:nvSpPr>
        <p:spPr>
          <a:xfrm>
            <a:off x="6242151" y="3337560"/>
            <a:ext cx="1653997" cy="1261872"/>
          </a:xfrm>
          <a:prstGeom prst="rect">
            <a:avLst/>
          </a:prstGeom>
          <a:noFill/>
        </p:spPr>
        <p:txBody>
          <a:bodyPr wrap="square" lIns="0" tIns="0" rIns="0" bIns="0" anchor="t">
            <a:spAutoFit/>
          </a:bodyPr>
          <a:lstStyle/>
          <a:p>
            <a:pPr algn="l">
              <a:lnSpc>
                <a:spcPct val="118000"/>
              </a:lnSpc>
            </a:pPr>
            <a:r>
              <a:rPr sz="900" b="0" i="0">
                <a:solidFill>
                  <a:srgbClr val="64748B"/>
                </a:solidFill>
                <a:latin typeface="Calibri"/>
              </a:rPr>
              <a:t>Express every business KPI as a MySQL query; reproducible query library committed.</a:t>
            </a:r>
          </a:p>
        </p:txBody>
      </p:sp>
      <p:sp>
        <p:nvSpPr>
          <p:cNvPr id="31" name="Rounded Rectangle 30"/>
          <p:cNvSpPr/>
          <p:nvPr/>
        </p:nvSpPr>
        <p:spPr>
          <a:xfrm>
            <a:off x="6233007" y="4288536"/>
            <a:ext cx="1562557" cy="402336"/>
          </a:xfrm>
          <a:prstGeom prst="roundRect">
            <a:avLst>
              <a:gd name="adj" fmla="val 20454"/>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33007" y="4343400"/>
            <a:ext cx="1562557" cy="310896"/>
          </a:xfrm>
          <a:prstGeom prst="rect">
            <a:avLst/>
          </a:prstGeom>
          <a:noFill/>
        </p:spPr>
        <p:txBody>
          <a:bodyPr wrap="square" lIns="0" tIns="0" rIns="0" bIns="0" anchor="t">
            <a:spAutoFit/>
          </a:bodyPr>
          <a:lstStyle/>
          <a:p>
            <a:pPr algn="ctr"/>
            <a:r>
              <a:rPr sz="800" b="1" i="0">
                <a:solidFill>
                  <a:srgbClr val="2E75B6"/>
                </a:solidFill>
                <a:latin typeface="Calibri"/>
              </a:rPr>
              <a:t>MySQL query library</a:t>
            </a:r>
          </a:p>
        </p:txBody>
      </p:sp>
      <p:sp>
        <p:nvSpPr>
          <p:cNvPr id="33" name="TextBox 32"/>
          <p:cNvSpPr txBox="1"/>
          <p:nvPr/>
        </p:nvSpPr>
        <p:spPr>
          <a:xfrm>
            <a:off x="7923580" y="3291840"/>
            <a:ext cx="164592" cy="347472"/>
          </a:xfrm>
          <a:prstGeom prst="rect">
            <a:avLst/>
          </a:prstGeom>
          <a:noFill/>
        </p:spPr>
        <p:txBody>
          <a:bodyPr wrap="square" lIns="0" tIns="0" rIns="0" bIns="0" anchor="t">
            <a:spAutoFit/>
          </a:bodyPr>
          <a:lstStyle/>
          <a:p>
            <a:pPr algn="ctr"/>
            <a:r>
              <a:rPr sz="1300" b="1" i="0">
                <a:solidFill>
                  <a:srgbClr val="768392"/>
                </a:solidFill>
                <a:latin typeface="Calibri"/>
              </a:rPr>
              <a:t>›</a:t>
            </a:r>
          </a:p>
        </p:txBody>
      </p:sp>
      <p:sp>
        <p:nvSpPr>
          <p:cNvPr id="34" name="Rounded Rectangle 33"/>
          <p:cNvSpPr/>
          <p:nvPr/>
        </p:nvSpPr>
        <p:spPr>
          <a:xfrm>
            <a:off x="7941868" y="1874519"/>
            <a:ext cx="1818589" cy="2944368"/>
          </a:xfrm>
          <a:prstGeom prst="roundRect">
            <a:avLst>
              <a:gd name="adj" fmla="val 45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79028" y="2084831"/>
            <a:ext cx="1653997" cy="502920"/>
          </a:xfrm>
          <a:prstGeom prst="rect">
            <a:avLst/>
          </a:prstGeom>
          <a:noFill/>
        </p:spPr>
        <p:txBody>
          <a:bodyPr wrap="square" lIns="0" tIns="0" rIns="0" bIns="0" anchor="t">
            <a:spAutoFit/>
          </a:bodyPr>
          <a:lstStyle/>
          <a:p>
            <a:pPr algn="l"/>
            <a:r>
              <a:rPr sz="2200" b="1" i="0">
                <a:solidFill>
                  <a:srgbClr val="2E75B6"/>
                </a:solidFill>
                <a:latin typeface="Cambria"/>
              </a:rPr>
              <a:t>05</a:t>
            </a:r>
          </a:p>
        </p:txBody>
      </p:sp>
      <p:sp>
        <p:nvSpPr>
          <p:cNvPr id="36" name="TextBox 35"/>
          <p:cNvSpPr txBox="1"/>
          <p:nvPr/>
        </p:nvSpPr>
        <p:spPr>
          <a:xfrm>
            <a:off x="8079028" y="2706624"/>
            <a:ext cx="1653997" cy="566928"/>
          </a:xfrm>
          <a:prstGeom prst="rect">
            <a:avLst/>
          </a:prstGeom>
          <a:noFill/>
        </p:spPr>
        <p:txBody>
          <a:bodyPr wrap="square" lIns="0" tIns="0" rIns="0" bIns="0" anchor="t">
            <a:spAutoFit/>
          </a:bodyPr>
          <a:lstStyle/>
          <a:p>
            <a:pPr algn="l">
              <a:lnSpc>
                <a:spcPct val="105000"/>
              </a:lnSpc>
            </a:pPr>
            <a:r>
              <a:rPr sz="1100" b="1" i="0">
                <a:solidFill>
                  <a:srgbClr val="1F3A5F"/>
                </a:solidFill>
                <a:latin typeface="Calibri"/>
              </a:rPr>
              <a:t>Statistical Validation</a:t>
            </a:r>
          </a:p>
        </p:txBody>
      </p:sp>
      <p:sp>
        <p:nvSpPr>
          <p:cNvPr id="37" name="TextBox 36"/>
          <p:cNvSpPr txBox="1"/>
          <p:nvPr/>
        </p:nvSpPr>
        <p:spPr>
          <a:xfrm>
            <a:off x="8079028" y="3337560"/>
            <a:ext cx="1653997" cy="1261872"/>
          </a:xfrm>
          <a:prstGeom prst="rect">
            <a:avLst/>
          </a:prstGeom>
          <a:noFill/>
        </p:spPr>
        <p:txBody>
          <a:bodyPr wrap="square" lIns="0" tIns="0" rIns="0" bIns="0" anchor="t">
            <a:spAutoFit/>
          </a:bodyPr>
          <a:lstStyle/>
          <a:p>
            <a:pPr algn="l">
              <a:lnSpc>
                <a:spcPct val="118000"/>
              </a:lnSpc>
            </a:pPr>
            <a:r>
              <a:rPr sz="900" b="0" i="0">
                <a:solidFill>
                  <a:srgbClr val="64748B"/>
                </a:solidFill>
                <a:latin typeface="Calibri"/>
              </a:rPr>
              <a:t>t-test, one-way ANOVA, Pearson correlation, 95% CI — α = 0.05 throughout.</a:t>
            </a:r>
          </a:p>
        </p:txBody>
      </p:sp>
      <p:sp>
        <p:nvSpPr>
          <p:cNvPr id="38" name="Rounded Rectangle 37"/>
          <p:cNvSpPr/>
          <p:nvPr/>
        </p:nvSpPr>
        <p:spPr>
          <a:xfrm>
            <a:off x="8069884" y="4288536"/>
            <a:ext cx="1562557" cy="402336"/>
          </a:xfrm>
          <a:prstGeom prst="roundRect">
            <a:avLst>
              <a:gd name="adj" fmla="val 20454"/>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069884" y="4343400"/>
            <a:ext cx="1562557" cy="310896"/>
          </a:xfrm>
          <a:prstGeom prst="rect">
            <a:avLst/>
          </a:prstGeom>
          <a:noFill/>
        </p:spPr>
        <p:txBody>
          <a:bodyPr wrap="square" lIns="0" tIns="0" rIns="0" bIns="0" anchor="t">
            <a:spAutoFit/>
          </a:bodyPr>
          <a:lstStyle/>
          <a:p>
            <a:pPr algn="ctr"/>
            <a:r>
              <a:rPr sz="800" b="1" i="0">
                <a:solidFill>
                  <a:srgbClr val="2E75B6"/>
                </a:solidFill>
                <a:latin typeface="Calibri"/>
              </a:rPr>
              <a:t>statistical test suite</a:t>
            </a:r>
          </a:p>
        </p:txBody>
      </p:sp>
      <p:sp>
        <p:nvSpPr>
          <p:cNvPr id="40" name="TextBox 39"/>
          <p:cNvSpPr txBox="1"/>
          <p:nvPr/>
        </p:nvSpPr>
        <p:spPr>
          <a:xfrm>
            <a:off x="9760458" y="3291840"/>
            <a:ext cx="164592" cy="347472"/>
          </a:xfrm>
          <a:prstGeom prst="rect">
            <a:avLst/>
          </a:prstGeom>
          <a:noFill/>
        </p:spPr>
        <p:txBody>
          <a:bodyPr wrap="square" lIns="0" tIns="0" rIns="0" bIns="0" anchor="t">
            <a:spAutoFit/>
          </a:bodyPr>
          <a:lstStyle/>
          <a:p>
            <a:pPr algn="ctr"/>
            <a:r>
              <a:rPr sz="1300" b="1" i="0">
                <a:solidFill>
                  <a:srgbClr val="768392"/>
                </a:solidFill>
                <a:latin typeface="Calibri"/>
              </a:rPr>
              <a:t>›</a:t>
            </a:r>
          </a:p>
        </p:txBody>
      </p:sp>
      <p:sp>
        <p:nvSpPr>
          <p:cNvPr id="41" name="Rounded Rectangle 40"/>
          <p:cNvSpPr/>
          <p:nvPr/>
        </p:nvSpPr>
        <p:spPr>
          <a:xfrm>
            <a:off x="9778746" y="1874519"/>
            <a:ext cx="1818589" cy="2944368"/>
          </a:xfrm>
          <a:prstGeom prst="roundRect">
            <a:avLst>
              <a:gd name="adj" fmla="val 452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915906" y="2084831"/>
            <a:ext cx="1653997" cy="502920"/>
          </a:xfrm>
          <a:prstGeom prst="rect">
            <a:avLst/>
          </a:prstGeom>
          <a:noFill/>
        </p:spPr>
        <p:txBody>
          <a:bodyPr wrap="square" lIns="0" tIns="0" rIns="0" bIns="0" anchor="t">
            <a:spAutoFit/>
          </a:bodyPr>
          <a:lstStyle/>
          <a:p>
            <a:pPr algn="l"/>
            <a:r>
              <a:rPr sz="2200" b="1" i="0">
                <a:solidFill>
                  <a:srgbClr val="2E75B6"/>
                </a:solidFill>
                <a:latin typeface="Cambria"/>
              </a:rPr>
              <a:t>06</a:t>
            </a:r>
          </a:p>
        </p:txBody>
      </p:sp>
      <p:sp>
        <p:nvSpPr>
          <p:cNvPr id="43" name="TextBox 42"/>
          <p:cNvSpPr txBox="1"/>
          <p:nvPr/>
        </p:nvSpPr>
        <p:spPr>
          <a:xfrm>
            <a:off x="9915906" y="2706624"/>
            <a:ext cx="1653997" cy="566928"/>
          </a:xfrm>
          <a:prstGeom prst="rect">
            <a:avLst/>
          </a:prstGeom>
          <a:noFill/>
        </p:spPr>
        <p:txBody>
          <a:bodyPr wrap="square" lIns="0" tIns="0" rIns="0" bIns="0" anchor="t">
            <a:spAutoFit/>
          </a:bodyPr>
          <a:lstStyle/>
          <a:p>
            <a:pPr algn="l">
              <a:lnSpc>
                <a:spcPct val="105000"/>
              </a:lnSpc>
            </a:pPr>
            <a:r>
              <a:rPr sz="1100" b="1" i="0">
                <a:solidFill>
                  <a:srgbClr val="1F3A5F"/>
                </a:solidFill>
                <a:latin typeface="Calibri"/>
              </a:rPr>
              <a:t>BI &amp; Narrative</a:t>
            </a:r>
          </a:p>
        </p:txBody>
      </p:sp>
      <p:sp>
        <p:nvSpPr>
          <p:cNvPr id="44" name="TextBox 43"/>
          <p:cNvSpPr txBox="1"/>
          <p:nvPr/>
        </p:nvSpPr>
        <p:spPr>
          <a:xfrm>
            <a:off x="9915906" y="3337560"/>
            <a:ext cx="1653997" cy="1261872"/>
          </a:xfrm>
          <a:prstGeom prst="rect">
            <a:avLst/>
          </a:prstGeom>
          <a:noFill/>
        </p:spPr>
        <p:txBody>
          <a:bodyPr wrap="square" lIns="0" tIns="0" rIns="0" bIns="0" anchor="t">
            <a:spAutoFit/>
          </a:bodyPr>
          <a:lstStyle/>
          <a:p>
            <a:pPr algn="l">
              <a:lnSpc>
                <a:spcPct val="118000"/>
              </a:lnSpc>
            </a:pPr>
            <a:r>
              <a:rPr sz="900" b="0" i="0">
                <a:solidFill>
                  <a:srgbClr val="64748B"/>
                </a:solidFill>
                <a:latin typeface="Calibri"/>
              </a:rPr>
              <a:t>Two Power BI dashboards and this executive narrative close the pipeline.</a:t>
            </a:r>
          </a:p>
        </p:txBody>
      </p:sp>
      <p:sp>
        <p:nvSpPr>
          <p:cNvPr id="45" name="Rounded Rectangle 44"/>
          <p:cNvSpPr/>
          <p:nvPr/>
        </p:nvSpPr>
        <p:spPr>
          <a:xfrm>
            <a:off x="9906762" y="4288536"/>
            <a:ext cx="1562557" cy="402336"/>
          </a:xfrm>
          <a:prstGeom prst="roundRect">
            <a:avLst>
              <a:gd name="adj" fmla="val 20454"/>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906762" y="4343400"/>
            <a:ext cx="1562557" cy="310896"/>
          </a:xfrm>
          <a:prstGeom prst="rect">
            <a:avLst/>
          </a:prstGeom>
          <a:noFill/>
        </p:spPr>
        <p:txBody>
          <a:bodyPr wrap="square" lIns="0" tIns="0" rIns="0" bIns="0" anchor="t">
            <a:spAutoFit/>
          </a:bodyPr>
          <a:lstStyle/>
          <a:p>
            <a:pPr algn="ctr"/>
            <a:r>
              <a:rPr sz="800" b="1" i="0">
                <a:solidFill>
                  <a:srgbClr val="2E75B6"/>
                </a:solidFill>
                <a:latin typeface="Calibri"/>
              </a:rPr>
              <a:t>dashboards + narrative</a:t>
            </a:r>
          </a:p>
        </p:txBody>
      </p:sp>
      <p:sp>
        <p:nvSpPr>
          <p:cNvPr id="47" name="Rounded Rectangle 46"/>
          <p:cNvSpPr/>
          <p:nvPr/>
        </p:nvSpPr>
        <p:spPr>
          <a:xfrm>
            <a:off x="594360" y="5120640"/>
            <a:ext cx="11002975" cy="731520"/>
          </a:xfrm>
          <a:prstGeom prst="roundRect">
            <a:avLst>
              <a:gd name="adj" fmla="val 11249"/>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4400" y="5285232"/>
            <a:ext cx="10362895" cy="420624"/>
          </a:xfrm>
          <a:prstGeom prst="rect">
            <a:avLst/>
          </a:prstGeom>
          <a:noFill/>
        </p:spPr>
        <p:txBody>
          <a:bodyPr wrap="square" lIns="0" tIns="0" rIns="0" bIns="0" anchor="t">
            <a:spAutoFit/>
          </a:bodyPr>
          <a:lstStyle/>
          <a:p>
            <a:pPr algn="l"/>
            <a:r>
              <a:rPr sz="1150" b="0" i="0">
                <a:solidFill>
                  <a:srgbClr val="1F3A5F"/>
                </a:solidFill>
                <a:latin typeface="Calibri"/>
              </a:rPr>
              <a:t>Every stage closed with a versioned artifact on GitHub — any number on any slide traces back to the raw rows that produced it.</a:t>
            </a:r>
          </a:p>
        </p:txBody>
      </p:sp>
      <p:sp>
        <p:nvSpPr>
          <p:cNvPr id="49" name="TextBox 48"/>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50" name="TextBox 49"/>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06</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EXECUTIVE KPIS</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The business on one page</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FY2025 headline metrics — the baseline every later insight refines</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783080"/>
            <a:ext cx="3594506" cy="2121408"/>
          </a:xfrm>
          <a:prstGeom prst="roundRect">
            <a:avLst>
              <a:gd name="adj" fmla="val 387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2002536"/>
            <a:ext cx="3265322" cy="292608"/>
          </a:xfrm>
          <a:prstGeom prst="rect">
            <a:avLst/>
          </a:prstGeom>
          <a:noFill/>
        </p:spPr>
        <p:txBody>
          <a:bodyPr wrap="square" lIns="0" tIns="0" rIns="0" bIns="0" anchor="t">
            <a:spAutoFit/>
          </a:bodyPr>
          <a:lstStyle/>
          <a:p>
            <a:pPr algn="l"/>
            <a:r>
              <a:rPr sz="1000" b="1" i="0">
                <a:solidFill>
                  <a:srgbClr val="2E75B6"/>
                </a:solidFill>
                <a:latin typeface="Calibri"/>
              </a:rPr>
              <a:t>TOTAL REVENUE</a:t>
            </a:r>
          </a:p>
        </p:txBody>
      </p:sp>
      <p:sp>
        <p:nvSpPr>
          <p:cNvPr id="8" name="TextBox 7"/>
          <p:cNvSpPr txBox="1"/>
          <p:nvPr/>
        </p:nvSpPr>
        <p:spPr>
          <a:xfrm>
            <a:off x="850392" y="2295144"/>
            <a:ext cx="3265322" cy="749808"/>
          </a:xfrm>
          <a:prstGeom prst="rect">
            <a:avLst/>
          </a:prstGeom>
          <a:noFill/>
        </p:spPr>
        <p:txBody>
          <a:bodyPr wrap="square" lIns="0" tIns="0" rIns="0" bIns="0" anchor="t">
            <a:spAutoFit/>
          </a:bodyPr>
          <a:lstStyle/>
          <a:p>
            <a:pPr algn="l"/>
            <a:r>
              <a:rPr sz="3000" b="1" i="0">
                <a:solidFill>
                  <a:srgbClr val="1F3A5F"/>
                </a:solidFill>
                <a:latin typeface="Cambria"/>
              </a:rPr>
              <a:t>₹139.40M</a:t>
            </a:r>
          </a:p>
        </p:txBody>
      </p:sp>
      <p:sp>
        <p:nvSpPr>
          <p:cNvPr id="9" name="TextBox 8"/>
          <p:cNvSpPr txBox="1"/>
          <p:nvPr/>
        </p:nvSpPr>
        <p:spPr>
          <a:xfrm>
            <a:off x="850392" y="3099815"/>
            <a:ext cx="3265322" cy="658368"/>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12 months  ·  5 categories  ·  8 cities</a:t>
            </a:r>
          </a:p>
        </p:txBody>
      </p:sp>
      <p:sp>
        <p:nvSpPr>
          <p:cNvPr id="10" name="Rounded Rectangle 9"/>
          <p:cNvSpPr/>
          <p:nvPr/>
        </p:nvSpPr>
        <p:spPr>
          <a:xfrm>
            <a:off x="4298594" y="1783080"/>
            <a:ext cx="3594506" cy="2121408"/>
          </a:xfrm>
          <a:prstGeom prst="roundRect">
            <a:avLst>
              <a:gd name="adj" fmla="val 387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4626" y="2002536"/>
            <a:ext cx="3265322" cy="292608"/>
          </a:xfrm>
          <a:prstGeom prst="rect">
            <a:avLst/>
          </a:prstGeom>
          <a:noFill/>
        </p:spPr>
        <p:txBody>
          <a:bodyPr wrap="square" lIns="0" tIns="0" rIns="0" bIns="0" anchor="t">
            <a:spAutoFit/>
          </a:bodyPr>
          <a:lstStyle/>
          <a:p>
            <a:pPr algn="l"/>
            <a:r>
              <a:rPr sz="1000" b="1" i="0">
                <a:solidFill>
                  <a:srgbClr val="2E75B6"/>
                </a:solidFill>
                <a:latin typeface="Calibri"/>
              </a:rPr>
              <a:t>TOTAL ORDERS</a:t>
            </a:r>
          </a:p>
        </p:txBody>
      </p:sp>
      <p:sp>
        <p:nvSpPr>
          <p:cNvPr id="12" name="TextBox 11"/>
          <p:cNvSpPr txBox="1"/>
          <p:nvPr/>
        </p:nvSpPr>
        <p:spPr>
          <a:xfrm>
            <a:off x="4554626" y="2295144"/>
            <a:ext cx="3265322" cy="749808"/>
          </a:xfrm>
          <a:prstGeom prst="rect">
            <a:avLst/>
          </a:prstGeom>
          <a:noFill/>
        </p:spPr>
        <p:txBody>
          <a:bodyPr wrap="square" lIns="0" tIns="0" rIns="0" bIns="0" anchor="t">
            <a:spAutoFit/>
          </a:bodyPr>
          <a:lstStyle/>
          <a:p>
            <a:pPr algn="l"/>
            <a:r>
              <a:rPr sz="3000" b="1" i="0">
                <a:solidFill>
                  <a:srgbClr val="1F3A5F"/>
                </a:solidFill>
                <a:latin typeface="Cambria"/>
              </a:rPr>
              <a:t>992</a:t>
            </a:r>
          </a:p>
        </p:txBody>
      </p:sp>
      <p:sp>
        <p:nvSpPr>
          <p:cNvPr id="13" name="TextBox 12"/>
          <p:cNvSpPr txBox="1"/>
          <p:nvPr/>
        </p:nvSpPr>
        <p:spPr>
          <a:xfrm>
            <a:off x="4554626" y="3099815"/>
            <a:ext cx="3265322" cy="658368"/>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 2.7 orders per day, steady throughout the year</a:t>
            </a:r>
          </a:p>
        </p:txBody>
      </p:sp>
      <p:sp>
        <p:nvSpPr>
          <p:cNvPr id="14" name="Rounded Rectangle 13"/>
          <p:cNvSpPr/>
          <p:nvPr/>
        </p:nvSpPr>
        <p:spPr>
          <a:xfrm>
            <a:off x="8002828" y="1783080"/>
            <a:ext cx="3594506" cy="2121408"/>
          </a:xfrm>
          <a:prstGeom prst="roundRect">
            <a:avLst>
              <a:gd name="adj" fmla="val 387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58860" y="2002536"/>
            <a:ext cx="3265322" cy="292608"/>
          </a:xfrm>
          <a:prstGeom prst="rect">
            <a:avLst/>
          </a:prstGeom>
          <a:noFill/>
        </p:spPr>
        <p:txBody>
          <a:bodyPr wrap="square" lIns="0" tIns="0" rIns="0" bIns="0" anchor="t">
            <a:spAutoFit/>
          </a:bodyPr>
          <a:lstStyle/>
          <a:p>
            <a:pPr algn="l"/>
            <a:r>
              <a:rPr sz="1000" b="1" i="0">
                <a:solidFill>
                  <a:srgbClr val="2E75B6"/>
                </a:solidFill>
                <a:latin typeface="Calibri"/>
              </a:rPr>
              <a:t>UNIQUE CUSTOMERS</a:t>
            </a:r>
          </a:p>
        </p:txBody>
      </p:sp>
      <p:sp>
        <p:nvSpPr>
          <p:cNvPr id="16" name="TextBox 15"/>
          <p:cNvSpPr txBox="1"/>
          <p:nvPr/>
        </p:nvSpPr>
        <p:spPr>
          <a:xfrm>
            <a:off x="8258860" y="2295144"/>
            <a:ext cx="3265322" cy="749808"/>
          </a:xfrm>
          <a:prstGeom prst="rect">
            <a:avLst/>
          </a:prstGeom>
          <a:noFill/>
        </p:spPr>
        <p:txBody>
          <a:bodyPr wrap="square" lIns="0" tIns="0" rIns="0" bIns="0" anchor="t">
            <a:spAutoFit/>
          </a:bodyPr>
          <a:lstStyle/>
          <a:p>
            <a:pPr algn="l"/>
            <a:r>
              <a:rPr sz="3000" b="1" i="0">
                <a:solidFill>
                  <a:srgbClr val="1F3A5F"/>
                </a:solidFill>
                <a:latin typeface="Cambria"/>
              </a:rPr>
              <a:t>947</a:t>
            </a:r>
          </a:p>
        </p:txBody>
      </p:sp>
      <p:sp>
        <p:nvSpPr>
          <p:cNvPr id="17" name="TextBox 16"/>
          <p:cNvSpPr txBox="1"/>
          <p:nvPr/>
        </p:nvSpPr>
        <p:spPr>
          <a:xfrm>
            <a:off x="8258860" y="3099815"/>
            <a:ext cx="3265322" cy="658368"/>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95% single-purchase buyers — retention is the largest growth lever</a:t>
            </a:r>
          </a:p>
        </p:txBody>
      </p:sp>
      <p:sp>
        <p:nvSpPr>
          <p:cNvPr id="18" name="Rounded Rectangle 17"/>
          <p:cNvSpPr/>
          <p:nvPr/>
        </p:nvSpPr>
        <p:spPr>
          <a:xfrm>
            <a:off x="594360" y="4014215"/>
            <a:ext cx="3594506" cy="2121408"/>
          </a:xfrm>
          <a:prstGeom prst="roundRect">
            <a:avLst>
              <a:gd name="adj" fmla="val 387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 y="4233672"/>
            <a:ext cx="3265322" cy="292608"/>
          </a:xfrm>
          <a:prstGeom prst="rect">
            <a:avLst/>
          </a:prstGeom>
          <a:noFill/>
        </p:spPr>
        <p:txBody>
          <a:bodyPr wrap="square" lIns="0" tIns="0" rIns="0" bIns="0" anchor="t">
            <a:spAutoFit/>
          </a:bodyPr>
          <a:lstStyle/>
          <a:p>
            <a:pPr algn="l"/>
            <a:r>
              <a:rPr sz="1000" b="1" i="0">
                <a:solidFill>
                  <a:srgbClr val="2E75B6"/>
                </a:solidFill>
                <a:latin typeface="Calibri"/>
              </a:rPr>
              <a:t>UNITS SOLD</a:t>
            </a:r>
          </a:p>
        </p:txBody>
      </p:sp>
      <p:sp>
        <p:nvSpPr>
          <p:cNvPr id="20" name="TextBox 19"/>
          <p:cNvSpPr txBox="1"/>
          <p:nvPr/>
        </p:nvSpPr>
        <p:spPr>
          <a:xfrm>
            <a:off x="850392" y="4526279"/>
            <a:ext cx="3265322" cy="749808"/>
          </a:xfrm>
          <a:prstGeom prst="rect">
            <a:avLst/>
          </a:prstGeom>
          <a:noFill/>
        </p:spPr>
        <p:txBody>
          <a:bodyPr wrap="square" lIns="0" tIns="0" rIns="0" bIns="0" anchor="t">
            <a:spAutoFit/>
          </a:bodyPr>
          <a:lstStyle/>
          <a:p>
            <a:pPr algn="l"/>
            <a:r>
              <a:rPr sz="3000" b="1" i="0">
                <a:solidFill>
                  <a:srgbClr val="1F3A5F"/>
                </a:solidFill>
                <a:latin typeface="Cambria"/>
              </a:rPr>
              <a:t>5,435</a:t>
            </a:r>
          </a:p>
        </p:txBody>
      </p:sp>
      <p:sp>
        <p:nvSpPr>
          <p:cNvPr id="21" name="TextBox 20"/>
          <p:cNvSpPr txBox="1"/>
          <p:nvPr/>
        </p:nvSpPr>
        <p:spPr>
          <a:xfrm>
            <a:off x="850392" y="5330952"/>
            <a:ext cx="3265322" cy="658368"/>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across 6 product lines, led by Mobile on volume</a:t>
            </a:r>
          </a:p>
        </p:txBody>
      </p:sp>
      <p:sp>
        <p:nvSpPr>
          <p:cNvPr id="22" name="Rounded Rectangle 21"/>
          <p:cNvSpPr/>
          <p:nvPr/>
        </p:nvSpPr>
        <p:spPr>
          <a:xfrm>
            <a:off x="4298594" y="4014215"/>
            <a:ext cx="3594506" cy="2121408"/>
          </a:xfrm>
          <a:prstGeom prst="roundRect">
            <a:avLst>
              <a:gd name="adj" fmla="val 387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54626" y="4233672"/>
            <a:ext cx="3265322" cy="292608"/>
          </a:xfrm>
          <a:prstGeom prst="rect">
            <a:avLst/>
          </a:prstGeom>
          <a:noFill/>
        </p:spPr>
        <p:txBody>
          <a:bodyPr wrap="square" lIns="0" tIns="0" rIns="0" bIns="0" anchor="t">
            <a:spAutoFit/>
          </a:bodyPr>
          <a:lstStyle/>
          <a:p>
            <a:pPr algn="l"/>
            <a:r>
              <a:rPr sz="1000" b="1" i="0">
                <a:solidFill>
                  <a:srgbClr val="2E75B6"/>
                </a:solidFill>
                <a:latin typeface="Calibri"/>
              </a:rPr>
              <a:t>AVERAGE ORDER VALUE</a:t>
            </a:r>
          </a:p>
        </p:txBody>
      </p:sp>
      <p:sp>
        <p:nvSpPr>
          <p:cNvPr id="24" name="TextBox 23"/>
          <p:cNvSpPr txBox="1"/>
          <p:nvPr/>
        </p:nvSpPr>
        <p:spPr>
          <a:xfrm>
            <a:off x="4554626" y="4526279"/>
            <a:ext cx="3265322" cy="749808"/>
          </a:xfrm>
          <a:prstGeom prst="rect">
            <a:avLst/>
          </a:prstGeom>
          <a:noFill/>
        </p:spPr>
        <p:txBody>
          <a:bodyPr wrap="square" lIns="0" tIns="0" rIns="0" bIns="0" anchor="t">
            <a:spAutoFit/>
          </a:bodyPr>
          <a:lstStyle/>
          <a:p>
            <a:pPr algn="l"/>
            <a:r>
              <a:rPr sz="3000" b="1" i="0">
                <a:solidFill>
                  <a:srgbClr val="1F3A5F"/>
                </a:solidFill>
                <a:latin typeface="Cambria"/>
              </a:rPr>
              <a:t>₹140,524</a:t>
            </a:r>
          </a:p>
        </p:txBody>
      </p:sp>
      <p:sp>
        <p:nvSpPr>
          <p:cNvPr id="25" name="TextBox 24"/>
          <p:cNvSpPr txBox="1"/>
          <p:nvPr/>
        </p:nvSpPr>
        <p:spPr>
          <a:xfrm>
            <a:off x="4554626" y="5330952"/>
            <a:ext cx="3265322" cy="658368"/>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95% CI: ₹132,319 – ₹146,480</a:t>
            </a:r>
          </a:p>
        </p:txBody>
      </p:sp>
      <p:sp>
        <p:nvSpPr>
          <p:cNvPr id="26" name="Rounded Rectangle 25"/>
          <p:cNvSpPr/>
          <p:nvPr/>
        </p:nvSpPr>
        <p:spPr>
          <a:xfrm>
            <a:off x="8002828" y="4014215"/>
            <a:ext cx="3594506" cy="2121408"/>
          </a:xfrm>
          <a:prstGeom prst="roundRect">
            <a:avLst>
              <a:gd name="adj" fmla="val 387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8860" y="4233672"/>
            <a:ext cx="3265322" cy="292608"/>
          </a:xfrm>
          <a:prstGeom prst="rect">
            <a:avLst/>
          </a:prstGeom>
          <a:noFill/>
        </p:spPr>
        <p:txBody>
          <a:bodyPr wrap="square" lIns="0" tIns="0" rIns="0" bIns="0" anchor="t">
            <a:spAutoFit/>
          </a:bodyPr>
          <a:lstStyle/>
          <a:p>
            <a:pPr algn="l"/>
            <a:r>
              <a:rPr sz="1000" b="1" i="0">
                <a:solidFill>
                  <a:srgbClr val="2E75B6"/>
                </a:solidFill>
                <a:latin typeface="Calibri"/>
              </a:rPr>
              <a:t>REVENUE PER CUSTOMER</a:t>
            </a:r>
          </a:p>
        </p:txBody>
      </p:sp>
      <p:sp>
        <p:nvSpPr>
          <p:cNvPr id="28" name="TextBox 27"/>
          <p:cNvSpPr txBox="1"/>
          <p:nvPr/>
        </p:nvSpPr>
        <p:spPr>
          <a:xfrm>
            <a:off x="8258860" y="4526279"/>
            <a:ext cx="3265322" cy="749808"/>
          </a:xfrm>
          <a:prstGeom prst="rect">
            <a:avLst/>
          </a:prstGeom>
          <a:noFill/>
        </p:spPr>
        <p:txBody>
          <a:bodyPr wrap="square" lIns="0" tIns="0" rIns="0" bIns="0" anchor="t">
            <a:spAutoFit/>
          </a:bodyPr>
          <a:lstStyle/>
          <a:p>
            <a:pPr algn="l"/>
            <a:r>
              <a:rPr sz="3000" b="1" i="0">
                <a:solidFill>
                  <a:srgbClr val="1F3A5F"/>
                </a:solidFill>
                <a:latin typeface="Cambria"/>
              </a:rPr>
              <a:t>₹147,201</a:t>
            </a:r>
          </a:p>
        </p:txBody>
      </p:sp>
      <p:sp>
        <p:nvSpPr>
          <p:cNvPr id="29" name="TextBox 28"/>
          <p:cNvSpPr txBox="1"/>
          <p:nvPr/>
        </p:nvSpPr>
        <p:spPr>
          <a:xfrm>
            <a:off x="8258860" y="5330952"/>
            <a:ext cx="3265322" cy="658368"/>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52% male  ·  48% female — statistically indistinguishable</a:t>
            </a:r>
          </a:p>
        </p:txBody>
      </p:sp>
      <p:sp>
        <p:nvSpPr>
          <p:cNvPr id="30" name="TextBox 29"/>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1" name="TextBox 30"/>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07</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REVENUE STORY</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A resilient year with one addressable soft patch</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Monthly revenue, ₹ million  ·  FY2025  ·  seasonal, not structural decline</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783080"/>
            <a:ext cx="7406640" cy="4645152"/>
          </a:xfrm>
          <a:prstGeom prst="roundRect">
            <a:avLst>
              <a:gd name="adj" fmla="val 1771"/>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938528"/>
            <a:ext cx="5029200" cy="274320"/>
          </a:xfrm>
          <a:prstGeom prst="rect">
            <a:avLst/>
          </a:prstGeom>
          <a:noFill/>
        </p:spPr>
        <p:txBody>
          <a:bodyPr wrap="square" lIns="0" tIns="0" rIns="0" bIns="0" anchor="t">
            <a:spAutoFit/>
          </a:bodyPr>
          <a:lstStyle/>
          <a:p>
            <a:pPr algn="l"/>
            <a:r>
              <a:rPr sz="1000" b="1" i="0">
                <a:solidFill>
                  <a:srgbClr val="2E75B6"/>
                </a:solidFill>
                <a:latin typeface="Calibri"/>
              </a:rPr>
              <a:t>MONTHLY REVENUE (₹M)</a:t>
            </a:r>
          </a:p>
        </p:txBody>
      </p:sp>
      <p:graphicFrame>
        <p:nvGraphicFramePr>
          <p:cNvPr id="8" name="Chart 7"/>
          <p:cNvGraphicFramePr>
            <a:graphicFrameLocks noGrp="1"/>
          </p:cNvGraphicFramePr>
          <p:nvPr/>
        </p:nvGraphicFramePr>
        <p:xfrm>
          <a:off x="795528" y="2240280"/>
          <a:ext cx="6995160" cy="4005072"/>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8183879" y="1783080"/>
            <a:ext cx="3401568"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03336" y="1929384"/>
            <a:ext cx="2980944" cy="256032"/>
          </a:xfrm>
          <a:prstGeom prst="rect">
            <a:avLst/>
          </a:prstGeom>
          <a:noFill/>
        </p:spPr>
        <p:txBody>
          <a:bodyPr wrap="square" lIns="0" tIns="0" rIns="0" bIns="0" anchor="t">
            <a:spAutoFit/>
          </a:bodyPr>
          <a:lstStyle/>
          <a:p>
            <a:pPr algn="l"/>
            <a:r>
              <a:rPr sz="950" b="1" i="0">
                <a:solidFill>
                  <a:srgbClr val="2E75B6"/>
                </a:solidFill>
                <a:latin typeface="Calibri"/>
              </a:rPr>
              <a:t>PEAK MONTHS</a:t>
            </a:r>
          </a:p>
        </p:txBody>
      </p:sp>
      <p:sp>
        <p:nvSpPr>
          <p:cNvPr id="11" name="TextBox 10"/>
          <p:cNvSpPr txBox="1"/>
          <p:nvPr/>
        </p:nvSpPr>
        <p:spPr>
          <a:xfrm>
            <a:off x="8403336" y="2185416"/>
            <a:ext cx="2980944" cy="347472"/>
          </a:xfrm>
          <a:prstGeom prst="rect">
            <a:avLst/>
          </a:prstGeom>
          <a:noFill/>
        </p:spPr>
        <p:txBody>
          <a:bodyPr wrap="square" lIns="0" tIns="0" rIns="0" bIns="0" anchor="t">
            <a:spAutoFit/>
          </a:bodyPr>
          <a:lstStyle/>
          <a:p>
            <a:pPr algn="l"/>
            <a:r>
              <a:rPr sz="1250" b="1" i="0">
                <a:solidFill>
                  <a:srgbClr val="1F3A5F"/>
                </a:solidFill>
                <a:latin typeface="Calibri"/>
              </a:rPr>
              <a:t>Mar ₹13.1M  ·  Jun ₹12.9M  ·  Nov ₹12.6M</a:t>
            </a:r>
          </a:p>
        </p:txBody>
      </p:sp>
      <p:sp>
        <p:nvSpPr>
          <p:cNvPr id="12" name="TextBox 11"/>
          <p:cNvSpPr txBox="1"/>
          <p:nvPr/>
        </p:nvSpPr>
        <p:spPr>
          <a:xfrm>
            <a:off x="8403336" y="2569464"/>
            <a:ext cx="2980944" cy="548640"/>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Fiscal year-end and festive cycles reliably lift demand.</a:t>
            </a:r>
          </a:p>
        </p:txBody>
      </p:sp>
      <p:sp>
        <p:nvSpPr>
          <p:cNvPr id="13" name="Rounded Rectangle 12"/>
          <p:cNvSpPr/>
          <p:nvPr/>
        </p:nvSpPr>
        <p:spPr>
          <a:xfrm>
            <a:off x="8183879" y="3328415"/>
            <a:ext cx="3401568" cy="1417320"/>
          </a:xfrm>
          <a:prstGeom prst="roundRect">
            <a:avLst>
              <a:gd name="adj" fmla="val 5806"/>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03336" y="3474720"/>
            <a:ext cx="2980944" cy="256032"/>
          </a:xfrm>
          <a:prstGeom prst="rect">
            <a:avLst/>
          </a:prstGeom>
          <a:noFill/>
        </p:spPr>
        <p:txBody>
          <a:bodyPr wrap="square" lIns="0" tIns="0" rIns="0" bIns="0" anchor="t">
            <a:spAutoFit/>
          </a:bodyPr>
          <a:lstStyle/>
          <a:p>
            <a:pPr algn="l"/>
            <a:r>
              <a:rPr sz="950" b="1" i="0">
                <a:solidFill>
                  <a:srgbClr val="2E75B6"/>
                </a:solidFill>
                <a:latin typeface="Calibri"/>
              </a:rPr>
              <a:t>SOFT PATCH</a:t>
            </a:r>
          </a:p>
        </p:txBody>
      </p:sp>
      <p:sp>
        <p:nvSpPr>
          <p:cNvPr id="15" name="TextBox 14"/>
          <p:cNvSpPr txBox="1"/>
          <p:nvPr/>
        </p:nvSpPr>
        <p:spPr>
          <a:xfrm>
            <a:off x="8403336" y="3730752"/>
            <a:ext cx="2980944" cy="347472"/>
          </a:xfrm>
          <a:prstGeom prst="rect">
            <a:avLst/>
          </a:prstGeom>
          <a:noFill/>
        </p:spPr>
        <p:txBody>
          <a:bodyPr wrap="square" lIns="0" tIns="0" rIns="0" bIns="0" anchor="t">
            <a:spAutoFit/>
          </a:bodyPr>
          <a:lstStyle/>
          <a:p>
            <a:pPr algn="l"/>
            <a:r>
              <a:rPr sz="1250" b="1" i="0">
                <a:solidFill>
                  <a:srgbClr val="1F3A5F"/>
                </a:solidFill>
                <a:latin typeface="Calibri"/>
              </a:rPr>
              <a:t>Aug ₹9.4M  ·  Sep ₹9.2M</a:t>
            </a:r>
          </a:p>
        </p:txBody>
      </p:sp>
      <p:sp>
        <p:nvSpPr>
          <p:cNvPr id="16" name="TextBox 15"/>
          <p:cNvSpPr txBox="1"/>
          <p:nvPr/>
        </p:nvSpPr>
        <p:spPr>
          <a:xfrm>
            <a:off x="8403336" y="4114800"/>
            <a:ext cx="2980944" cy="548640"/>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A –30% trough vs. the March peak. Seasonal, not structural.</a:t>
            </a:r>
          </a:p>
        </p:txBody>
      </p:sp>
      <p:sp>
        <p:nvSpPr>
          <p:cNvPr id="17" name="Rounded Rectangle 16"/>
          <p:cNvSpPr/>
          <p:nvPr/>
        </p:nvSpPr>
        <p:spPr>
          <a:xfrm>
            <a:off x="8183879" y="4873752"/>
            <a:ext cx="3401568"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03336" y="5020056"/>
            <a:ext cx="2980944" cy="256032"/>
          </a:xfrm>
          <a:prstGeom prst="rect">
            <a:avLst/>
          </a:prstGeom>
          <a:noFill/>
        </p:spPr>
        <p:txBody>
          <a:bodyPr wrap="square" lIns="0" tIns="0" rIns="0" bIns="0" anchor="t">
            <a:spAutoFit/>
          </a:bodyPr>
          <a:lstStyle/>
          <a:p>
            <a:pPr algn="l"/>
            <a:r>
              <a:rPr sz="950" b="1" i="0">
                <a:solidFill>
                  <a:srgbClr val="2E75B6"/>
                </a:solidFill>
                <a:latin typeface="Calibri"/>
              </a:rPr>
              <a:t>STRATEGIC READ</a:t>
            </a:r>
          </a:p>
        </p:txBody>
      </p:sp>
      <p:sp>
        <p:nvSpPr>
          <p:cNvPr id="19" name="TextBox 18"/>
          <p:cNvSpPr txBox="1"/>
          <p:nvPr/>
        </p:nvSpPr>
        <p:spPr>
          <a:xfrm>
            <a:off x="8403336" y="5276088"/>
            <a:ext cx="2980944" cy="347472"/>
          </a:xfrm>
          <a:prstGeom prst="rect">
            <a:avLst/>
          </a:prstGeom>
          <a:noFill/>
        </p:spPr>
        <p:txBody>
          <a:bodyPr wrap="square" lIns="0" tIns="0" rIns="0" bIns="0" anchor="t">
            <a:spAutoFit/>
          </a:bodyPr>
          <a:lstStyle/>
          <a:p>
            <a:pPr algn="l"/>
            <a:r>
              <a:rPr sz="1250" b="1" i="0">
                <a:solidFill>
                  <a:srgbClr val="1F3A5F"/>
                </a:solidFill>
                <a:latin typeface="Calibri"/>
              </a:rPr>
              <a:t>₹9M–₹13M operating band</a:t>
            </a:r>
          </a:p>
        </p:txBody>
      </p:sp>
      <p:sp>
        <p:nvSpPr>
          <p:cNvPr id="20" name="TextBox 19"/>
          <p:cNvSpPr txBox="1"/>
          <p:nvPr/>
        </p:nvSpPr>
        <p:spPr>
          <a:xfrm>
            <a:off x="8403336" y="5660136"/>
            <a:ext cx="2980944" cy="548640"/>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No downtrend. Fix the trough with counter-seasonal campaigns; protect the peaks with inventory.</a:t>
            </a:r>
          </a:p>
        </p:txBody>
      </p:sp>
      <p:sp>
        <p:nvSpPr>
          <p:cNvPr id="21" name="TextBox 20"/>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2" name="TextBox 21"/>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08</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CUSTOMER STORY</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Spending is uniform — demographics are not a segment</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Gender and age patterns, then the statistical verdict on both</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783080"/>
            <a:ext cx="3749039" cy="4645152"/>
          </a:xfrm>
          <a:prstGeom prst="roundRect">
            <a:avLst>
              <a:gd name="adj" fmla="val 2195"/>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938528"/>
            <a:ext cx="3246120" cy="274320"/>
          </a:xfrm>
          <a:prstGeom prst="rect">
            <a:avLst/>
          </a:prstGeom>
          <a:noFill/>
        </p:spPr>
        <p:txBody>
          <a:bodyPr wrap="square" lIns="0" tIns="0" rIns="0" bIns="0" anchor="t">
            <a:spAutoFit/>
          </a:bodyPr>
          <a:lstStyle/>
          <a:p>
            <a:pPr algn="l"/>
            <a:r>
              <a:rPr sz="1000" b="1" i="0">
                <a:solidFill>
                  <a:srgbClr val="2E75B6"/>
                </a:solidFill>
                <a:latin typeface="Calibri"/>
              </a:rPr>
              <a:t>REVENUE BY GENDER</a:t>
            </a:r>
          </a:p>
        </p:txBody>
      </p:sp>
      <p:graphicFrame>
        <p:nvGraphicFramePr>
          <p:cNvPr id="8" name="Chart 7"/>
          <p:cNvGraphicFramePr>
            <a:graphicFrameLocks noGrp="1"/>
          </p:cNvGraphicFramePr>
          <p:nvPr/>
        </p:nvGraphicFramePr>
        <p:xfrm>
          <a:off x="868680" y="2267712"/>
          <a:ext cx="32004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4526280" y="1783080"/>
            <a:ext cx="3977639" cy="4645152"/>
          </a:xfrm>
          <a:prstGeom prst="roundRect">
            <a:avLst>
              <a:gd name="adj" fmla="val 2068"/>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73168" y="1938528"/>
            <a:ext cx="3520440" cy="274320"/>
          </a:xfrm>
          <a:prstGeom prst="rect">
            <a:avLst/>
          </a:prstGeom>
          <a:noFill/>
        </p:spPr>
        <p:txBody>
          <a:bodyPr wrap="square" lIns="0" tIns="0" rIns="0" bIns="0" anchor="t">
            <a:spAutoFit/>
          </a:bodyPr>
          <a:lstStyle/>
          <a:p>
            <a:pPr algn="l"/>
            <a:r>
              <a:rPr sz="1000" b="1" i="0">
                <a:solidFill>
                  <a:srgbClr val="2E75B6"/>
                </a:solidFill>
                <a:latin typeface="Calibri"/>
              </a:rPr>
              <a:t>REVENUE BY AGE GROUP (₹M)</a:t>
            </a:r>
          </a:p>
        </p:txBody>
      </p:sp>
      <p:graphicFrame>
        <p:nvGraphicFramePr>
          <p:cNvPr id="11" name="Chart 10"/>
          <p:cNvGraphicFramePr>
            <a:graphicFrameLocks noGrp="1"/>
          </p:cNvGraphicFramePr>
          <p:nvPr/>
        </p:nvGraphicFramePr>
        <p:xfrm>
          <a:off x="4645152" y="2267712"/>
          <a:ext cx="3730752" cy="4005072"/>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p:cNvSpPr txBox="1"/>
          <p:nvPr/>
        </p:nvSpPr>
        <p:spPr>
          <a:xfrm>
            <a:off x="8732520" y="1828800"/>
            <a:ext cx="3127248" cy="384048"/>
          </a:xfrm>
          <a:prstGeom prst="rect">
            <a:avLst/>
          </a:prstGeom>
          <a:noFill/>
        </p:spPr>
        <p:txBody>
          <a:bodyPr wrap="square" lIns="0" tIns="0" rIns="0" bIns="0" anchor="t">
            <a:spAutoFit/>
          </a:bodyPr>
          <a:lstStyle/>
          <a:p>
            <a:pPr algn="l"/>
            <a:r>
              <a:rPr sz="1400" b="1" i="0">
                <a:solidFill>
                  <a:srgbClr val="1F3A5F"/>
                </a:solidFill>
                <a:latin typeface="Cambria"/>
              </a:rPr>
              <a:t>What the tests found</a:t>
            </a:r>
          </a:p>
        </p:txBody>
      </p:sp>
      <p:sp>
        <p:nvSpPr>
          <p:cNvPr id="13" name="Rounded Rectangle 12"/>
          <p:cNvSpPr/>
          <p:nvPr/>
        </p:nvSpPr>
        <p:spPr>
          <a:xfrm>
            <a:off x="8732520" y="2331720"/>
            <a:ext cx="3127248" cy="1261872"/>
          </a:xfrm>
          <a:prstGeom prst="roundRect">
            <a:avLst>
              <a:gd name="adj" fmla="val 6521"/>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933688" y="2478024"/>
            <a:ext cx="2724912" cy="384048"/>
          </a:xfrm>
          <a:prstGeom prst="rect">
            <a:avLst/>
          </a:prstGeom>
          <a:noFill/>
        </p:spPr>
        <p:txBody>
          <a:bodyPr wrap="square" lIns="0" tIns="0" rIns="0" bIns="0" anchor="t">
            <a:spAutoFit/>
          </a:bodyPr>
          <a:lstStyle/>
          <a:p>
            <a:pPr algn="l">
              <a:lnSpc>
                <a:spcPct val="105000"/>
              </a:lnSpc>
            </a:pPr>
            <a:r>
              <a:rPr sz="1150" b="1" i="0">
                <a:solidFill>
                  <a:srgbClr val="1F3A5F"/>
                </a:solidFill>
                <a:latin typeface="Calibri"/>
              </a:rPr>
              <a:t>Gender gap is statistical noise</a:t>
            </a:r>
          </a:p>
        </p:txBody>
      </p:sp>
      <p:sp>
        <p:nvSpPr>
          <p:cNvPr id="15" name="TextBox 14"/>
          <p:cNvSpPr txBox="1"/>
          <p:nvPr/>
        </p:nvSpPr>
        <p:spPr>
          <a:xfrm>
            <a:off x="8933688" y="2898648"/>
            <a:ext cx="2724912" cy="594360"/>
          </a:xfrm>
          <a:prstGeom prst="rect">
            <a:avLst/>
          </a:prstGeom>
          <a:noFill/>
        </p:spPr>
        <p:txBody>
          <a:bodyPr wrap="square" lIns="0" tIns="0" rIns="0" bIns="0" anchor="t">
            <a:spAutoFit/>
          </a:bodyPr>
          <a:lstStyle/>
          <a:p>
            <a:pPr algn="l">
              <a:lnSpc>
                <a:spcPct val="118000"/>
              </a:lnSpc>
            </a:pPr>
            <a:r>
              <a:rPr sz="1000" b="0" i="0">
                <a:solidFill>
                  <a:srgbClr val="3A4756"/>
                </a:solidFill>
                <a:latin typeface="Calibri"/>
              </a:rPr>
              <a:t>t-test p = 0.495 — the 52:48 split does not hold under testing.</a:t>
            </a:r>
          </a:p>
        </p:txBody>
      </p:sp>
      <p:sp>
        <p:nvSpPr>
          <p:cNvPr id="16" name="Rounded Rectangle 15"/>
          <p:cNvSpPr/>
          <p:nvPr/>
        </p:nvSpPr>
        <p:spPr>
          <a:xfrm>
            <a:off x="8732520" y="3721608"/>
            <a:ext cx="3127248" cy="1261872"/>
          </a:xfrm>
          <a:prstGeom prst="roundRect">
            <a:avLst>
              <a:gd name="adj" fmla="val 6521"/>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33688" y="3867912"/>
            <a:ext cx="2724912" cy="384048"/>
          </a:xfrm>
          <a:prstGeom prst="rect">
            <a:avLst/>
          </a:prstGeom>
          <a:noFill/>
        </p:spPr>
        <p:txBody>
          <a:bodyPr wrap="square" lIns="0" tIns="0" rIns="0" bIns="0" anchor="t">
            <a:spAutoFit/>
          </a:bodyPr>
          <a:lstStyle/>
          <a:p>
            <a:pPr algn="l">
              <a:lnSpc>
                <a:spcPct val="105000"/>
              </a:lnSpc>
            </a:pPr>
            <a:r>
              <a:rPr sz="1150" b="1" i="0">
                <a:solidFill>
                  <a:srgbClr val="1F3A5F"/>
                </a:solidFill>
                <a:latin typeface="Calibri"/>
              </a:rPr>
              <a:t>Age groups spend identically</a:t>
            </a:r>
          </a:p>
        </p:txBody>
      </p:sp>
      <p:sp>
        <p:nvSpPr>
          <p:cNvPr id="18" name="TextBox 17"/>
          <p:cNvSpPr txBox="1"/>
          <p:nvPr/>
        </p:nvSpPr>
        <p:spPr>
          <a:xfrm>
            <a:off x="8933688" y="4288536"/>
            <a:ext cx="2724912" cy="594360"/>
          </a:xfrm>
          <a:prstGeom prst="rect">
            <a:avLst/>
          </a:prstGeom>
          <a:noFill/>
        </p:spPr>
        <p:txBody>
          <a:bodyPr wrap="square" lIns="0" tIns="0" rIns="0" bIns="0" anchor="t">
            <a:spAutoFit/>
          </a:bodyPr>
          <a:lstStyle/>
          <a:p>
            <a:pPr algn="l">
              <a:lnSpc>
                <a:spcPct val="118000"/>
              </a:lnSpc>
            </a:pPr>
            <a:r>
              <a:rPr sz="1000" b="0" i="0">
                <a:solidFill>
                  <a:srgbClr val="3A4756"/>
                </a:solidFill>
                <a:latin typeface="Calibri"/>
              </a:rPr>
              <a:t>ANOVA p = 0.973 — seniors buy less often, not smaller baskets.</a:t>
            </a:r>
          </a:p>
        </p:txBody>
      </p:sp>
      <p:sp>
        <p:nvSpPr>
          <p:cNvPr id="19" name="Rounded Rectangle 18"/>
          <p:cNvSpPr/>
          <p:nvPr/>
        </p:nvSpPr>
        <p:spPr>
          <a:xfrm>
            <a:off x="8732520" y="5111496"/>
            <a:ext cx="3127248" cy="1261872"/>
          </a:xfrm>
          <a:prstGeom prst="roundRect">
            <a:avLst>
              <a:gd name="adj" fmla="val 6521"/>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33688" y="5257800"/>
            <a:ext cx="2724912" cy="384048"/>
          </a:xfrm>
          <a:prstGeom prst="rect">
            <a:avLst/>
          </a:prstGeom>
          <a:noFill/>
        </p:spPr>
        <p:txBody>
          <a:bodyPr wrap="square" lIns="0" tIns="0" rIns="0" bIns="0" anchor="t">
            <a:spAutoFit/>
          </a:bodyPr>
          <a:lstStyle/>
          <a:p>
            <a:pPr algn="l">
              <a:lnSpc>
                <a:spcPct val="105000"/>
              </a:lnSpc>
            </a:pPr>
            <a:r>
              <a:rPr sz="1150" b="1" i="0">
                <a:solidFill>
                  <a:srgbClr val="1F3A5F"/>
                </a:solidFill>
                <a:latin typeface="Calibri"/>
              </a:rPr>
              <a:t>Implication for strategy</a:t>
            </a:r>
          </a:p>
        </p:txBody>
      </p:sp>
      <p:sp>
        <p:nvSpPr>
          <p:cNvPr id="21" name="TextBox 20"/>
          <p:cNvSpPr txBox="1"/>
          <p:nvPr/>
        </p:nvSpPr>
        <p:spPr>
          <a:xfrm>
            <a:off x="8933688" y="5678424"/>
            <a:ext cx="2724912" cy="594360"/>
          </a:xfrm>
          <a:prstGeom prst="rect">
            <a:avLst/>
          </a:prstGeom>
          <a:noFill/>
        </p:spPr>
        <p:txBody>
          <a:bodyPr wrap="square" lIns="0" tIns="0" rIns="0" bIns="0" anchor="t">
            <a:spAutoFit/>
          </a:bodyPr>
          <a:lstStyle/>
          <a:p>
            <a:pPr algn="l">
              <a:lnSpc>
                <a:spcPct val="118000"/>
              </a:lnSpc>
            </a:pPr>
            <a:r>
              <a:rPr sz="1000" b="0" i="0">
                <a:solidFill>
                  <a:srgbClr val="3A4756"/>
                </a:solidFill>
                <a:latin typeface="Calibri"/>
              </a:rPr>
              <a:t>Segment on behaviour — category, city, season — not demographics.</a:t>
            </a:r>
          </a:p>
        </p:txBody>
      </p:sp>
      <p:sp>
        <p:nvSpPr>
          <p:cNvPr id="22" name="TextBox 21"/>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3" name="TextBox 22"/>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09</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GEOGRAPHIC STORY</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Patna leads every metro — tier-2 India buys premium</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Revenue by city, ₹ million  ·  8 markets ranked</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783080"/>
            <a:ext cx="7022592" cy="4645152"/>
          </a:xfrm>
          <a:prstGeom prst="roundRect">
            <a:avLst>
              <a:gd name="adj" fmla="val 1771"/>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938528"/>
            <a:ext cx="5029200" cy="274320"/>
          </a:xfrm>
          <a:prstGeom prst="rect">
            <a:avLst/>
          </a:prstGeom>
          <a:noFill/>
        </p:spPr>
        <p:txBody>
          <a:bodyPr wrap="square" lIns="0" tIns="0" rIns="0" bIns="0" anchor="t">
            <a:spAutoFit/>
          </a:bodyPr>
          <a:lstStyle/>
          <a:p>
            <a:pPr algn="l"/>
            <a:r>
              <a:rPr sz="1000" b="1" i="0">
                <a:solidFill>
                  <a:srgbClr val="2E75B6"/>
                </a:solidFill>
                <a:latin typeface="Calibri"/>
              </a:rPr>
              <a:t>REVENUE BY CITY (₹M)</a:t>
            </a:r>
          </a:p>
        </p:txBody>
      </p:sp>
      <p:graphicFrame>
        <p:nvGraphicFramePr>
          <p:cNvPr id="8" name="Chart 7"/>
          <p:cNvGraphicFramePr>
            <a:graphicFrameLocks noGrp="1"/>
          </p:cNvGraphicFramePr>
          <p:nvPr/>
        </p:nvGraphicFramePr>
        <p:xfrm>
          <a:off x="795528" y="2267712"/>
          <a:ext cx="6620256" cy="4005072"/>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7863840" y="1783080"/>
            <a:ext cx="3721608" cy="1417320"/>
          </a:xfrm>
          <a:prstGeom prst="roundRect">
            <a:avLst>
              <a:gd name="adj" fmla="val 5806"/>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83296" y="1929384"/>
            <a:ext cx="3310128" cy="256032"/>
          </a:xfrm>
          <a:prstGeom prst="rect">
            <a:avLst/>
          </a:prstGeom>
          <a:noFill/>
        </p:spPr>
        <p:txBody>
          <a:bodyPr wrap="square" lIns="0" tIns="0" rIns="0" bIns="0" anchor="t">
            <a:spAutoFit/>
          </a:bodyPr>
          <a:lstStyle/>
          <a:p>
            <a:pPr algn="l"/>
            <a:r>
              <a:rPr sz="950" b="1" i="0">
                <a:solidFill>
                  <a:srgbClr val="2E75B6"/>
                </a:solidFill>
                <a:latin typeface="Calibri"/>
              </a:rPr>
              <a:t>MARKET LEADER</a:t>
            </a:r>
          </a:p>
        </p:txBody>
      </p:sp>
      <p:sp>
        <p:nvSpPr>
          <p:cNvPr id="11" name="TextBox 10"/>
          <p:cNvSpPr txBox="1"/>
          <p:nvPr/>
        </p:nvSpPr>
        <p:spPr>
          <a:xfrm>
            <a:off x="8083296" y="2185416"/>
            <a:ext cx="3310128" cy="347472"/>
          </a:xfrm>
          <a:prstGeom prst="rect">
            <a:avLst/>
          </a:prstGeom>
          <a:noFill/>
        </p:spPr>
        <p:txBody>
          <a:bodyPr wrap="square" lIns="0" tIns="0" rIns="0" bIns="0" anchor="t">
            <a:spAutoFit/>
          </a:bodyPr>
          <a:lstStyle/>
          <a:p>
            <a:pPr algn="l"/>
            <a:r>
              <a:rPr sz="1250" b="1" i="0">
                <a:solidFill>
                  <a:srgbClr val="1F3A5F"/>
                </a:solidFill>
                <a:latin typeface="Calibri"/>
              </a:rPr>
              <a:t>Patna — ₹20.8M</a:t>
            </a:r>
          </a:p>
        </p:txBody>
      </p:sp>
      <p:sp>
        <p:nvSpPr>
          <p:cNvPr id="12" name="TextBox 11"/>
          <p:cNvSpPr txBox="1"/>
          <p:nvPr/>
        </p:nvSpPr>
        <p:spPr>
          <a:xfrm>
            <a:off x="8083296" y="2569464"/>
            <a:ext cx="3310128" cy="548640"/>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14.9% of national revenue; out-sells Mumbai, Bengaluru and Delhi.</a:t>
            </a:r>
          </a:p>
        </p:txBody>
      </p:sp>
      <p:sp>
        <p:nvSpPr>
          <p:cNvPr id="13" name="Rounded Rectangle 12"/>
          <p:cNvSpPr/>
          <p:nvPr/>
        </p:nvSpPr>
        <p:spPr>
          <a:xfrm>
            <a:off x="7863840" y="3328415"/>
            <a:ext cx="3721608"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83296" y="3474720"/>
            <a:ext cx="3310128" cy="256032"/>
          </a:xfrm>
          <a:prstGeom prst="rect">
            <a:avLst/>
          </a:prstGeom>
          <a:noFill/>
        </p:spPr>
        <p:txBody>
          <a:bodyPr wrap="square" lIns="0" tIns="0" rIns="0" bIns="0" anchor="t">
            <a:spAutoFit/>
          </a:bodyPr>
          <a:lstStyle/>
          <a:p>
            <a:pPr algn="l"/>
            <a:r>
              <a:rPr sz="950" b="1" i="0">
                <a:solidFill>
                  <a:srgbClr val="2E75B6"/>
                </a:solidFill>
                <a:latin typeface="Calibri"/>
              </a:rPr>
              <a:t>CONCENTRATION</a:t>
            </a:r>
          </a:p>
        </p:txBody>
      </p:sp>
      <p:sp>
        <p:nvSpPr>
          <p:cNvPr id="15" name="TextBox 14"/>
          <p:cNvSpPr txBox="1"/>
          <p:nvPr/>
        </p:nvSpPr>
        <p:spPr>
          <a:xfrm>
            <a:off x="8083296" y="3730752"/>
            <a:ext cx="3310128" cy="347472"/>
          </a:xfrm>
          <a:prstGeom prst="rect">
            <a:avLst/>
          </a:prstGeom>
          <a:noFill/>
        </p:spPr>
        <p:txBody>
          <a:bodyPr wrap="square" lIns="0" tIns="0" rIns="0" bIns="0" anchor="t">
            <a:spAutoFit/>
          </a:bodyPr>
          <a:lstStyle/>
          <a:p>
            <a:pPr algn="l"/>
            <a:r>
              <a:rPr sz="1250" b="1" i="0">
                <a:solidFill>
                  <a:srgbClr val="1F3A5F"/>
                </a:solidFill>
                <a:latin typeface="Calibri"/>
              </a:rPr>
              <a:t>Top 5 cities = 67.7%</a:t>
            </a:r>
          </a:p>
        </p:txBody>
      </p:sp>
      <p:sp>
        <p:nvSpPr>
          <p:cNvPr id="16" name="TextBox 15"/>
          <p:cNvSpPr txBox="1"/>
          <p:nvPr/>
        </p:nvSpPr>
        <p:spPr>
          <a:xfrm>
            <a:off x="8083296" y="4114800"/>
            <a:ext cx="3310128" cy="548640"/>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Two-thirds of revenue in five markets — efficient focus, manageable tail.</a:t>
            </a:r>
          </a:p>
        </p:txBody>
      </p:sp>
      <p:sp>
        <p:nvSpPr>
          <p:cNvPr id="17" name="Rounded Rectangle 16"/>
          <p:cNvSpPr/>
          <p:nvPr/>
        </p:nvSpPr>
        <p:spPr>
          <a:xfrm>
            <a:off x="7863840" y="4873752"/>
            <a:ext cx="3721608" cy="1417320"/>
          </a:xfrm>
          <a:prstGeom prst="roundRect">
            <a:avLst>
              <a:gd name="adj" fmla="val 5806"/>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83296" y="5020056"/>
            <a:ext cx="3310128" cy="256032"/>
          </a:xfrm>
          <a:prstGeom prst="rect">
            <a:avLst/>
          </a:prstGeom>
          <a:noFill/>
        </p:spPr>
        <p:txBody>
          <a:bodyPr wrap="square" lIns="0" tIns="0" rIns="0" bIns="0" anchor="t">
            <a:spAutoFit/>
          </a:bodyPr>
          <a:lstStyle/>
          <a:p>
            <a:pPr algn="l"/>
            <a:r>
              <a:rPr sz="950" b="1" i="0">
                <a:solidFill>
                  <a:srgbClr val="2E75B6"/>
                </a:solidFill>
                <a:latin typeface="Calibri"/>
              </a:rPr>
              <a:t>STRATEGIC READ</a:t>
            </a:r>
          </a:p>
        </p:txBody>
      </p:sp>
      <p:sp>
        <p:nvSpPr>
          <p:cNvPr id="19" name="TextBox 18"/>
          <p:cNvSpPr txBox="1"/>
          <p:nvPr/>
        </p:nvSpPr>
        <p:spPr>
          <a:xfrm>
            <a:off x="8083296" y="5276088"/>
            <a:ext cx="3310128" cy="347472"/>
          </a:xfrm>
          <a:prstGeom prst="rect">
            <a:avLst/>
          </a:prstGeom>
          <a:noFill/>
        </p:spPr>
        <p:txBody>
          <a:bodyPr wrap="square" lIns="0" tIns="0" rIns="0" bIns="0" anchor="t">
            <a:spAutoFit/>
          </a:bodyPr>
          <a:lstStyle/>
          <a:p>
            <a:pPr algn="l"/>
            <a:r>
              <a:rPr sz="1250" b="1" i="0">
                <a:solidFill>
                  <a:srgbClr val="1F3A5F"/>
                </a:solidFill>
                <a:latin typeface="Calibri"/>
              </a:rPr>
              <a:t>Revenue density, not city size</a:t>
            </a:r>
          </a:p>
        </p:txBody>
      </p:sp>
      <p:sp>
        <p:nvSpPr>
          <p:cNvPr id="20" name="TextBox 19"/>
          <p:cNvSpPr txBox="1"/>
          <p:nvPr/>
        </p:nvSpPr>
        <p:spPr>
          <a:xfrm>
            <a:off x="8083296" y="5660136"/>
            <a:ext cx="3310128" cy="548640"/>
          </a:xfrm>
          <a:prstGeom prst="rect">
            <a:avLst/>
          </a:prstGeom>
          <a:noFill/>
        </p:spPr>
        <p:txBody>
          <a:bodyPr wrap="square" lIns="0" tIns="0" rIns="0" bIns="0" anchor="t">
            <a:spAutoFit/>
          </a:bodyPr>
          <a:lstStyle/>
          <a:p>
            <a:pPr algn="l">
              <a:lnSpc>
                <a:spcPct val="112000"/>
              </a:lnSpc>
            </a:pPr>
            <a:r>
              <a:rPr sz="950" b="0" i="0">
                <a:solidFill>
                  <a:srgbClr val="64748B"/>
                </a:solidFill>
                <a:latin typeface="Calibri"/>
              </a:rPr>
              <a:t>High-value baskets in tier-2 India. Expand by revenue density, not metro prestige.</a:t>
            </a:r>
          </a:p>
        </p:txBody>
      </p:sp>
      <p:sp>
        <p:nvSpPr>
          <p:cNvPr id="21" name="TextBox 20"/>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2" name="TextBox 21"/>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PRODUCT PERFORMANCE</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Electronics is the engine — Fashion is the repositioning brief</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Category revenue, ₹ million  ·  with product-level standouts</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783080"/>
            <a:ext cx="6583680" cy="4645152"/>
          </a:xfrm>
          <a:prstGeom prst="roundRect">
            <a:avLst>
              <a:gd name="adj" fmla="val 1771"/>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938528"/>
            <a:ext cx="5029200" cy="274320"/>
          </a:xfrm>
          <a:prstGeom prst="rect">
            <a:avLst/>
          </a:prstGeom>
          <a:noFill/>
        </p:spPr>
        <p:txBody>
          <a:bodyPr wrap="square" lIns="0" tIns="0" rIns="0" bIns="0" anchor="t">
            <a:spAutoFit/>
          </a:bodyPr>
          <a:lstStyle/>
          <a:p>
            <a:pPr algn="l"/>
            <a:r>
              <a:rPr sz="1000" b="1" i="0">
                <a:solidFill>
                  <a:srgbClr val="2E75B6"/>
                </a:solidFill>
                <a:latin typeface="Calibri"/>
              </a:rPr>
              <a:t>REVENUE BY CATEGORY (₹M)</a:t>
            </a:r>
          </a:p>
        </p:txBody>
      </p:sp>
      <p:graphicFrame>
        <p:nvGraphicFramePr>
          <p:cNvPr id="8" name="Chart 7"/>
          <p:cNvGraphicFramePr>
            <a:graphicFrameLocks noGrp="1"/>
          </p:cNvGraphicFramePr>
          <p:nvPr/>
        </p:nvGraphicFramePr>
        <p:xfrm>
          <a:off x="795528" y="2267712"/>
          <a:ext cx="6181344" cy="4005072"/>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7296912" y="1783080"/>
            <a:ext cx="4279392" cy="1133856"/>
          </a:xfrm>
          <a:prstGeom prst="roundRect">
            <a:avLst>
              <a:gd name="adj" fmla="val 7258"/>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461504" y="2075688"/>
            <a:ext cx="530352" cy="53035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ox_blue.png"/>
          <p:cNvPicPr>
            <a:picLocks noChangeAspect="1"/>
          </p:cNvPicPr>
          <p:nvPr/>
        </p:nvPicPr>
        <p:blipFill>
          <a:blip r:embed="rId4"/>
          <a:stretch>
            <a:fillRect/>
          </a:stretch>
        </p:blipFill>
        <p:spPr>
          <a:xfrm>
            <a:off x="7588788" y="2202972"/>
            <a:ext cx="275783" cy="275783"/>
          </a:xfrm>
          <a:prstGeom prst="rect">
            <a:avLst/>
          </a:prstGeom>
        </p:spPr>
      </p:pic>
      <p:sp>
        <p:nvSpPr>
          <p:cNvPr id="12" name="TextBox 11"/>
          <p:cNvSpPr txBox="1"/>
          <p:nvPr/>
        </p:nvSpPr>
        <p:spPr>
          <a:xfrm>
            <a:off x="8138160" y="1929384"/>
            <a:ext cx="3273552" cy="402336"/>
          </a:xfrm>
          <a:prstGeom prst="rect">
            <a:avLst/>
          </a:prstGeom>
          <a:noFill/>
        </p:spPr>
        <p:txBody>
          <a:bodyPr wrap="square" lIns="0" tIns="0" rIns="0" bIns="0" anchor="t">
            <a:spAutoFit/>
          </a:bodyPr>
          <a:lstStyle/>
          <a:p>
            <a:pPr algn="l"/>
            <a:r>
              <a:rPr sz="1150" b="1" i="0">
                <a:solidFill>
                  <a:srgbClr val="1F3A5F"/>
                </a:solidFill>
                <a:latin typeface="Calibri"/>
              </a:rPr>
              <a:t>Laptop  —  ₹25.4M</a:t>
            </a:r>
          </a:p>
        </p:txBody>
      </p:sp>
      <p:sp>
        <p:nvSpPr>
          <p:cNvPr id="13" name="TextBox 12"/>
          <p:cNvSpPr txBox="1"/>
          <p:nvPr/>
        </p:nvSpPr>
        <p:spPr>
          <a:xfrm>
            <a:off x="8138160" y="2350008"/>
            <a:ext cx="3273552" cy="493776"/>
          </a:xfrm>
          <a:prstGeom prst="rect">
            <a:avLst/>
          </a:prstGeom>
          <a:noFill/>
        </p:spPr>
        <p:txBody>
          <a:bodyPr wrap="square" lIns="0" tIns="0" rIns="0" bIns="0" anchor="t">
            <a:spAutoFit/>
          </a:bodyPr>
          <a:lstStyle/>
          <a:p>
            <a:pPr algn="l">
              <a:lnSpc>
                <a:spcPct val="110000"/>
              </a:lnSpc>
            </a:pPr>
            <a:r>
              <a:rPr sz="950" b="0" i="0">
                <a:solidFill>
                  <a:srgbClr val="64748B"/>
                </a:solidFill>
                <a:latin typeface="Calibri"/>
              </a:rPr>
              <a:t>Highest-revenue product; premium anchor of the Electronics engine.</a:t>
            </a:r>
          </a:p>
        </p:txBody>
      </p:sp>
      <p:sp>
        <p:nvSpPr>
          <p:cNvPr id="14" name="Rounded Rectangle 13"/>
          <p:cNvSpPr/>
          <p:nvPr/>
        </p:nvSpPr>
        <p:spPr>
          <a:xfrm>
            <a:off x="7296912" y="2962656"/>
            <a:ext cx="4279392" cy="1133856"/>
          </a:xfrm>
          <a:prstGeom prst="roundRect">
            <a:avLst>
              <a:gd name="adj" fmla="val 7258"/>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461504" y="3255264"/>
            <a:ext cx="530352" cy="53035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bag_blue.png"/>
          <p:cNvPicPr>
            <a:picLocks noChangeAspect="1"/>
          </p:cNvPicPr>
          <p:nvPr/>
        </p:nvPicPr>
        <p:blipFill>
          <a:blip r:embed="rId5"/>
          <a:stretch>
            <a:fillRect/>
          </a:stretch>
        </p:blipFill>
        <p:spPr>
          <a:xfrm>
            <a:off x="7588788" y="3382548"/>
            <a:ext cx="275783" cy="275783"/>
          </a:xfrm>
          <a:prstGeom prst="rect">
            <a:avLst/>
          </a:prstGeom>
        </p:spPr>
      </p:pic>
      <p:sp>
        <p:nvSpPr>
          <p:cNvPr id="17" name="TextBox 16"/>
          <p:cNvSpPr txBox="1"/>
          <p:nvPr/>
        </p:nvSpPr>
        <p:spPr>
          <a:xfrm>
            <a:off x="8138160" y="3108960"/>
            <a:ext cx="3273552" cy="402336"/>
          </a:xfrm>
          <a:prstGeom prst="rect">
            <a:avLst/>
          </a:prstGeom>
          <a:noFill/>
        </p:spPr>
        <p:txBody>
          <a:bodyPr wrap="square" lIns="0" tIns="0" rIns="0" bIns="0" anchor="t">
            <a:spAutoFit/>
          </a:bodyPr>
          <a:lstStyle/>
          <a:p>
            <a:pPr algn="l"/>
            <a:r>
              <a:rPr sz="1150" b="1" i="0">
                <a:solidFill>
                  <a:srgbClr val="1F3A5F"/>
                </a:solidFill>
                <a:latin typeface="Calibri"/>
              </a:rPr>
              <a:t>Mobile  —  1,008 units</a:t>
            </a:r>
          </a:p>
        </p:txBody>
      </p:sp>
      <p:sp>
        <p:nvSpPr>
          <p:cNvPr id="18" name="TextBox 17"/>
          <p:cNvSpPr txBox="1"/>
          <p:nvPr/>
        </p:nvSpPr>
        <p:spPr>
          <a:xfrm>
            <a:off x="8138160" y="3529584"/>
            <a:ext cx="3273552" cy="493776"/>
          </a:xfrm>
          <a:prstGeom prst="rect">
            <a:avLst/>
          </a:prstGeom>
          <a:noFill/>
        </p:spPr>
        <p:txBody>
          <a:bodyPr wrap="square" lIns="0" tIns="0" rIns="0" bIns="0" anchor="t">
            <a:spAutoFit/>
          </a:bodyPr>
          <a:lstStyle/>
          <a:p>
            <a:pPr algn="l">
              <a:lnSpc>
                <a:spcPct val="110000"/>
              </a:lnSpc>
            </a:pPr>
            <a:r>
              <a:rPr sz="950" b="0" i="0">
                <a:solidFill>
                  <a:srgbClr val="64748B"/>
                </a:solidFill>
                <a:latin typeface="Calibri"/>
              </a:rPr>
              <a:t>Highest-volume product; the traffic driver for the category.</a:t>
            </a:r>
          </a:p>
        </p:txBody>
      </p:sp>
      <p:sp>
        <p:nvSpPr>
          <p:cNvPr id="19" name="Rounded Rectangle 18"/>
          <p:cNvSpPr/>
          <p:nvPr/>
        </p:nvSpPr>
        <p:spPr>
          <a:xfrm>
            <a:off x="7296912" y="4142232"/>
            <a:ext cx="4279392" cy="1133856"/>
          </a:xfrm>
          <a:prstGeom prst="roundRect">
            <a:avLst>
              <a:gd name="adj" fmla="val 7258"/>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461504" y="4434840"/>
            <a:ext cx="530352" cy="53035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rupee_blue.png"/>
          <p:cNvPicPr>
            <a:picLocks noChangeAspect="1"/>
          </p:cNvPicPr>
          <p:nvPr/>
        </p:nvPicPr>
        <p:blipFill>
          <a:blip r:embed="rId6"/>
          <a:stretch>
            <a:fillRect/>
          </a:stretch>
        </p:blipFill>
        <p:spPr>
          <a:xfrm>
            <a:off x="7588788" y="4562124"/>
            <a:ext cx="275783" cy="275783"/>
          </a:xfrm>
          <a:prstGeom prst="rect">
            <a:avLst/>
          </a:prstGeom>
        </p:spPr>
      </p:pic>
      <p:sp>
        <p:nvSpPr>
          <p:cNvPr id="22" name="TextBox 21"/>
          <p:cNvSpPr txBox="1"/>
          <p:nvPr/>
        </p:nvSpPr>
        <p:spPr>
          <a:xfrm>
            <a:off x="8138160" y="4288536"/>
            <a:ext cx="3273552" cy="402336"/>
          </a:xfrm>
          <a:prstGeom prst="rect">
            <a:avLst/>
          </a:prstGeom>
          <a:noFill/>
        </p:spPr>
        <p:txBody>
          <a:bodyPr wrap="square" lIns="0" tIns="0" rIns="0" bIns="0" anchor="t">
            <a:spAutoFit/>
          </a:bodyPr>
          <a:lstStyle/>
          <a:p>
            <a:pPr algn="l"/>
            <a:r>
              <a:rPr sz="1150" b="1" i="0">
                <a:solidFill>
                  <a:srgbClr val="1F3A5F"/>
                </a:solidFill>
                <a:latin typeface="Calibri"/>
              </a:rPr>
              <a:t>Grocery  —  ₹145.3K AOV</a:t>
            </a:r>
          </a:p>
        </p:txBody>
      </p:sp>
      <p:sp>
        <p:nvSpPr>
          <p:cNvPr id="23" name="TextBox 22"/>
          <p:cNvSpPr txBox="1"/>
          <p:nvPr/>
        </p:nvSpPr>
        <p:spPr>
          <a:xfrm>
            <a:off x="8138160" y="4709160"/>
            <a:ext cx="3273552" cy="493776"/>
          </a:xfrm>
          <a:prstGeom prst="rect">
            <a:avLst/>
          </a:prstGeom>
          <a:noFill/>
        </p:spPr>
        <p:txBody>
          <a:bodyPr wrap="square" lIns="0" tIns="0" rIns="0" bIns="0" anchor="t">
            <a:spAutoFit/>
          </a:bodyPr>
          <a:lstStyle/>
          <a:p>
            <a:pPr algn="l">
              <a:lnSpc>
                <a:spcPct val="110000"/>
              </a:lnSpc>
            </a:pPr>
            <a:r>
              <a:rPr sz="950" b="0" i="0">
                <a:solidFill>
                  <a:srgbClr val="64748B"/>
                </a:solidFill>
                <a:latin typeface="Calibri"/>
              </a:rPr>
              <a:t>Highest average order value of any category; bulk-buying behaviour.</a:t>
            </a:r>
          </a:p>
        </p:txBody>
      </p:sp>
      <p:sp>
        <p:nvSpPr>
          <p:cNvPr id="24" name="Rounded Rectangle 23"/>
          <p:cNvSpPr/>
          <p:nvPr/>
        </p:nvSpPr>
        <p:spPr>
          <a:xfrm>
            <a:off x="7296912" y="5321808"/>
            <a:ext cx="4279392" cy="1133856"/>
          </a:xfrm>
          <a:prstGeom prst="roundRect">
            <a:avLst>
              <a:gd name="adj" fmla="val 7258"/>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461504" y="5614416"/>
            <a:ext cx="530352" cy="53035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up_blue.png"/>
          <p:cNvPicPr>
            <a:picLocks noChangeAspect="1"/>
          </p:cNvPicPr>
          <p:nvPr/>
        </p:nvPicPr>
        <p:blipFill>
          <a:blip r:embed="rId7"/>
          <a:stretch>
            <a:fillRect/>
          </a:stretch>
        </p:blipFill>
        <p:spPr>
          <a:xfrm>
            <a:off x="7588788" y="5741700"/>
            <a:ext cx="275783" cy="275783"/>
          </a:xfrm>
          <a:prstGeom prst="rect">
            <a:avLst/>
          </a:prstGeom>
        </p:spPr>
      </p:pic>
      <p:sp>
        <p:nvSpPr>
          <p:cNvPr id="27" name="TextBox 26"/>
          <p:cNvSpPr txBox="1"/>
          <p:nvPr/>
        </p:nvSpPr>
        <p:spPr>
          <a:xfrm>
            <a:off x="8138160" y="5468112"/>
            <a:ext cx="3273552" cy="402336"/>
          </a:xfrm>
          <a:prstGeom prst="rect">
            <a:avLst/>
          </a:prstGeom>
          <a:noFill/>
        </p:spPr>
        <p:txBody>
          <a:bodyPr wrap="square" lIns="0" tIns="0" rIns="0" bIns="0" anchor="t">
            <a:spAutoFit/>
          </a:bodyPr>
          <a:lstStyle/>
          <a:p>
            <a:pPr algn="l"/>
            <a:r>
              <a:rPr sz="1150" b="1" i="0">
                <a:solidFill>
                  <a:srgbClr val="1F3A5F"/>
                </a:solidFill>
                <a:latin typeface="Calibri"/>
              </a:rPr>
              <a:t>Fashion  —  ₹19.8M</a:t>
            </a:r>
          </a:p>
        </p:txBody>
      </p:sp>
      <p:sp>
        <p:nvSpPr>
          <p:cNvPr id="28" name="TextBox 27"/>
          <p:cNvSpPr txBox="1"/>
          <p:nvPr/>
        </p:nvSpPr>
        <p:spPr>
          <a:xfrm>
            <a:off x="8138160" y="5888736"/>
            <a:ext cx="3273552" cy="493776"/>
          </a:xfrm>
          <a:prstGeom prst="rect">
            <a:avLst/>
          </a:prstGeom>
          <a:noFill/>
        </p:spPr>
        <p:txBody>
          <a:bodyPr wrap="square" lIns="0" tIns="0" rIns="0" bIns="0" anchor="t">
            <a:spAutoFit/>
          </a:bodyPr>
          <a:lstStyle/>
          <a:p>
            <a:pPr algn="l">
              <a:lnSpc>
                <a:spcPct val="110000"/>
              </a:lnSpc>
            </a:pPr>
            <a:r>
              <a:rPr sz="950" b="0" i="0">
                <a:solidFill>
                  <a:srgbClr val="64748B"/>
                </a:solidFill>
                <a:latin typeface="Calibri"/>
              </a:rPr>
              <a:t>Weakest line, –61% vs Electronics. Repositioning candidate: pricing and bundle strategy.</a:t>
            </a:r>
          </a:p>
        </p:txBody>
      </p:sp>
      <p:sp>
        <p:nvSpPr>
          <p:cNvPr id="29" name="TextBox 28"/>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0" name="TextBox 29"/>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POWER BI</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Two dashboards: monitor operations, then target customers</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Executive Overview for daily posture  ·  Customer Deep Dive for targeting decisions</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828800"/>
            <a:ext cx="5468112" cy="347472"/>
          </a:xfrm>
          <a:prstGeom prst="rect">
            <a:avLst/>
          </a:prstGeom>
          <a:noFill/>
        </p:spPr>
        <p:txBody>
          <a:bodyPr wrap="square" lIns="0" tIns="0" rIns="0" bIns="0" anchor="t">
            <a:spAutoFit/>
          </a:bodyPr>
          <a:lstStyle/>
          <a:p>
            <a:pPr algn="l"/>
            <a:r>
              <a:rPr sz="1350" b="1" i="0">
                <a:solidFill>
                  <a:srgbClr val="1F3A5F"/>
                </a:solidFill>
                <a:latin typeface="Cambria"/>
              </a:rPr>
              <a:t>01  ·  Executive Overview</a:t>
            </a:r>
          </a:p>
        </p:txBody>
      </p:sp>
      <p:pic>
        <p:nvPicPr>
          <p:cNvPr id="7" name="Picture 6" descr="executive_overview.png"/>
          <p:cNvPicPr>
            <a:picLocks noChangeAspect="1"/>
          </p:cNvPicPr>
          <p:nvPr/>
        </p:nvPicPr>
        <p:blipFill>
          <a:blip r:embed="rId3"/>
          <a:stretch>
            <a:fillRect/>
          </a:stretch>
        </p:blipFill>
        <p:spPr>
          <a:xfrm>
            <a:off x="594360" y="2231136"/>
            <a:ext cx="5468112" cy="3118104"/>
          </a:xfrm>
          <a:prstGeom prst="rect">
            <a:avLst/>
          </a:prstGeom>
          <a:ln w="12700">
            <a:solidFill>
              <a:srgbClr val="DFE6EE"/>
            </a:solidFill>
          </a:ln>
        </p:spPr>
      </p:pic>
      <p:sp>
        <p:nvSpPr>
          <p:cNvPr id="8" name="TextBox 7"/>
          <p:cNvSpPr txBox="1"/>
          <p:nvPr/>
        </p:nvSpPr>
        <p:spPr>
          <a:xfrm>
            <a:off x="594360" y="5422392"/>
            <a:ext cx="5468112" cy="502920"/>
          </a:xfrm>
          <a:prstGeom prst="rect">
            <a:avLst/>
          </a:prstGeom>
          <a:noFill/>
        </p:spPr>
        <p:txBody>
          <a:bodyPr wrap="square" lIns="0" tIns="0" rIns="0" bIns="0" anchor="t">
            <a:spAutoFit/>
          </a:bodyPr>
          <a:lstStyle/>
          <a:p>
            <a:pPr algn="l">
              <a:lnSpc>
                <a:spcPct val="112000"/>
              </a:lnSpc>
            </a:pPr>
            <a:r>
              <a:rPr sz="1000" b="0" i="0">
                <a:solidFill>
                  <a:srgbClr val="64748B"/>
                </a:solidFill>
                <a:latin typeface="Calibri"/>
              </a:rPr>
              <a:t>KPI cards  ·  revenue by product, category &amp; city  ·  monthly trend</a:t>
            </a:r>
          </a:p>
        </p:txBody>
      </p:sp>
      <p:sp>
        <p:nvSpPr>
          <p:cNvPr id="9" name="TextBox 8"/>
          <p:cNvSpPr txBox="1"/>
          <p:nvPr/>
        </p:nvSpPr>
        <p:spPr>
          <a:xfrm>
            <a:off x="6190488" y="1828800"/>
            <a:ext cx="5468112" cy="347472"/>
          </a:xfrm>
          <a:prstGeom prst="rect">
            <a:avLst/>
          </a:prstGeom>
          <a:noFill/>
        </p:spPr>
        <p:txBody>
          <a:bodyPr wrap="square" lIns="0" tIns="0" rIns="0" bIns="0" anchor="t">
            <a:spAutoFit/>
          </a:bodyPr>
          <a:lstStyle/>
          <a:p>
            <a:pPr algn="l"/>
            <a:r>
              <a:rPr sz="1350" b="1" i="0">
                <a:solidFill>
                  <a:srgbClr val="1F3A5F"/>
                </a:solidFill>
                <a:latin typeface="Cambria"/>
              </a:rPr>
              <a:t>02  ·  Customer Deep Dive</a:t>
            </a:r>
          </a:p>
        </p:txBody>
      </p:sp>
      <p:pic>
        <p:nvPicPr>
          <p:cNvPr id="10" name="Picture 9" descr="customer_deep_dive.png"/>
          <p:cNvPicPr>
            <a:picLocks noChangeAspect="1"/>
          </p:cNvPicPr>
          <p:nvPr/>
        </p:nvPicPr>
        <p:blipFill>
          <a:blip r:embed="rId4"/>
          <a:stretch>
            <a:fillRect/>
          </a:stretch>
        </p:blipFill>
        <p:spPr>
          <a:xfrm>
            <a:off x="6190488" y="2231136"/>
            <a:ext cx="5468112" cy="3118104"/>
          </a:xfrm>
          <a:prstGeom prst="rect">
            <a:avLst/>
          </a:prstGeom>
          <a:ln w="12700">
            <a:solidFill>
              <a:srgbClr val="DFE6EE"/>
            </a:solidFill>
          </a:ln>
        </p:spPr>
      </p:pic>
      <p:sp>
        <p:nvSpPr>
          <p:cNvPr id="11" name="TextBox 10"/>
          <p:cNvSpPr txBox="1"/>
          <p:nvPr/>
        </p:nvSpPr>
        <p:spPr>
          <a:xfrm>
            <a:off x="6190488" y="5422392"/>
            <a:ext cx="5468112" cy="502920"/>
          </a:xfrm>
          <a:prstGeom prst="rect">
            <a:avLst/>
          </a:prstGeom>
          <a:noFill/>
        </p:spPr>
        <p:txBody>
          <a:bodyPr wrap="square" lIns="0" tIns="0" rIns="0" bIns="0" anchor="t">
            <a:spAutoFit/>
          </a:bodyPr>
          <a:lstStyle/>
          <a:p>
            <a:pPr algn="l">
              <a:lnSpc>
                <a:spcPct val="112000"/>
              </a:lnSpc>
            </a:pPr>
            <a:r>
              <a:rPr sz="1000" b="0" i="0">
                <a:solidFill>
                  <a:srgbClr val="64748B"/>
                </a:solidFill>
                <a:latin typeface="Calibri"/>
              </a:rPr>
              <a:t>Gender &amp; age analysis  ·  top customers  ·  orders by category  ·  AOV</a:t>
            </a:r>
          </a:p>
        </p:txBody>
      </p:sp>
      <p:sp>
        <p:nvSpPr>
          <p:cNvPr id="12" name="TextBox 11"/>
          <p:cNvSpPr txBox="1"/>
          <p:nvPr/>
        </p:nvSpPr>
        <p:spPr>
          <a:xfrm>
            <a:off x="594360" y="6053328"/>
            <a:ext cx="11002975" cy="365760"/>
          </a:xfrm>
          <a:prstGeom prst="rect">
            <a:avLst/>
          </a:prstGeom>
          <a:noFill/>
        </p:spPr>
        <p:txBody>
          <a:bodyPr wrap="square" lIns="0" tIns="0" rIns="0" bIns="0" anchor="t">
            <a:spAutoFit/>
          </a:bodyPr>
          <a:lstStyle/>
          <a:p>
            <a:pPr algn="l"/>
            <a:r>
              <a:rPr sz="1050" b="0" i="1">
                <a:solidFill>
                  <a:srgbClr val="64748B"/>
                </a:solidFill>
                <a:latin typeface="Calibri"/>
              </a:rPr>
              <a:t>Both dashboards are fully interactive — slicers for month, city and category drive every visual simultaneously.</a:t>
            </a:r>
          </a:p>
        </p:txBody>
      </p:sp>
      <p:sp>
        <p:nvSpPr>
          <p:cNvPr id="13" name="TextBox 12"/>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14" name="TextBox 13"/>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STATISTICAL VALIDATION</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Every reported insight survived a formal test</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Four tests at α = 0.05 — only findings that passed are in this deck</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10512"/>
            <a:ext cx="2709595" cy="3611880"/>
          </a:xfrm>
          <a:prstGeom prst="roundRect">
            <a:avLst>
              <a:gd name="adj" fmla="val 3037"/>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2029968"/>
            <a:ext cx="2435275" cy="475488"/>
          </a:xfrm>
          <a:prstGeom prst="rect">
            <a:avLst/>
          </a:prstGeom>
          <a:noFill/>
        </p:spPr>
        <p:txBody>
          <a:bodyPr wrap="square" lIns="0" tIns="0" rIns="0" bIns="0" anchor="t">
            <a:spAutoFit/>
          </a:bodyPr>
          <a:lstStyle/>
          <a:p>
            <a:pPr algn="l">
              <a:lnSpc>
                <a:spcPct val="108000"/>
              </a:lnSpc>
            </a:pPr>
            <a:r>
              <a:rPr sz="950" b="1" i="0">
                <a:solidFill>
                  <a:srgbClr val="2E75B6"/>
                </a:solidFill>
                <a:latin typeface="Calibri"/>
              </a:rPr>
              <a:t>PEARSON CORRELATION</a:t>
            </a:r>
          </a:p>
        </p:txBody>
      </p:sp>
      <p:sp>
        <p:nvSpPr>
          <p:cNvPr id="8" name="TextBox 7"/>
          <p:cNvSpPr txBox="1"/>
          <p:nvPr/>
        </p:nvSpPr>
        <p:spPr>
          <a:xfrm>
            <a:off x="795528" y="2578608"/>
            <a:ext cx="2435275" cy="658368"/>
          </a:xfrm>
          <a:prstGeom prst="rect">
            <a:avLst/>
          </a:prstGeom>
          <a:noFill/>
        </p:spPr>
        <p:txBody>
          <a:bodyPr wrap="square" lIns="0" tIns="0" rIns="0" bIns="0" anchor="t">
            <a:spAutoFit/>
          </a:bodyPr>
          <a:lstStyle/>
          <a:p>
            <a:pPr algn="l">
              <a:lnSpc>
                <a:spcPct val="100000"/>
              </a:lnSpc>
            </a:pPr>
            <a:r>
              <a:rPr sz="1700" b="1" i="0">
                <a:solidFill>
                  <a:srgbClr val="1F3A5F"/>
                </a:solidFill>
                <a:latin typeface="Cambria"/>
              </a:rPr>
              <a:t>r = 0.6466</a:t>
            </a:r>
          </a:p>
        </p:txBody>
      </p:sp>
      <p:sp>
        <p:nvSpPr>
          <p:cNvPr id="9" name="TextBox 8"/>
          <p:cNvSpPr txBox="1"/>
          <p:nvPr/>
        </p:nvSpPr>
        <p:spPr>
          <a:xfrm>
            <a:off x="795528" y="3273552"/>
            <a:ext cx="2435275" cy="292608"/>
          </a:xfrm>
          <a:prstGeom prst="rect">
            <a:avLst/>
          </a:prstGeom>
          <a:noFill/>
        </p:spPr>
        <p:txBody>
          <a:bodyPr wrap="square" lIns="0" tIns="0" rIns="0" bIns="0" anchor="t">
            <a:spAutoFit/>
          </a:bodyPr>
          <a:lstStyle/>
          <a:p>
            <a:pPr algn="l"/>
            <a:r>
              <a:rPr sz="950" b="0" i="1">
                <a:solidFill>
                  <a:srgbClr val="64748B"/>
                </a:solidFill>
                <a:latin typeface="Calibri"/>
              </a:rPr>
              <a:t>p &lt; 0.001</a:t>
            </a:r>
          </a:p>
        </p:txBody>
      </p:sp>
      <p:sp>
        <p:nvSpPr>
          <p:cNvPr id="10" name="Rounded Rectangle 9"/>
          <p:cNvSpPr/>
          <p:nvPr/>
        </p:nvSpPr>
        <p:spPr>
          <a:xfrm>
            <a:off x="795528" y="3127248"/>
            <a:ext cx="2307259" cy="384048"/>
          </a:xfrm>
          <a:prstGeom prst="roundRect">
            <a:avLst>
              <a:gd name="adj" fmla="val 50000"/>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3200400"/>
            <a:ext cx="2307259" cy="256032"/>
          </a:xfrm>
          <a:prstGeom prst="rect">
            <a:avLst/>
          </a:prstGeom>
          <a:noFill/>
        </p:spPr>
        <p:txBody>
          <a:bodyPr wrap="square" lIns="0" tIns="0" rIns="0" bIns="0" anchor="t">
            <a:spAutoFit/>
          </a:bodyPr>
          <a:lstStyle/>
          <a:p>
            <a:pPr algn="ctr"/>
            <a:r>
              <a:rPr sz="850" b="1" i="0">
                <a:solidFill>
                  <a:srgbClr val="2E75B6"/>
                </a:solidFill>
                <a:latin typeface="Calibri"/>
              </a:rPr>
              <a:t>SIGNIFICANT  ✓</a:t>
            </a:r>
          </a:p>
        </p:txBody>
      </p:sp>
      <p:sp>
        <p:nvSpPr>
          <p:cNvPr id="12" name="TextBox 11"/>
          <p:cNvSpPr txBox="1"/>
          <p:nvPr/>
        </p:nvSpPr>
        <p:spPr>
          <a:xfrm>
            <a:off x="795528" y="3639312"/>
            <a:ext cx="2435275" cy="1600200"/>
          </a:xfrm>
          <a:prstGeom prst="rect">
            <a:avLst/>
          </a:prstGeom>
          <a:noFill/>
        </p:spPr>
        <p:txBody>
          <a:bodyPr wrap="square" lIns="0" tIns="0" rIns="0" bIns="0" anchor="t">
            <a:spAutoFit/>
          </a:bodyPr>
          <a:lstStyle/>
          <a:p>
            <a:pPr algn="l">
              <a:lnSpc>
                <a:spcPct val="122000"/>
              </a:lnSpc>
            </a:pPr>
            <a:r>
              <a:rPr sz="1000" b="0" i="0">
                <a:solidFill>
                  <a:srgbClr val="3A4756"/>
                </a:solidFill>
                <a:latin typeface="Calibri"/>
              </a:rPr>
              <a:t>Quantity sold and revenue move together strongly. Volume is a proven growth lever — attach-rate programmes and cross-selling are provably profitable, not just directionally sensible.</a:t>
            </a:r>
          </a:p>
        </p:txBody>
      </p:sp>
      <p:sp>
        <p:nvSpPr>
          <p:cNvPr id="13" name="Rounded Rectangle 12"/>
          <p:cNvSpPr/>
          <p:nvPr/>
        </p:nvSpPr>
        <p:spPr>
          <a:xfrm>
            <a:off x="3358819" y="1810512"/>
            <a:ext cx="2709595" cy="3611880"/>
          </a:xfrm>
          <a:prstGeom prst="roundRect">
            <a:avLst>
              <a:gd name="adj" fmla="val 3037"/>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59987" y="2029968"/>
            <a:ext cx="2435275" cy="475488"/>
          </a:xfrm>
          <a:prstGeom prst="rect">
            <a:avLst/>
          </a:prstGeom>
          <a:noFill/>
        </p:spPr>
        <p:txBody>
          <a:bodyPr wrap="square" lIns="0" tIns="0" rIns="0" bIns="0" anchor="t">
            <a:spAutoFit/>
          </a:bodyPr>
          <a:lstStyle/>
          <a:p>
            <a:pPr algn="l">
              <a:lnSpc>
                <a:spcPct val="108000"/>
              </a:lnSpc>
            </a:pPr>
            <a:r>
              <a:rPr sz="950" b="1" i="0">
                <a:solidFill>
                  <a:srgbClr val="2E75B6"/>
                </a:solidFill>
                <a:latin typeface="Calibri"/>
              </a:rPr>
              <a:t>INDEPENDENT T-TEST</a:t>
            </a:r>
          </a:p>
        </p:txBody>
      </p:sp>
      <p:sp>
        <p:nvSpPr>
          <p:cNvPr id="15" name="TextBox 14"/>
          <p:cNvSpPr txBox="1"/>
          <p:nvPr/>
        </p:nvSpPr>
        <p:spPr>
          <a:xfrm>
            <a:off x="3559987" y="2578608"/>
            <a:ext cx="2435275" cy="658368"/>
          </a:xfrm>
          <a:prstGeom prst="rect">
            <a:avLst/>
          </a:prstGeom>
          <a:noFill/>
        </p:spPr>
        <p:txBody>
          <a:bodyPr wrap="square" lIns="0" tIns="0" rIns="0" bIns="0" anchor="t">
            <a:spAutoFit/>
          </a:bodyPr>
          <a:lstStyle/>
          <a:p>
            <a:pPr algn="l">
              <a:lnSpc>
                <a:spcPct val="100000"/>
              </a:lnSpc>
            </a:pPr>
            <a:r>
              <a:rPr sz="1700" b="1" i="0">
                <a:solidFill>
                  <a:srgbClr val="1F3A5F"/>
                </a:solidFill>
                <a:latin typeface="Cambria"/>
              </a:rPr>
              <a:t>p = 0.4950</a:t>
            </a:r>
          </a:p>
        </p:txBody>
      </p:sp>
      <p:sp>
        <p:nvSpPr>
          <p:cNvPr id="16" name="TextBox 15"/>
          <p:cNvSpPr txBox="1"/>
          <p:nvPr/>
        </p:nvSpPr>
        <p:spPr>
          <a:xfrm>
            <a:off x="3559987" y="3273552"/>
            <a:ext cx="2435275" cy="292608"/>
          </a:xfrm>
          <a:prstGeom prst="rect">
            <a:avLst/>
          </a:prstGeom>
          <a:noFill/>
        </p:spPr>
        <p:txBody>
          <a:bodyPr wrap="square" lIns="0" tIns="0" rIns="0" bIns="0" anchor="t">
            <a:spAutoFit/>
          </a:bodyPr>
          <a:lstStyle/>
          <a:p>
            <a:pPr algn="l"/>
            <a:r>
              <a:rPr sz="950" b="0" i="1">
                <a:solidFill>
                  <a:srgbClr val="64748B"/>
                </a:solidFill>
                <a:latin typeface="Calibri"/>
              </a:rPr>
              <a:t>Male vs. Female spend</a:t>
            </a:r>
          </a:p>
        </p:txBody>
      </p:sp>
      <p:sp>
        <p:nvSpPr>
          <p:cNvPr id="17" name="Rounded Rectangle 16"/>
          <p:cNvSpPr/>
          <p:nvPr/>
        </p:nvSpPr>
        <p:spPr>
          <a:xfrm>
            <a:off x="3559987" y="3127248"/>
            <a:ext cx="2307259" cy="384048"/>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559987" y="3200400"/>
            <a:ext cx="2307259" cy="256032"/>
          </a:xfrm>
          <a:prstGeom prst="rect">
            <a:avLst/>
          </a:prstGeom>
          <a:noFill/>
        </p:spPr>
        <p:txBody>
          <a:bodyPr wrap="square" lIns="0" tIns="0" rIns="0" bIns="0" anchor="t">
            <a:spAutoFit/>
          </a:bodyPr>
          <a:lstStyle/>
          <a:p>
            <a:pPr algn="ctr"/>
            <a:r>
              <a:rPr sz="850" b="1" i="0">
                <a:solidFill>
                  <a:srgbClr val="64748B"/>
                </a:solidFill>
                <a:latin typeface="Calibri"/>
              </a:rPr>
              <a:t>NOT SIGNIFICANT</a:t>
            </a:r>
          </a:p>
        </p:txBody>
      </p:sp>
      <p:sp>
        <p:nvSpPr>
          <p:cNvPr id="19" name="TextBox 18"/>
          <p:cNvSpPr txBox="1"/>
          <p:nvPr/>
        </p:nvSpPr>
        <p:spPr>
          <a:xfrm>
            <a:off x="3559987" y="3639312"/>
            <a:ext cx="2435275" cy="1600200"/>
          </a:xfrm>
          <a:prstGeom prst="rect">
            <a:avLst/>
          </a:prstGeom>
          <a:noFill/>
        </p:spPr>
        <p:txBody>
          <a:bodyPr wrap="square" lIns="0" tIns="0" rIns="0" bIns="0" anchor="t">
            <a:spAutoFit/>
          </a:bodyPr>
          <a:lstStyle/>
          <a:p>
            <a:pPr algn="l">
              <a:lnSpc>
                <a:spcPct val="122000"/>
              </a:lnSpc>
            </a:pPr>
            <a:r>
              <a:rPr sz="1000" b="0" i="0">
                <a:solidFill>
                  <a:srgbClr val="3A4756"/>
                </a:solidFill>
                <a:latin typeface="Calibri"/>
              </a:rPr>
              <a:t>The 52:48 gender split is statistical noise. No meaningful difference in basket size or frequency. Gender-based segmentation wastes budget — redirect to city, category and season.</a:t>
            </a:r>
          </a:p>
        </p:txBody>
      </p:sp>
      <p:sp>
        <p:nvSpPr>
          <p:cNvPr id="20" name="Rounded Rectangle 19"/>
          <p:cNvSpPr/>
          <p:nvPr/>
        </p:nvSpPr>
        <p:spPr>
          <a:xfrm>
            <a:off x="6123279" y="1810512"/>
            <a:ext cx="2709595" cy="3611880"/>
          </a:xfrm>
          <a:prstGeom prst="roundRect">
            <a:avLst>
              <a:gd name="adj" fmla="val 3037"/>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24447" y="2029968"/>
            <a:ext cx="2435275" cy="475488"/>
          </a:xfrm>
          <a:prstGeom prst="rect">
            <a:avLst/>
          </a:prstGeom>
          <a:noFill/>
        </p:spPr>
        <p:txBody>
          <a:bodyPr wrap="square" lIns="0" tIns="0" rIns="0" bIns="0" anchor="t">
            <a:spAutoFit/>
          </a:bodyPr>
          <a:lstStyle/>
          <a:p>
            <a:pPr algn="l">
              <a:lnSpc>
                <a:spcPct val="108000"/>
              </a:lnSpc>
            </a:pPr>
            <a:r>
              <a:rPr sz="950" b="1" i="0">
                <a:solidFill>
                  <a:srgbClr val="2E75B6"/>
                </a:solidFill>
                <a:latin typeface="Calibri"/>
              </a:rPr>
              <a:t>ONE-WAY ANOVA</a:t>
            </a:r>
          </a:p>
        </p:txBody>
      </p:sp>
      <p:sp>
        <p:nvSpPr>
          <p:cNvPr id="22" name="TextBox 21"/>
          <p:cNvSpPr txBox="1"/>
          <p:nvPr/>
        </p:nvSpPr>
        <p:spPr>
          <a:xfrm>
            <a:off x="6324447" y="2578608"/>
            <a:ext cx="2435275" cy="658368"/>
          </a:xfrm>
          <a:prstGeom prst="rect">
            <a:avLst/>
          </a:prstGeom>
          <a:noFill/>
        </p:spPr>
        <p:txBody>
          <a:bodyPr wrap="square" lIns="0" tIns="0" rIns="0" bIns="0" anchor="t">
            <a:spAutoFit/>
          </a:bodyPr>
          <a:lstStyle/>
          <a:p>
            <a:pPr algn="l">
              <a:lnSpc>
                <a:spcPct val="100000"/>
              </a:lnSpc>
            </a:pPr>
            <a:r>
              <a:rPr sz="1700" b="1" i="0">
                <a:solidFill>
                  <a:srgbClr val="1F3A5F"/>
                </a:solidFill>
                <a:latin typeface="Cambria"/>
              </a:rPr>
              <a:t>p = 0.9727</a:t>
            </a:r>
          </a:p>
        </p:txBody>
      </p:sp>
      <p:sp>
        <p:nvSpPr>
          <p:cNvPr id="23" name="TextBox 22"/>
          <p:cNvSpPr txBox="1"/>
          <p:nvPr/>
        </p:nvSpPr>
        <p:spPr>
          <a:xfrm>
            <a:off x="6324447" y="3273552"/>
            <a:ext cx="2435275" cy="292608"/>
          </a:xfrm>
          <a:prstGeom prst="rect">
            <a:avLst/>
          </a:prstGeom>
          <a:noFill/>
        </p:spPr>
        <p:txBody>
          <a:bodyPr wrap="square" lIns="0" tIns="0" rIns="0" bIns="0" anchor="t">
            <a:spAutoFit/>
          </a:bodyPr>
          <a:lstStyle/>
          <a:p>
            <a:pPr algn="l"/>
            <a:r>
              <a:rPr sz="950" b="0" i="1">
                <a:solidFill>
                  <a:srgbClr val="64748B"/>
                </a:solidFill>
                <a:latin typeface="Calibri"/>
              </a:rPr>
              <a:t>Across 4 age groups</a:t>
            </a:r>
          </a:p>
        </p:txBody>
      </p:sp>
      <p:sp>
        <p:nvSpPr>
          <p:cNvPr id="24" name="Rounded Rectangle 23"/>
          <p:cNvSpPr/>
          <p:nvPr/>
        </p:nvSpPr>
        <p:spPr>
          <a:xfrm>
            <a:off x="6324447" y="3127248"/>
            <a:ext cx="2307259" cy="384048"/>
          </a:xfrm>
          <a:prstGeom prst="roundRect">
            <a:avLst>
              <a:gd name="adj" fmla="val 50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24447" y="3200400"/>
            <a:ext cx="2307259" cy="256032"/>
          </a:xfrm>
          <a:prstGeom prst="rect">
            <a:avLst/>
          </a:prstGeom>
          <a:noFill/>
        </p:spPr>
        <p:txBody>
          <a:bodyPr wrap="square" lIns="0" tIns="0" rIns="0" bIns="0" anchor="t">
            <a:spAutoFit/>
          </a:bodyPr>
          <a:lstStyle/>
          <a:p>
            <a:pPr algn="ctr"/>
            <a:r>
              <a:rPr sz="850" b="1" i="0">
                <a:solidFill>
                  <a:srgbClr val="64748B"/>
                </a:solidFill>
                <a:latin typeface="Calibri"/>
              </a:rPr>
              <a:t>NOT SIGNIFICANT</a:t>
            </a:r>
          </a:p>
        </p:txBody>
      </p:sp>
      <p:sp>
        <p:nvSpPr>
          <p:cNvPr id="26" name="TextBox 25"/>
          <p:cNvSpPr txBox="1"/>
          <p:nvPr/>
        </p:nvSpPr>
        <p:spPr>
          <a:xfrm>
            <a:off x="6324447" y="3639312"/>
            <a:ext cx="2435275" cy="1600200"/>
          </a:xfrm>
          <a:prstGeom prst="rect">
            <a:avLst/>
          </a:prstGeom>
          <a:noFill/>
        </p:spPr>
        <p:txBody>
          <a:bodyPr wrap="square" lIns="0" tIns="0" rIns="0" bIns="0" anchor="t">
            <a:spAutoFit/>
          </a:bodyPr>
          <a:lstStyle/>
          <a:p>
            <a:pPr algn="l">
              <a:lnSpc>
                <a:spcPct val="122000"/>
              </a:lnSpc>
            </a:pPr>
            <a:r>
              <a:rPr sz="1000" b="0" i="0">
                <a:solidFill>
                  <a:srgbClr val="3A4756"/>
                </a:solidFill>
                <a:latin typeface="Calibri"/>
              </a:rPr>
              <a:t>Order values are statistically identical across all four age bands. Seniors buy less often, not smaller baskets. Age-targeted messaging is unlikely to shift spend per transaction.</a:t>
            </a:r>
          </a:p>
        </p:txBody>
      </p:sp>
      <p:sp>
        <p:nvSpPr>
          <p:cNvPr id="27" name="Rounded Rectangle 26"/>
          <p:cNvSpPr/>
          <p:nvPr/>
        </p:nvSpPr>
        <p:spPr>
          <a:xfrm>
            <a:off x="8887739" y="1810512"/>
            <a:ext cx="2709595" cy="3611880"/>
          </a:xfrm>
          <a:prstGeom prst="roundRect">
            <a:avLst>
              <a:gd name="adj" fmla="val 3037"/>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88907" y="2029968"/>
            <a:ext cx="2435275" cy="475488"/>
          </a:xfrm>
          <a:prstGeom prst="rect">
            <a:avLst/>
          </a:prstGeom>
          <a:noFill/>
        </p:spPr>
        <p:txBody>
          <a:bodyPr wrap="square" lIns="0" tIns="0" rIns="0" bIns="0" anchor="t">
            <a:spAutoFit/>
          </a:bodyPr>
          <a:lstStyle/>
          <a:p>
            <a:pPr algn="l">
              <a:lnSpc>
                <a:spcPct val="108000"/>
              </a:lnSpc>
            </a:pPr>
            <a:r>
              <a:rPr sz="950" b="1" i="0">
                <a:solidFill>
                  <a:srgbClr val="2E75B6"/>
                </a:solidFill>
                <a:latin typeface="Calibri"/>
              </a:rPr>
              <a:t>95% CONFIDENCE INTERVAL</a:t>
            </a:r>
          </a:p>
        </p:txBody>
      </p:sp>
      <p:sp>
        <p:nvSpPr>
          <p:cNvPr id="29" name="TextBox 28"/>
          <p:cNvSpPr txBox="1"/>
          <p:nvPr/>
        </p:nvSpPr>
        <p:spPr>
          <a:xfrm>
            <a:off x="9088907" y="2578608"/>
            <a:ext cx="2435275" cy="658368"/>
          </a:xfrm>
          <a:prstGeom prst="rect">
            <a:avLst/>
          </a:prstGeom>
          <a:noFill/>
        </p:spPr>
        <p:txBody>
          <a:bodyPr wrap="square" lIns="0" tIns="0" rIns="0" bIns="0" anchor="t">
            <a:spAutoFit/>
          </a:bodyPr>
          <a:lstStyle/>
          <a:p>
            <a:pPr algn="l">
              <a:lnSpc>
                <a:spcPct val="100000"/>
              </a:lnSpc>
            </a:pPr>
            <a:r>
              <a:rPr sz="1700" b="1" i="0">
                <a:solidFill>
                  <a:srgbClr val="1F3A5F"/>
                </a:solidFill>
                <a:latin typeface="Cambria"/>
              </a:rPr>
              <a:t>₹132,319 – ₹146,480</a:t>
            </a:r>
          </a:p>
        </p:txBody>
      </p:sp>
      <p:sp>
        <p:nvSpPr>
          <p:cNvPr id="30" name="TextBox 29"/>
          <p:cNvSpPr txBox="1"/>
          <p:nvPr/>
        </p:nvSpPr>
        <p:spPr>
          <a:xfrm>
            <a:off x="9088907" y="3273552"/>
            <a:ext cx="2435275" cy="292608"/>
          </a:xfrm>
          <a:prstGeom prst="rect">
            <a:avLst/>
          </a:prstGeom>
          <a:noFill/>
        </p:spPr>
        <p:txBody>
          <a:bodyPr wrap="square" lIns="0" tIns="0" rIns="0" bIns="0" anchor="t">
            <a:spAutoFit/>
          </a:bodyPr>
          <a:lstStyle/>
          <a:p>
            <a:pPr algn="l"/>
            <a:r>
              <a:rPr sz="950" b="0" i="1">
                <a:solidFill>
                  <a:srgbClr val="64748B"/>
                </a:solidFill>
                <a:latin typeface="Calibri"/>
              </a:rPr>
              <a:t>True mean order value</a:t>
            </a:r>
          </a:p>
        </p:txBody>
      </p:sp>
      <p:sp>
        <p:nvSpPr>
          <p:cNvPr id="31" name="Rounded Rectangle 30"/>
          <p:cNvSpPr/>
          <p:nvPr/>
        </p:nvSpPr>
        <p:spPr>
          <a:xfrm>
            <a:off x="9088907" y="3127248"/>
            <a:ext cx="2307259" cy="384048"/>
          </a:xfrm>
          <a:prstGeom prst="roundRect">
            <a:avLst>
              <a:gd name="adj" fmla="val 50000"/>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88907" y="3200400"/>
            <a:ext cx="2307259" cy="256032"/>
          </a:xfrm>
          <a:prstGeom prst="rect">
            <a:avLst/>
          </a:prstGeom>
          <a:noFill/>
        </p:spPr>
        <p:txBody>
          <a:bodyPr wrap="square" lIns="0" tIns="0" rIns="0" bIns="0" anchor="t">
            <a:spAutoFit/>
          </a:bodyPr>
          <a:lstStyle/>
          <a:p>
            <a:pPr algn="ctr"/>
            <a:r>
              <a:rPr sz="850" b="1" i="0">
                <a:solidFill>
                  <a:srgbClr val="2E75B6"/>
                </a:solidFill>
                <a:latin typeface="Calibri"/>
              </a:rPr>
              <a:t>SIGNIFICANT  ✓</a:t>
            </a:r>
          </a:p>
        </p:txBody>
      </p:sp>
      <p:sp>
        <p:nvSpPr>
          <p:cNvPr id="33" name="TextBox 32"/>
          <p:cNvSpPr txBox="1"/>
          <p:nvPr/>
        </p:nvSpPr>
        <p:spPr>
          <a:xfrm>
            <a:off x="9088907" y="3639312"/>
            <a:ext cx="2435275" cy="1600200"/>
          </a:xfrm>
          <a:prstGeom prst="rect">
            <a:avLst/>
          </a:prstGeom>
          <a:noFill/>
        </p:spPr>
        <p:txBody>
          <a:bodyPr wrap="square" lIns="0" tIns="0" rIns="0" bIns="0" anchor="t">
            <a:spAutoFit/>
          </a:bodyPr>
          <a:lstStyle/>
          <a:p>
            <a:pPr algn="l">
              <a:lnSpc>
                <a:spcPct val="122000"/>
              </a:lnSpc>
            </a:pPr>
            <a:r>
              <a:rPr sz="1000" b="0" i="0">
                <a:solidFill>
                  <a:srgbClr val="3A4756"/>
                </a:solidFill>
                <a:latin typeface="Calibri"/>
              </a:rPr>
              <a:t>The true average order value sits in this band with 95% confidence. Tight enough to build an AOV target against. Any promotion lifting spend above ₹146.5K is measurably above baseline.</a:t>
            </a:r>
          </a:p>
        </p:txBody>
      </p:sp>
      <p:sp>
        <p:nvSpPr>
          <p:cNvPr id="34" name="TextBox 33"/>
          <p:cNvSpPr txBox="1"/>
          <p:nvPr/>
        </p:nvSpPr>
        <p:spPr>
          <a:xfrm>
            <a:off x="594360" y="6199632"/>
            <a:ext cx="11002975" cy="274320"/>
          </a:xfrm>
          <a:prstGeom prst="rect">
            <a:avLst/>
          </a:prstGeom>
          <a:noFill/>
        </p:spPr>
        <p:txBody>
          <a:bodyPr wrap="square" lIns="0" tIns="0" rIns="0" bIns="0" anchor="t">
            <a:spAutoFit/>
          </a:bodyPr>
          <a:lstStyle/>
          <a:p>
            <a:pPr algn="l"/>
            <a:r>
              <a:rPr sz="950" b="0" i="1">
                <a:solidFill>
                  <a:srgbClr val="64748B"/>
                </a:solidFill>
                <a:latin typeface="Calibri"/>
              </a:rPr>
              <a:t>Method: SciPy statistical suite on the cleaned dataset  ·  α = 0.05 throughout.</a:t>
            </a:r>
          </a:p>
        </p:txBody>
      </p:sp>
      <p:sp>
        <p:nvSpPr>
          <p:cNvPr id="35" name="TextBox 34"/>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6" name="TextBox 35"/>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STRATEGIC POSITION</a:t>
            </a:r>
          </a:p>
        </p:txBody>
      </p:sp>
      <p:sp>
        <p:nvSpPr>
          <p:cNvPr id="3" name="TextBox 2"/>
          <p:cNvSpPr txBox="1"/>
          <p:nvPr/>
        </p:nvSpPr>
        <p:spPr>
          <a:xfrm>
            <a:off x="594360" y="585216"/>
            <a:ext cx="11002975" cy="369332"/>
          </a:xfrm>
          <a:prstGeom prst="rect">
            <a:avLst/>
          </a:prstGeom>
          <a:noFill/>
        </p:spPr>
        <p:txBody>
          <a:bodyPr wrap="square" lIns="0" tIns="0" rIns="0" bIns="0" anchor="t">
            <a:spAutoFit/>
          </a:bodyPr>
          <a:lstStyle/>
          <a:p>
            <a:pPr algn="l"/>
            <a:r>
              <a:rPr sz="2400" b="1" i="0" dirty="0">
                <a:solidFill>
                  <a:srgbClr val="1F3A5F"/>
                </a:solidFill>
                <a:latin typeface="Cambria"/>
              </a:rPr>
              <a:t>One engine, two gaps, three opportunities — and three threats to manage</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dirty="0">
                <a:solidFill>
                  <a:srgbClr val="768392"/>
                </a:solidFill>
                <a:latin typeface="Calibri"/>
              </a:rPr>
              <a:t>Every point traces to a tested finding — this is data, not opinion</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10512"/>
            <a:ext cx="5419191" cy="2240280"/>
          </a:xfrm>
          <a:prstGeom prst="roundRect">
            <a:avLst>
              <a:gd name="adj" fmla="val 3673"/>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13816" y="2066543"/>
            <a:ext cx="493776" cy="493776"/>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 y="2112264"/>
            <a:ext cx="493776" cy="402336"/>
          </a:xfrm>
          <a:prstGeom prst="rect">
            <a:avLst/>
          </a:prstGeom>
          <a:noFill/>
        </p:spPr>
        <p:txBody>
          <a:bodyPr wrap="square" lIns="0" tIns="0" rIns="0" bIns="0" anchor="t">
            <a:spAutoFit/>
          </a:bodyPr>
          <a:lstStyle/>
          <a:p>
            <a:pPr algn="ctr"/>
            <a:r>
              <a:rPr sz="1600" b="1" i="0">
                <a:solidFill>
                  <a:srgbClr val="FFFFFF"/>
                </a:solidFill>
                <a:latin typeface="Cambria"/>
              </a:rPr>
              <a:t>S</a:t>
            </a:r>
          </a:p>
        </p:txBody>
      </p:sp>
      <p:sp>
        <p:nvSpPr>
          <p:cNvPr id="9" name="TextBox 8"/>
          <p:cNvSpPr txBox="1"/>
          <p:nvPr/>
        </p:nvSpPr>
        <p:spPr>
          <a:xfrm>
            <a:off x="1472184" y="2084831"/>
            <a:ext cx="4449927" cy="402336"/>
          </a:xfrm>
          <a:prstGeom prst="rect">
            <a:avLst/>
          </a:prstGeom>
          <a:noFill/>
        </p:spPr>
        <p:txBody>
          <a:bodyPr wrap="square" lIns="0" tIns="0" rIns="0" bIns="0" anchor="t">
            <a:spAutoFit/>
          </a:bodyPr>
          <a:lstStyle/>
          <a:p>
            <a:pPr algn="l"/>
            <a:r>
              <a:rPr sz="1450" b="1" i="0">
                <a:solidFill>
                  <a:srgbClr val="1F3A5F"/>
                </a:solidFill>
                <a:latin typeface="Cambria"/>
              </a:rPr>
              <a:t>Strengths</a:t>
            </a:r>
          </a:p>
        </p:txBody>
      </p:sp>
      <p:sp>
        <p:nvSpPr>
          <p:cNvPr id="10" name="TextBox 9"/>
          <p:cNvSpPr txBox="1"/>
          <p:nvPr/>
        </p:nvSpPr>
        <p:spPr>
          <a:xfrm>
            <a:off x="1472184" y="2587752"/>
            <a:ext cx="4449927" cy="1307592"/>
          </a:xfrm>
          <a:prstGeom prst="rect">
            <a:avLst/>
          </a:prstGeom>
          <a:noFill/>
        </p:spPr>
        <p:txBody>
          <a:bodyPr wrap="square" lIns="0" tIns="0" rIns="0" bIns="0" anchor="t">
            <a:spAutoFit/>
          </a:bodyPr>
          <a:lstStyle/>
          <a:p>
            <a:pPr algn="l">
              <a:lnSpc>
                <a:spcPct val="112000"/>
              </a:lnSpc>
              <a:spcAft>
                <a:spcPts val="500"/>
              </a:spcAft>
            </a:pPr>
            <a:r>
              <a:rPr sz="1050" b="0" i="0">
                <a:solidFill>
                  <a:srgbClr val="3A4756"/>
                </a:solidFill>
                <a:latin typeface="Calibri"/>
              </a:rPr>
              <a:t>–  Electronics engine at 36% of total revenue</a:t>
            </a:r>
          </a:p>
          <a:p>
            <a:pPr algn="l">
              <a:lnSpc>
                <a:spcPct val="112000"/>
              </a:lnSpc>
              <a:spcAft>
                <a:spcPts val="500"/>
              </a:spcAft>
            </a:pPr>
            <a:r>
              <a:rPr sz="1050" b="0" i="0">
                <a:solidFill>
                  <a:srgbClr val="3A4756"/>
                </a:solidFill>
                <a:latin typeface="Calibri"/>
              </a:rPr>
              <a:t>–  Premium basket: ₹140.5K average order value</a:t>
            </a:r>
          </a:p>
          <a:p>
            <a:pPr algn="l">
              <a:lnSpc>
                <a:spcPct val="112000"/>
              </a:lnSpc>
              <a:spcAft>
                <a:spcPts val="500"/>
              </a:spcAft>
            </a:pPr>
            <a:r>
              <a:rPr sz="1050" b="0" i="0">
                <a:solidFill>
                  <a:srgbClr val="3A4756"/>
                </a:solidFill>
                <a:latin typeface="Calibri"/>
              </a:rPr>
              <a:t>–  Balanced 8-city footprint across metros and tier-2</a:t>
            </a:r>
          </a:p>
        </p:txBody>
      </p:sp>
      <p:sp>
        <p:nvSpPr>
          <p:cNvPr id="11" name="Rounded Rectangle 10"/>
          <p:cNvSpPr/>
          <p:nvPr/>
        </p:nvSpPr>
        <p:spPr>
          <a:xfrm>
            <a:off x="6178143" y="1810512"/>
            <a:ext cx="5419191" cy="2240280"/>
          </a:xfrm>
          <a:prstGeom prst="roundRect">
            <a:avLst>
              <a:gd name="adj" fmla="val 3673"/>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97599" y="2066543"/>
            <a:ext cx="493776" cy="493776"/>
          </a:xfrm>
          <a:prstGeom prst="ellips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97599" y="2112264"/>
            <a:ext cx="493776" cy="402336"/>
          </a:xfrm>
          <a:prstGeom prst="rect">
            <a:avLst/>
          </a:prstGeom>
          <a:noFill/>
        </p:spPr>
        <p:txBody>
          <a:bodyPr wrap="square" lIns="0" tIns="0" rIns="0" bIns="0" anchor="t">
            <a:spAutoFit/>
          </a:bodyPr>
          <a:lstStyle/>
          <a:p>
            <a:pPr algn="ctr"/>
            <a:r>
              <a:rPr sz="1600" b="1" i="0">
                <a:solidFill>
                  <a:srgbClr val="FFFFFF"/>
                </a:solidFill>
                <a:latin typeface="Cambria"/>
              </a:rPr>
              <a:t>W</a:t>
            </a:r>
          </a:p>
        </p:txBody>
      </p:sp>
      <p:sp>
        <p:nvSpPr>
          <p:cNvPr id="14" name="TextBox 13"/>
          <p:cNvSpPr txBox="1"/>
          <p:nvPr/>
        </p:nvSpPr>
        <p:spPr>
          <a:xfrm>
            <a:off x="7055967" y="2084831"/>
            <a:ext cx="4449927" cy="402336"/>
          </a:xfrm>
          <a:prstGeom prst="rect">
            <a:avLst/>
          </a:prstGeom>
          <a:noFill/>
        </p:spPr>
        <p:txBody>
          <a:bodyPr wrap="square" lIns="0" tIns="0" rIns="0" bIns="0" anchor="t">
            <a:spAutoFit/>
          </a:bodyPr>
          <a:lstStyle/>
          <a:p>
            <a:pPr algn="l"/>
            <a:r>
              <a:rPr sz="1450" b="1" i="0">
                <a:solidFill>
                  <a:srgbClr val="1F3A5F"/>
                </a:solidFill>
                <a:latin typeface="Cambria"/>
              </a:rPr>
              <a:t>Weaknesses</a:t>
            </a:r>
          </a:p>
        </p:txBody>
      </p:sp>
      <p:sp>
        <p:nvSpPr>
          <p:cNvPr id="15" name="TextBox 14"/>
          <p:cNvSpPr txBox="1"/>
          <p:nvPr/>
        </p:nvSpPr>
        <p:spPr>
          <a:xfrm>
            <a:off x="7055967" y="2587752"/>
            <a:ext cx="4449927" cy="1307592"/>
          </a:xfrm>
          <a:prstGeom prst="rect">
            <a:avLst/>
          </a:prstGeom>
          <a:noFill/>
        </p:spPr>
        <p:txBody>
          <a:bodyPr wrap="square" lIns="0" tIns="0" rIns="0" bIns="0" anchor="t">
            <a:spAutoFit/>
          </a:bodyPr>
          <a:lstStyle/>
          <a:p>
            <a:pPr algn="l">
              <a:lnSpc>
                <a:spcPct val="112000"/>
              </a:lnSpc>
              <a:spcAft>
                <a:spcPts val="500"/>
              </a:spcAft>
            </a:pPr>
            <a:r>
              <a:rPr sz="1050" b="0" i="0">
                <a:solidFill>
                  <a:srgbClr val="3A4756"/>
                </a:solidFill>
                <a:latin typeface="Calibri"/>
              </a:rPr>
              <a:t>–  Fashion at ₹19.8M — 61% below Electronics</a:t>
            </a:r>
          </a:p>
          <a:p>
            <a:pPr algn="l">
              <a:lnSpc>
                <a:spcPct val="112000"/>
              </a:lnSpc>
              <a:spcAft>
                <a:spcPts val="500"/>
              </a:spcAft>
            </a:pPr>
            <a:r>
              <a:rPr sz="1050" b="0" i="0">
                <a:solidFill>
                  <a:srgbClr val="3A4756"/>
                </a:solidFill>
                <a:latin typeface="Calibri"/>
              </a:rPr>
              <a:t>–  Aug–Sep trough: –30% below the March peak</a:t>
            </a:r>
          </a:p>
          <a:p>
            <a:pPr algn="l">
              <a:lnSpc>
                <a:spcPct val="112000"/>
              </a:lnSpc>
              <a:spcAft>
                <a:spcPts val="500"/>
              </a:spcAft>
            </a:pPr>
            <a:r>
              <a:rPr sz="1050" b="0" i="0">
                <a:solidFill>
                  <a:srgbClr val="3A4756"/>
                </a:solidFill>
                <a:latin typeface="Calibri"/>
              </a:rPr>
              <a:t>–  ~95% single-purchase buyers — near-zero retention</a:t>
            </a:r>
          </a:p>
        </p:txBody>
      </p:sp>
      <p:sp>
        <p:nvSpPr>
          <p:cNvPr id="16" name="Rounded Rectangle 15"/>
          <p:cNvSpPr/>
          <p:nvPr/>
        </p:nvSpPr>
        <p:spPr>
          <a:xfrm>
            <a:off x="594360" y="4178808"/>
            <a:ext cx="5419191" cy="2240280"/>
          </a:xfrm>
          <a:prstGeom prst="roundRect">
            <a:avLst>
              <a:gd name="adj" fmla="val 3673"/>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13816" y="4434840"/>
            <a:ext cx="493776" cy="49377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 y="4480560"/>
            <a:ext cx="493776" cy="402336"/>
          </a:xfrm>
          <a:prstGeom prst="rect">
            <a:avLst/>
          </a:prstGeom>
          <a:noFill/>
        </p:spPr>
        <p:txBody>
          <a:bodyPr wrap="square" lIns="0" tIns="0" rIns="0" bIns="0" anchor="t">
            <a:spAutoFit/>
          </a:bodyPr>
          <a:lstStyle/>
          <a:p>
            <a:pPr algn="ctr"/>
            <a:r>
              <a:rPr sz="1600" b="1" i="0">
                <a:solidFill>
                  <a:srgbClr val="FFFFFF"/>
                </a:solidFill>
                <a:latin typeface="Cambria"/>
              </a:rPr>
              <a:t>O</a:t>
            </a:r>
          </a:p>
        </p:txBody>
      </p:sp>
      <p:sp>
        <p:nvSpPr>
          <p:cNvPr id="19" name="TextBox 18"/>
          <p:cNvSpPr txBox="1"/>
          <p:nvPr/>
        </p:nvSpPr>
        <p:spPr>
          <a:xfrm>
            <a:off x="1472184" y="4453128"/>
            <a:ext cx="4449927" cy="402336"/>
          </a:xfrm>
          <a:prstGeom prst="rect">
            <a:avLst/>
          </a:prstGeom>
          <a:noFill/>
        </p:spPr>
        <p:txBody>
          <a:bodyPr wrap="square" lIns="0" tIns="0" rIns="0" bIns="0" anchor="t">
            <a:spAutoFit/>
          </a:bodyPr>
          <a:lstStyle/>
          <a:p>
            <a:pPr algn="l"/>
            <a:r>
              <a:rPr sz="1450" b="1" i="0">
                <a:solidFill>
                  <a:srgbClr val="1F3A5F"/>
                </a:solidFill>
                <a:latin typeface="Cambria"/>
              </a:rPr>
              <a:t>Opportunities</a:t>
            </a:r>
          </a:p>
        </p:txBody>
      </p:sp>
      <p:sp>
        <p:nvSpPr>
          <p:cNvPr id="20" name="TextBox 19"/>
          <p:cNvSpPr txBox="1"/>
          <p:nvPr/>
        </p:nvSpPr>
        <p:spPr>
          <a:xfrm>
            <a:off x="1472184" y="4956048"/>
            <a:ext cx="4449927" cy="1307592"/>
          </a:xfrm>
          <a:prstGeom prst="rect">
            <a:avLst/>
          </a:prstGeom>
          <a:noFill/>
        </p:spPr>
        <p:txBody>
          <a:bodyPr wrap="square" lIns="0" tIns="0" rIns="0" bIns="0" anchor="t">
            <a:spAutoFit/>
          </a:bodyPr>
          <a:lstStyle/>
          <a:p>
            <a:pPr algn="l">
              <a:lnSpc>
                <a:spcPct val="112000"/>
              </a:lnSpc>
              <a:spcAft>
                <a:spcPts val="500"/>
              </a:spcAft>
            </a:pPr>
            <a:r>
              <a:rPr sz="1050" b="0" i="0">
                <a:solidFill>
                  <a:srgbClr val="3A4756"/>
                </a:solidFill>
                <a:latin typeface="Calibri"/>
              </a:rPr>
              <a:t>–  Cross-category bundles to push AOV past ₹140K</a:t>
            </a:r>
          </a:p>
          <a:p>
            <a:pPr algn="l">
              <a:lnSpc>
                <a:spcPct val="112000"/>
              </a:lnSpc>
              <a:spcAft>
                <a:spcPts val="500"/>
              </a:spcAft>
            </a:pPr>
            <a:r>
              <a:rPr sz="1050" b="0" i="0">
                <a:solidFill>
                  <a:srgbClr val="3A4756"/>
                </a:solidFill>
                <a:latin typeface="Calibri"/>
              </a:rPr>
              <a:t>–  Loyalty programme to convert 947 one-time buyers</a:t>
            </a:r>
          </a:p>
          <a:p>
            <a:pPr algn="l">
              <a:lnSpc>
                <a:spcPct val="112000"/>
              </a:lnSpc>
              <a:spcAft>
                <a:spcPts val="500"/>
              </a:spcAft>
            </a:pPr>
            <a:r>
              <a:rPr sz="1050" b="0" i="0">
                <a:solidFill>
                  <a:srgbClr val="3A4756"/>
                </a:solidFill>
                <a:latin typeface="Calibri"/>
              </a:rPr>
              <a:t>–  Reinforce Patna &amp; East-India revenue momentum</a:t>
            </a:r>
          </a:p>
        </p:txBody>
      </p:sp>
      <p:sp>
        <p:nvSpPr>
          <p:cNvPr id="21" name="Rounded Rectangle 20"/>
          <p:cNvSpPr/>
          <p:nvPr/>
        </p:nvSpPr>
        <p:spPr>
          <a:xfrm>
            <a:off x="6178143" y="4178808"/>
            <a:ext cx="5419191" cy="2240280"/>
          </a:xfrm>
          <a:prstGeom prst="roundRect">
            <a:avLst>
              <a:gd name="adj" fmla="val 3673"/>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6397599" y="4434840"/>
            <a:ext cx="493776" cy="493776"/>
          </a:xfrm>
          <a:prstGeom prst="ellipse">
            <a:avLst/>
          </a:prstGeom>
          <a:solidFill>
            <a:srgbClr val="8B9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7599" y="4480560"/>
            <a:ext cx="493776" cy="402336"/>
          </a:xfrm>
          <a:prstGeom prst="rect">
            <a:avLst/>
          </a:prstGeom>
          <a:noFill/>
        </p:spPr>
        <p:txBody>
          <a:bodyPr wrap="square" lIns="0" tIns="0" rIns="0" bIns="0" anchor="t">
            <a:spAutoFit/>
          </a:bodyPr>
          <a:lstStyle/>
          <a:p>
            <a:pPr algn="ctr"/>
            <a:r>
              <a:rPr sz="1600" b="1" i="0">
                <a:solidFill>
                  <a:srgbClr val="FFFFFF"/>
                </a:solidFill>
                <a:latin typeface="Cambria"/>
              </a:rPr>
              <a:t>T</a:t>
            </a:r>
          </a:p>
        </p:txBody>
      </p:sp>
      <p:sp>
        <p:nvSpPr>
          <p:cNvPr id="24" name="TextBox 23"/>
          <p:cNvSpPr txBox="1"/>
          <p:nvPr/>
        </p:nvSpPr>
        <p:spPr>
          <a:xfrm>
            <a:off x="7055967" y="4453128"/>
            <a:ext cx="4449927" cy="402336"/>
          </a:xfrm>
          <a:prstGeom prst="rect">
            <a:avLst/>
          </a:prstGeom>
          <a:noFill/>
        </p:spPr>
        <p:txBody>
          <a:bodyPr wrap="square" lIns="0" tIns="0" rIns="0" bIns="0" anchor="t">
            <a:spAutoFit/>
          </a:bodyPr>
          <a:lstStyle/>
          <a:p>
            <a:pPr algn="l"/>
            <a:r>
              <a:rPr sz="1450" b="1" i="0">
                <a:solidFill>
                  <a:srgbClr val="1F3A5F"/>
                </a:solidFill>
                <a:latin typeface="Cambria"/>
              </a:rPr>
              <a:t>Threats</a:t>
            </a:r>
          </a:p>
        </p:txBody>
      </p:sp>
      <p:sp>
        <p:nvSpPr>
          <p:cNvPr id="25" name="TextBox 24"/>
          <p:cNvSpPr txBox="1"/>
          <p:nvPr/>
        </p:nvSpPr>
        <p:spPr>
          <a:xfrm>
            <a:off x="7055967" y="4956048"/>
            <a:ext cx="4449927" cy="1307592"/>
          </a:xfrm>
          <a:prstGeom prst="rect">
            <a:avLst/>
          </a:prstGeom>
          <a:noFill/>
        </p:spPr>
        <p:txBody>
          <a:bodyPr wrap="square" lIns="0" tIns="0" rIns="0" bIns="0" anchor="t">
            <a:spAutoFit/>
          </a:bodyPr>
          <a:lstStyle/>
          <a:p>
            <a:pPr algn="l">
              <a:lnSpc>
                <a:spcPct val="112000"/>
              </a:lnSpc>
              <a:spcAft>
                <a:spcPts val="500"/>
              </a:spcAft>
            </a:pPr>
            <a:r>
              <a:rPr sz="1050" b="0" i="0">
                <a:solidFill>
                  <a:srgbClr val="3A4756"/>
                </a:solidFill>
                <a:latin typeface="Calibri"/>
              </a:rPr>
              <a:t>–  Seasonal cash-flow swings from demand troughs</a:t>
            </a:r>
          </a:p>
          <a:p>
            <a:pPr algn="l">
              <a:lnSpc>
                <a:spcPct val="112000"/>
              </a:lnSpc>
              <a:spcAft>
                <a:spcPts val="500"/>
              </a:spcAft>
            </a:pPr>
            <a:r>
              <a:rPr sz="1050" b="0" i="0">
                <a:solidFill>
                  <a:srgbClr val="3A4756"/>
                </a:solidFill>
                <a:latin typeface="Calibri"/>
              </a:rPr>
              <a:t>–  Revenue concentration: top 5 cities = 67.7%</a:t>
            </a:r>
          </a:p>
          <a:p>
            <a:pPr algn="l">
              <a:lnSpc>
                <a:spcPct val="112000"/>
              </a:lnSpc>
              <a:spcAft>
                <a:spcPts val="500"/>
              </a:spcAft>
            </a:pPr>
            <a:r>
              <a:rPr sz="1050" b="0" i="0">
                <a:solidFill>
                  <a:srgbClr val="3A4756"/>
                </a:solidFill>
                <a:latin typeface="Calibri"/>
              </a:rPr>
              <a:t>–  Metro price competition on Electronics and Fashion</a:t>
            </a:r>
          </a:p>
        </p:txBody>
      </p:sp>
      <p:sp>
        <p:nvSpPr>
          <p:cNvPr id="26" name="TextBox 25"/>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7" name="TextBox 26"/>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RECOMMENDATIONS</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Eight moves, each tied to a tested finding</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Sequenced from quick wins to structural plays — none based on intuition</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10512"/>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58952" y="2139696"/>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162556"/>
            <a:ext cx="438912" cy="347472"/>
          </a:xfrm>
          <a:prstGeom prst="rect">
            <a:avLst/>
          </a:prstGeom>
          <a:noFill/>
        </p:spPr>
        <p:txBody>
          <a:bodyPr wrap="square" lIns="0" tIns="0" rIns="0" bIns="0" anchor="t">
            <a:spAutoFit/>
          </a:bodyPr>
          <a:lstStyle/>
          <a:p>
            <a:pPr algn="ctr"/>
            <a:r>
              <a:rPr sz="1100" b="1" i="0">
                <a:solidFill>
                  <a:srgbClr val="2E75B6"/>
                </a:solidFill>
                <a:latin typeface="Cambria"/>
              </a:rPr>
              <a:t>01</a:t>
            </a:r>
          </a:p>
        </p:txBody>
      </p:sp>
      <p:sp>
        <p:nvSpPr>
          <p:cNvPr id="9" name="TextBox 8"/>
          <p:cNvSpPr txBox="1"/>
          <p:nvPr/>
        </p:nvSpPr>
        <p:spPr>
          <a:xfrm>
            <a:off x="1362456" y="1938528"/>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Protect the Electronics engine</a:t>
            </a:r>
          </a:p>
          <a:p>
            <a:pPr algn="l">
              <a:lnSpc>
                <a:spcPct val="108000"/>
              </a:lnSpc>
            </a:pPr>
            <a:r>
              <a:rPr sz="950" b="0" i="0">
                <a:solidFill>
                  <a:srgbClr val="64748B"/>
                </a:solidFill>
                <a:latin typeface="Calibri"/>
              </a:rPr>
              <a:t>Prioritise inventory and availability for the 36% revenue core.</a:t>
            </a:r>
          </a:p>
        </p:txBody>
      </p:sp>
      <p:sp>
        <p:nvSpPr>
          <p:cNvPr id="10" name="Rounded Rectangle 9"/>
          <p:cNvSpPr/>
          <p:nvPr/>
        </p:nvSpPr>
        <p:spPr>
          <a:xfrm>
            <a:off x="594360" y="2944368"/>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58952" y="3273551"/>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2" y="3296411"/>
            <a:ext cx="438912" cy="347472"/>
          </a:xfrm>
          <a:prstGeom prst="rect">
            <a:avLst/>
          </a:prstGeom>
          <a:noFill/>
        </p:spPr>
        <p:txBody>
          <a:bodyPr wrap="square" lIns="0" tIns="0" rIns="0" bIns="0" anchor="t">
            <a:spAutoFit/>
          </a:bodyPr>
          <a:lstStyle/>
          <a:p>
            <a:pPr algn="ctr"/>
            <a:r>
              <a:rPr sz="1100" b="1" i="0">
                <a:solidFill>
                  <a:srgbClr val="2E75B6"/>
                </a:solidFill>
                <a:latin typeface="Cambria"/>
              </a:rPr>
              <a:t>02</a:t>
            </a:r>
          </a:p>
        </p:txBody>
      </p:sp>
      <p:sp>
        <p:nvSpPr>
          <p:cNvPr id="13" name="TextBox 12"/>
          <p:cNvSpPr txBox="1"/>
          <p:nvPr/>
        </p:nvSpPr>
        <p:spPr>
          <a:xfrm>
            <a:off x="1362456" y="3072384"/>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Promote Laptop and Mobile as hero SKUs</a:t>
            </a:r>
          </a:p>
          <a:p>
            <a:pPr algn="l">
              <a:lnSpc>
                <a:spcPct val="108000"/>
              </a:lnSpc>
            </a:pPr>
            <a:r>
              <a:rPr sz="950" b="0" i="0">
                <a:solidFill>
                  <a:srgbClr val="64748B"/>
                </a:solidFill>
                <a:latin typeface="Calibri"/>
              </a:rPr>
              <a:t>They lead both revenue (₹25.4M) and volume (1,008 units).</a:t>
            </a:r>
          </a:p>
        </p:txBody>
      </p:sp>
      <p:sp>
        <p:nvSpPr>
          <p:cNvPr id="14" name="Rounded Rectangle 13"/>
          <p:cNvSpPr/>
          <p:nvPr/>
        </p:nvSpPr>
        <p:spPr>
          <a:xfrm>
            <a:off x="594360" y="4078224"/>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58952" y="4407408"/>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8952" y="4430268"/>
            <a:ext cx="438912" cy="347472"/>
          </a:xfrm>
          <a:prstGeom prst="rect">
            <a:avLst/>
          </a:prstGeom>
          <a:noFill/>
        </p:spPr>
        <p:txBody>
          <a:bodyPr wrap="square" lIns="0" tIns="0" rIns="0" bIns="0" anchor="t">
            <a:spAutoFit/>
          </a:bodyPr>
          <a:lstStyle/>
          <a:p>
            <a:pPr algn="ctr"/>
            <a:r>
              <a:rPr sz="1100" b="1" i="0">
                <a:solidFill>
                  <a:srgbClr val="2E75B6"/>
                </a:solidFill>
                <a:latin typeface="Cambria"/>
              </a:rPr>
              <a:t>03</a:t>
            </a:r>
          </a:p>
        </p:txBody>
      </p:sp>
      <p:sp>
        <p:nvSpPr>
          <p:cNvPr id="17" name="TextBox 16"/>
          <p:cNvSpPr txBox="1"/>
          <p:nvPr/>
        </p:nvSpPr>
        <p:spPr>
          <a:xfrm>
            <a:off x="1362456" y="4206240"/>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Launch cross-category bundles</a:t>
            </a:r>
          </a:p>
          <a:p>
            <a:pPr algn="l">
              <a:lnSpc>
                <a:spcPct val="108000"/>
              </a:lnSpc>
            </a:pPr>
            <a:r>
              <a:rPr sz="950" b="0" i="0">
                <a:solidFill>
                  <a:srgbClr val="64748B"/>
                </a:solidFill>
                <a:latin typeface="Calibri"/>
              </a:rPr>
              <a:t>Lift AOV past ₹140.5K — Grocery’s ₹145.3K AOV proves the headroom exists.</a:t>
            </a:r>
          </a:p>
        </p:txBody>
      </p:sp>
      <p:sp>
        <p:nvSpPr>
          <p:cNvPr id="18" name="Rounded Rectangle 17"/>
          <p:cNvSpPr/>
          <p:nvPr/>
        </p:nvSpPr>
        <p:spPr>
          <a:xfrm>
            <a:off x="594360" y="5212079"/>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58952" y="5541264"/>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 y="5564123"/>
            <a:ext cx="438912" cy="347472"/>
          </a:xfrm>
          <a:prstGeom prst="rect">
            <a:avLst/>
          </a:prstGeom>
          <a:noFill/>
        </p:spPr>
        <p:txBody>
          <a:bodyPr wrap="square" lIns="0" tIns="0" rIns="0" bIns="0" anchor="t">
            <a:spAutoFit/>
          </a:bodyPr>
          <a:lstStyle/>
          <a:p>
            <a:pPr algn="ctr"/>
            <a:r>
              <a:rPr sz="1100" b="1" i="0">
                <a:solidFill>
                  <a:srgbClr val="2E75B6"/>
                </a:solidFill>
                <a:latin typeface="Cambria"/>
              </a:rPr>
              <a:t>04</a:t>
            </a:r>
          </a:p>
        </p:txBody>
      </p:sp>
      <p:sp>
        <p:nvSpPr>
          <p:cNvPr id="21" name="TextBox 20"/>
          <p:cNvSpPr txBox="1"/>
          <p:nvPr/>
        </p:nvSpPr>
        <p:spPr>
          <a:xfrm>
            <a:off x="1362456" y="5340095"/>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Build a loyalty programme</a:t>
            </a:r>
          </a:p>
          <a:p>
            <a:pPr algn="l">
              <a:lnSpc>
                <a:spcPct val="108000"/>
              </a:lnSpc>
            </a:pPr>
            <a:r>
              <a:rPr sz="950" b="0" i="0">
                <a:solidFill>
                  <a:srgbClr val="64748B"/>
                </a:solidFill>
                <a:latin typeface="Calibri"/>
              </a:rPr>
              <a:t>Convert the ~5% repeat rate — the single largest untapped lever in the data.</a:t>
            </a:r>
          </a:p>
        </p:txBody>
      </p:sp>
      <p:sp>
        <p:nvSpPr>
          <p:cNvPr id="22" name="Rounded Rectangle 21"/>
          <p:cNvSpPr/>
          <p:nvPr/>
        </p:nvSpPr>
        <p:spPr>
          <a:xfrm>
            <a:off x="6196431" y="1810512"/>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361023" y="2139696"/>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61023" y="2162556"/>
            <a:ext cx="438912" cy="347472"/>
          </a:xfrm>
          <a:prstGeom prst="rect">
            <a:avLst/>
          </a:prstGeom>
          <a:noFill/>
        </p:spPr>
        <p:txBody>
          <a:bodyPr wrap="square" lIns="0" tIns="0" rIns="0" bIns="0" anchor="t">
            <a:spAutoFit/>
          </a:bodyPr>
          <a:lstStyle/>
          <a:p>
            <a:pPr algn="ctr"/>
            <a:r>
              <a:rPr sz="1100" b="1" i="0">
                <a:solidFill>
                  <a:srgbClr val="2E75B6"/>
                </a:solidFill>
                <a:latin typeface="Cambria"/>
              </a:rPr>
              <a:t>05</a:t>
            </a:r>
          </a:p>
        </p:txBody>
      </p:sp>
      <p:sp>
        <p:nvSpPr>
          <p:cNvPr id="25" name="TextBox 24"/>
          <p:cNvSpPr txBox="1"/>
          <p:nvPr/>
        </p:nvSpPr>
        <p:spPr>
          <a:xfrm>
            <a:off x="6964527" y="1938528"/>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Focus on the top-5 cities first</a:t>
            </a:r>
          </a:p>
          <a:p>
            <a:pPr algn="l">
              <a:lnSpc>
                <a:spcPct val="108000"/>
              </a:lnSpc>
            </a:pPr>
            <a:r>
              <a:rPr sz="950" b="0" i="0">
                <a:solidFill>
                  <a:srgbClr val="64748B"/>
                </a:solidFill>
                <a:latin typeface="Calibri"/>
              </a:rPr>
              <a:t>Patna, Kolkata, Bengaluru, Mumbai, Hyderabad = 67.7% of revenue.</a:t>
            </a:r>
          </a:p>
        </p:txBody>
      </p:sp>
      <p:sp>
        <p:nvSpPr>
          <p:cNvPr id="26" name="Rounded Rectangle 25"/>
          <p:cNvSpPr/>
          <p:nvPr/>
        </p:nvSpPr>
        <p:spPr>
          <a:xfrm>
            <a:off x="6196431" y="2944368"/>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361023" y="3273551"/>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1023" y="3296411"/>
            <a:ext cx="438912" cy="347472"/>
          </a:xfrm>
          <a:prstGeom prst="rect">
            <a:avLst/>
          </a:prstGeom>
          <a:noFill/>
        </p:spPr>
        <p:txBody>
          <a:bodyPr wrap="square" lIns="0" tIns="0" rIns="0" bIns="0" anchor="t">
            <a:spAutoFit/>
          </a:bodyPr>
          <a:lstStyle/>
          <a:p>
            <a:pPr algn="ctr"/>
            <a:r>
              <a:rPr sz="1100" b="1" i="0">
                <a:solidFill>
                  <a:srgbClr val="2E75B6"/>
                </a:solidFill>
                <a:latin typeface="Cambria"/>
              </a:rPr>
              <a:t>06</a:t>
            </a:r>
          </a:p>
        </p:txBody>
      </p:sp>
      <p:sp>
        <p:nvSpPr>
          <p:cNvPr id="29" name="TextBox 28"/>
          <p:cNvSpPr txBox="1"/>
          <p:nvPr/>
        </p:nvSpPr>
        <p:spPr>
          <a:xfrm>
            <a:off x="6964527" y="3072384"/>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Reposition Fashion with pricing and bundles</a:t>
            </a:r>
          </a:p>
          <a:p>
            <a:pPr algn="l">
              <a:lnSpc>
                <a:spcPct val="108000"/>
              </a:lnSpc>
            </a:pPr>
            <a:r>
              <a:rPr sz="950" b="0" i="0">
                <a:solidFill>
                  <a:srgbClr val="64748B"/>
                </a:solidFill>
                <a:latin typeface="Calibri"/>
              </a:rPr>
              <a:t>Revival of the weakest line rather than category exit.</a:t>
            </a:r>
          </a:p>
        </p:txBody>
      </p:sp>
      <p:sp>
        <p:nvSpPr>
          <p:cNvPr id="30" name="Rounded Rectangle 29"/>
          <p:cNvSpPr/>
          <p:nvPr/>
        </p:nvSpPr>
        <p:spPr>
          <a:xfrm>
            <a:off x="6196431" y="4078224"/>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361023" y="4407408"/>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61023" y="4430268"/>
            <a:ext cx="438912" cy="347472"/>
          </a:xfrm>
          <a:prstGeom prst="rect">
            <a:avLst/>
          </a:prstGeom>
          <a:noFill/>
        </p:spPr>
        <p:txBody>
          <a:bodyPr wrap="square" lIns="0" tIns="0" rIns="0" bIns="0" anchor="t">
            <a:spAutoFit/>
          </a:bodyPr>
          <a:lstStyle/>
          <a:p>
            <a:pPr algn="ctr"/>
            <a:r>
              <a:rPr sz="1100" b="1" i="0">
                <a:solidFill>
                  <a:srgbClr val="2E75B6"/>
                </a:solidFill>
                <a:latin typeface="Cambria"/>
              </a:rPr>
              <a:t>07</a:t>
            </a:r>
          </a:p>
        </p:txBody>
      </p:sp>
      <p:sp>
        <p:nvSpPr>
          <p:cNvPr id="33" name="TextBox 32"/>
          <p:cNvSpPr txBox="1"/>
          <p:nvPr/>
        </p:nvSpPr>
        <p:spPr>
          <a:xfrm>
            <a:off x="6964527" y="4206240"/>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Systematise cross-selling at checkout</a:t>
            </a:r>
          </a:p>
          <a:p>
            <a:pPr algn="l">
              <a:lnSpc>
                <a:spcPct val="108000"/>
              </a:lnSpc>
            </a:pPr>
            <a:r>
              <a:rPr sz="950" b="0" i="0">
                <a:solidFill>
                  <a:srgbClr val="64748B"/>
                </a:solidFill>
                <a:latin typeface="Calibri"/>
              </a:rPr>
              <a:t>Volume correlates with revenue at r = 0.65 — attach-rate is provably profitable.</a:t>
            </a:r>
          </a:p>
        </p:txBody>
      </p:sp>
      <p:sp>
        <p:nvSpPr>
          <p:cNvPr id="34" name="Rounded Rectangle 33"/>
          <p:cNvSpPr/>
          <p:nvPr/>
        </p:nvSpPr>
        <p:spPr>
          <a:xfrm>
            <a:off x="6196431" y="5212079"/>
            <a:ext cx="5400903" cy="1097280"/>
          </a:xfrm>
          <a:prstGeom prst="roundRect">
            <a:avLst>
              <a:gd name="adj" fmla="val 7500"/>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361023" y="5541264"/>
            <a:ext cx="438912" cy="438912"/>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61023" y="5564123"/>
            <a:ext cx="438912" cy="347472"/>
          </a:xfrm>
          <a:prstGeom prst="rect">
            <a:avLst/>
          </a:prstGeom>
          <a:noFill/>
        </p:spPr>
        <p:txBody>
          <a:bodyPr wrap="square" lIns="0" tIns="0" rIns="0" bIns="0" anchor="t">
            <a:spAutoFit/>
          </a:bodyPr>
          <a:lstStyle/>
          <a:p>
            <a:pPr algn="ctr"/>
            <a:r>
              <a:rPr sz="1100" b="1" i="0">
                <a:solidFill>
                  <a:srgbClr val="2E75B6"/>
                </a:solidFill>
                <a:latin typeface="Cambria"/>
              </a:rPr>
              <a:t>08</a:t>
            </a:r>
          </a:p>
        </p:txBody>
      </p:sp>
      <p:sp>
        <p:nvSpPr>
          <p:cNvPr id="37" name="TextBox 36"/>
          <p:cNvSpPr txBox="1"/>
          <p:nvPr/>
        </p:nvSpPr>
        <p:spPr>
          <a:xfrm>
            <a:off x="6964527" y="5340095"/>
            <a:ext cx="4486503" cy="822960"/>
          </a:xfrm>
          <a:prstGeom prst="rect">
            <a:avLst/>
          </a:prstGeom>
          <a:noFill/>
        </p:spPr>
        <p:txBody>
          <a:bodyPr wrap="square" lIns="0" tIns="0" rIns="0" bIns="0" anchor="t">
            <a:spAutoFit/>
          </a:bodyPr>
          <a:lstStyle/>
          <a:p>
            <a:pPr algn="l">
              <a:spcAft>
                <a:spcPts val="200"/>
              </a:spcAft>
            </a:pPr>
            <a:r>
              <a:rPr sz="1100" b="1" i="0">
                <a:solidFill>
                  <a:srgbClr val="1F3A5F"/>
                </a:solidFill>
                <a:latin typeface="Calibri"/>
              </a:rPr>
              <a:t>Counter-seasonal Aug–Sep campaigns</a:t>
            </a:r>
          </a:p>
          <a:p>
            <a:pPr algn="l">
              <a:lnSpc>
                <a:spcPct val="108000"/>
              </a:lnSpc>
            </a:pPr>
            <a:r>
              <a:rPr sz="950" b="0" i="0">
                <a:solidFill>
                  <a:srgbClr val="64748B"/>
                </a:solidFill>
                <a:latin typeface="Calibri"/>
              </a:rPr>
              <a:t>Pre-festive offers and targeted pricing to smooth the –30% trough.</a:t>
            </a:r>
          </a:p>
        </p:txBody>
      </p:sp>
      <p:sp>
        <p:nvSpPr>
          <p:cNvPr id="38" name="TextBox 37"/>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9" name="TextBox 38"/>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BUSINESS IMPACT</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Six outcomes already in stakeholders’ hands</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Measured against the four original business questions — all answered with quantified confidence</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10512"/>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32104" y="204825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bars_blue.png"/>
          <p:cNvPicPr>
            <a:picLocks noChangeAspect="1"/>
          </p:cNvPicPr>
          <p:nvPr/>
        </p:nvPicPr>
        <p:blipFill>
          <a:blip r:embed="rId3"/>
          <a:stretch>
            <a:fillRect/>
          </a:stretch>
        </p:blipFill>
        <p:spPr>
          <a:xfrm>
            <a:off x="968166" y="2184318"/>
            <a:ext cx="294802" cy="294802"/>
          </a:xfrm>
          <a:prstGeom prst="rect">
            <a:avLst/>
          </a:prstGeom>
        </p:spPr>
      </p:pic>
      <p:sp>
        <p:nvSpPr>
          <p:cNvPr id="9" name="TextBox 8"/>
          <p:cNvSpPr txBox="1"/>
          <p:nvPr/>
        </p:nvSpPr>
        <p:spPr>
          <a:xfrm>
            <a:off x="1527048" y="2084831"/>
            <a:ext cx="2552090" cy="640080"/>
          </a:xfrm>
          <a:prstGeom prst="rect">
            <a:avLst/>
          </a:prstGeom>
          <a:noFill/>
        </p:spPr>
        <p:txBody>
          <a:bodyPr wrap="square" lIns="0" tIns="0" rIns="0" bIns="0" anchor="t">
            <a:spAutoFit/>
          </a:bodyPr>
          <a:lstStyle/>
          <a:p>
            <a:pPr algn="l">
              <a:lnSpc>
                <a:spcPct val="108000"/>
              </a:lnSpc>
            </a:pPr>
            <a:r>
              <a:rPr sz="1150" b="1" i="0">
                <a:solidFill>
                  <a:srgbClr val="1F3A5F"/>
                </a:solidFill>
                <a:latin typeface="Calibri"/>
              </a:rPr>
              <a:t>Revenue drivers quantified</a:t>
            </a:r>
          </a:p>
        </p:txBody>
      </p:sp>
      <p:sp>
        <p:nvSpPr>
          <p:cNvPr id="10" name="TextBox 9"/>
          <p:cNvSpPr txBox="1"/>
          <p:nvPr/>
        </p:nvSpPr>
        <p:spPr>
          <a:xfrm>
            <a:off x="832104" y="2798064"/>
            <a:ext cx="1152144" cy="594360"/>
          </a:xfrm>
          <a:prstGeom prst="rect">
            <a:avLst/>
          </a:prstGeom>
          <a:noFill/>
        </p:spPr>
        <p:txBody>
          <a:bodyPr wrap="square" lIns="0" tIns="0" rIns="0" bIns="0" anchor="t">
            <a:spAutoFit/>
          </a:bodyPr>
          <a:lstStyle/>
          <a:p>
            <a:pPr algn="l"/>
            <a:r>
              <a:rPr sz="2600" b="1" i="0">
                <a:solidFill>
                  <a:srgbClr val="1F3A5F"/>
                </a:solidFill>
                <a:latin typeface="Cambria"/>
              </a:rPr>
              <a:t>36%</a:t>
            </a:r>
          </a:p>
        </p:txBody>
      </p:sp>
      <p:sp>
        <p:nvSpPr>
          <p:cNvPr id="11" name="TextBox 10"/>
          <p:cNvSpPr txBox="1"/>
          <p:nvPr/>
        </p:nvSpPr>
        <p:spPr>
          <a:xfrm>
            <a:off x="1856231" y="2871215"/>
            <a:ext cx="2222906" cy="1024128"/>
          </a:xfrm>
          <a:prstGeom prst="rect">
            <a:avLst/>
          </a:prstGeom>
          <a:noFill/>
        </p:spPr>
        <p:txBody>
          <a:bodyPr wrap="square" lIns="0" tIns="0" rIns="0" bIns="0" anchor="t">
            <a:spAutoFit/>
          </a:bodyPr>
          <a:lstStyle/>
          <a:p>
            <a:pPr algn="l">
              <a:lnSpc>
                <a:spcPct val="118000"/>
              </a:lnSpc>
            </a:pPr>
            <a:r>
              <a:rPr sz="950" b="0" i="0">
                <a:solidFill>
                  <a:srgbClr val="64748B"/>
                </a:solidFill>
                <a:latin typeface="Calibri"/>
              </a:rPr>
              <a:t>of revenue traced to Electronics; Laptop + Mobile confirmed as hero SKUs worth ₹50.8M combined.</a:t>
            </a:r>
          </a:p>
        </p:txBody>
      </p:sp>
      <p:sp>
        <p:nvSpPr>
          <p:cNvPr id="12" name="Rounded Rectangle 11"/>
          <p:cNvSpPr/>
          <p:nvPr/>
        </p:nvSpPr>
        <p:spPr>
          <a:xfrm>
            <a:off x="4298594" y="1810512"/>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36338" y="204825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users_blue.png"/>
          <p:cNvPicPr>
            <a:picLocks noChangeAspect="1"/>
          </p:cNvPicPr>
          <p:nvPr/>
        </p:nvPicPr>
        <p:blipFill>
          <a:blip r:embed="rId4"/>
          <a:stretch>
            <a:fillRect/>
          </a:stretch>
        </p:blipFill>
        <p:spPr>
          <a:xfrm>
            <a:off x="4672401" y="2184318"/>
            <a:ext cx="294802" cy="294802"/>
          </a:xfrm>
          <a:prstGeom prst="rect">
            <a:avLst/>
          </a:prstGeom>
        </p:spPr>
      </p:pic>
      <p:sp>
        <p:nvSpPr>
          <p:cNvPr id="15" name="TextBox 14"/>
          <p:cNvSpPr txBox="1"/>
          <p:nvPr/>
        </p:nvSpPr>
        <p:spPr>
          <a:xfrm>
            <a:off x="5231282" y="2084831"/>
            <a:ext cx="2552090" cy="640080"/>
          </a:xfrm>
          <a:prstGeom prst="rect">
            <a:avLst/>
          </a:prstGeom>
          <a:noFill/>
        </p:spPr>
        <p:txBody>
          <a:bodyPr wrap="square" lIns="0" tIns="0" rIns="0" bIns="0" anchor="t">
            <a:spAutoFit/>
          </a:bodyPr>
          <a:lstStyle/>
          <a:p>
            <a:pPr algn="l">
              <a:lnSpc>
                <a:spcPct val="108000"/>
              </a:lnSpc>
            </a:pPr>
            <a:r>
              <a:rPr sz="1150" b="1" i="0">
                <a:solidFill>
                  <a:srgbClr val="1F3A5F"/>
                </a:solidFill>
                <a:latin typeface="Calibri"/>
              </a:rPr>
              <a:t>Costly assumptions retired</a:t>
            </a:r>
          </a:p>
        </p:txBody>
      </p:sp>
      <p:sp>
        <p:nvSpPr>
          <p:cNvPr id="16" name="TextBox 15"/>
          <p:cNvSpPr txBox="1"/>
          <p:nvPr/>
        </p:nvSpPr>
        <p:spPr>
          <a:xfrm>
            <a:off x="4536338" y="2798064"/>
            <a:ext cx="1152144" cy="594360"/>
          </a:xfrm>
          <a:prstGeom prst="rect">
            <a:avLst/>
          </a:prstGeom>
          <a:noFill/>
        </p:spPr>
        <p:txBody>
          <a:bodyPr wrap="square" lIns="0" tIns="0" rIns="0" bIns="0" anchor="t">
            <a:spAutoFit/>
          </a:bodyPr>
          <a:lstStyle/>
          <a:p>
            <a:pPr algn="l"/>
            <a:r>
              <a:rPr sz="2600" b="1" i="0">
                <a:solidFill>
                  <a:srgbClr val="1F3A5F"/>
                </a:solidFill>
                <a:latin typeface="Cambria"/>
              </a:rPr>
              <a:t>2</a:t>
            </a:r>
          </a:p>
        </p:txBody>
      </p:sp>
      <p:sp>
        <p:nvSpPr>
          <p:cNvPr id="17" name="TextBox 16"/>
          <p:cNvSpPr txBox="1"/>
          <p:nvPr/>
        </p:nvSpPr>
        <p:spPr>
          <a:xfrm>
            <a:off x="5560466" y="2871215"/>
            <a:ext cx="2222906" cy="1024128"/>
          </a:xfrm>
          <a:prstGeom prst="rect">
            <a:avLst/>
          </a:prstGeom>
          <a:noFill/>
        </p:spPr>
        <p:txBody>
          <a:bodyPr wrap="square" lIns="0" tIns="0" rIns="0" bIns="0" anchor="t">
            <a:spAutoFit/>
          </a:bodyPr>
          <a:lstStyle/>
          <a:p>
            <a:pPr algn="l">
              <a:lnSpc>
                <a:spcPct val="118000"/>
              </a:lnSpc>
            </a:pPr>
            <a:r>
              <a:rPr sz="950" b="0" i="0">
                <a:solidFill>
                  <a:srgbClr val="64748B"/>
                </a:solidFill>
                <a:latin typeface="Calibri"/>
              </a:rPr>
              <a:t>demographic myths — gender and age — disproven before they misdirected a marketing budget.</a:t>
            </a:r>
          </a:p>
        </p:txBody>
      </p:sp>
      <p:sp>
        <p:nvSpPr>
          <p:cNvPr id="18" name="Rounded Rectangle 17"/>
          <p:cNvSpPr/>
          <p:nvPr/>
        </p:nvSpPr>
        <p:spPr>
          <a:xfrm>
            <a:off x="8002828" y="1810512"/>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40572" y="2048256"/>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inec_blue.png"/>
          <p:cNvPicPr>
            <a:picLocks noChangeAspect="1"/>
          </p:cNvPicPr>
          <p:nvPr/>
        </p:nvPicPr>
        <p:blipFill>
          <a:blip r:embed="rId5"/>
          <a:stretch>
            <a:fillRect/>
          </a:stretch>
        </p:blipFill>
        <p:spPr>
          <a:xfrm>
            <a:off x="8376635" y="2184318"/>
            <a:ext cx="294802" cy="294802"/>
          </a:xfrm>
          <a:prstGeom prst="rect">
            <a:avLst/>
          </a:prstGeom>
        </p:spPr>
      </p:pic>
      <p:sp>
        <p:nvSpPr>
          <p:cNvPr id="21" name="TextBox 20"/>
          <p:cNvSpPr txBox="1"/>
          <p:nvPr/>
        </p:nvSpPr>
        <p:spPr>
          <a:xfrm>
            <a:off x="8935516" y="2084831"/>
            <a:ext cx="2552090" cy="640080"/>
          </a:xfrm>
          <a:prstGeom prst="rect">
            <a:avLst/>
          </a:prstGeom>
          <a:noFill/>
        </p:spPr>
        <p:txBody>
          <a:bodyPr wrap="square" lIns="0" tIns="0" rIns="0" bIns="0" anchor="t">
            <a:spAutoFit/>
          </a:bodyPr>
          <a:lstStyle/>
          <a:p>
            <a:pPr algn="l">
              <a:lnSpc>
                <a:spcPct val="108000"/>
              </a:lnSpc>
            </a:pPr>
            <a:r>
              <a:rPr sz="1150" b="1" i="0">
                <a:solidFill>
                  <a:srgbClr val="1F3A5F"/>
                </a:solidFill>
                <a:latin typeface="Calibri"/>
              </a:rPr>
              <a:t>Insights statistically certified</a:t>
            </a:r>
          </a:p>
        </p:txBody>
      </p:sp>
      <p:sp>
        <p:nvSpPr>
          <p:cNvPr id="22" name="TextBox 21"/>
          <p:cNvSpPr txBox="1"/>
          <p:nvPr/>
        </p:nvSpPr>
        <p:spPr>
          <a:xfrm>
            <a:off x="8240572" y="2798064"/>
            <a:ext cx="1152144" cy="594360"/>
          </a:xfrm>
          <a:prstGeom prst="rect">
            <a:avLst/>
          </a:prstGeom>
          <a:noFill/>
        </p:spPr>
        <p:txBody>
          <a:bodyPr wrap="square" lIns="0" tIns="0" rIns="0" bIns="0" anchor="t">
            <a:spAutoFit/>
          </a:bodyPr>
          <a:lstStyle/>
          <a:p>
            <a:pPr algn="l"/>
            <a:r>
              <a:rPr sz="2600" b="1" i="0">
                <a:solidFill>
                  <a:srgbClr val="1F3A5F"/>
                </a:solidFill>
                <a:latin typeface="Cambria"/>
              </a:rPr>
              <a:t>4</a:t>
            </a:r>
          </a:p>
        </p:txBody>
      </p:sp>
      <p:sp>
        <p:nvSpPr>
          <p:cNvPr id="23" name="TextBox 22"/>
          <p:cNvSpPr txBox="1"/>
          <p:nvPr/>
        </p:nvSpPr>
        <p:spPr>
          <a:xfrm>
            <a:off x="9264700" y="2871215"/>
            <a:ext cx="2222906" cy="1024128"/>
          </a:xfrm>
          <a:prstGeom prst="rect">
            <a:avLst/>
          </a:prstGeom>
          <a:noFill/>
        </p:spPr>
        <p:txBody>
          <a:bodyPr wrap="square" lIns="0" tIns="0" rIns="0" bIns="0" anchor="t">
            <a:spAutoFit/>
          </a:bodyPr>
          <a:lstStyle/>
          <a:p>
            <a:pPr algn="l">
              <a:lnSpc>
                <a:spcPct val="118000"/>
              </a:lnSpc>
            </a:pPr>
            <a:r>
              <a:rPr sz="950" b="0" i="0">
                <a:solidFill>
                  <a:srgbClr val="64748B"/>
                </a:solidFill>
                <a:latin typeface="Calibri"/>
              </a:rPr>
              <a:t>formal tests at α = 0.05 — only findings that survived statistical scrutiny are reported.</a:t>
            </a:r>
          </a:p>
        </p:txBody>
      </p:sp>
      <p:sp>
        <p:nvSpPr>
          <p:cNvPr id="24" name="Rounded Rectangle 23"/>
          <p:cNvSpPr/>
          <p:nvPr/>
        </p:nvSpPr>
        <p:spPr>
          <a:xfrm>
            <a:off x="594360" y="4133087"/>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32104" y="4370831"/>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gauge_blue.png"/>
          <p:cNvPicPr>
            <a:picLocks noChangeAspect="1"/>
          </p:cNvPicPr>
          <p:nvPr/>
        </p:nvPicPr>
        <p:blipFill>
          <a:blip r:embed="rId6"/>
          <a:stretch>
            <a:fillRect/>
          </a:stretch>
        </p:blipFill>
        <p:spPr>
          <a:xfrm>
            <a:off x="968166" y="4506894"/>
            <a:ext cx="294802" cy="294802"/>
          </a:xfrm>
          <a:prstGeom prst="rect">
            <a:avLst/>
          </a:prstGeom>
        </p:spPr>
      </p:pic>
      <p:sp>
        <p:nvSpPr>
          <p:cNvPr id="27" name="TextBox 26"/>
          <p:cNvSpPr txBox="1"/>
          <p:nvPr/>
        </p:nvSpPr>
        <p:spPr>
          <a:xfrm>
            <a:off x="1527048" y="4407407"/>
            <a:ext cx="2552090" cy="640080"/>
          </a:xfrm>
          <a:prstGeom prst="rect">
            <a:avLst/>
          </a:prstGeom>
          <a:noFill/>
        </p:spPr>
        <p:txBody>
          <a:bodyPr wrap="square" lIns="0" tIns="0" rIns="0" bIns="0" anchor="t">
            <a:spAutoFit/>
          </a:bodyPr>
          <a:lstStyle/>
          <a:p>
            <a:pPr algn="l">
              <a:lnSpc>
                <a:spcPct val="108000"/>
              </a:lnSpc>
            </a:pPr>
            <a:r>
              <a:rPr sz="1150" b="1" i="0">
                <a:solidFill>
                  <a:srgbClr val="1F3A5F"/>
                </a:solidFill>
                <a:latin typeface="Calibri"/>
              </a:rPr>
              <a:t>Decision tools in daily use</a:t>
            </a:r>
          </a:p>
        </p:txBody>
      </p:sp>
      <p:sp>
        <p:nvSpPr>
          <p:cNvPr id="28" name="TextBox 27"/>
          <p:cNvSpPr txBox="1"/>
          <p:nvPr/>
        </p:nvSpPr>
        <p:spPr>
          <a:xfrm>
            <a:off x="832104" y="5120640"/>
            <a:ext cx="1152144" cy="594360"/>
          </a:xfrm>
          <a:prstGeom prst="rect">
            <a:avLst/>
          </a:prstGeom>
          <a:noFill/>
        </p:spPr>
        <p:txBody>
          <a:bodyPr wrap="square" lIns="0" tIns="0" rIns="0" bIns="0" anchor="t">
            <a:spAutoFit/>
          </a:bodyPr>
          <a:lstStyle/>
          <a:p>
            <a:pPr algn="l"/>
            <a:r>
              <a:rPr sz="2600" b="1" i="0">
                <a:solidFill>
                  <a:srgbClr val="1F3A5F"/>
                </a:solidFill>
                <a:latin typeface="Cambria"/>
              </a:rPr>
              <a:t>2</a:t>
            </a:r>
          </a:p>
        </p:txBody>
      </p:sp>
      <p:sp>
        <p:nvSpPr>
          <p:cNvPr id="29" name="TextBox 28"/>
          <p:cNvSpPr txBox="1"/>
          <p:nvPr/>
        </p:nvSpPr>
        <p:spPr>
          <a:xfrm>
            <a:off x="1856231" y="5193792"/>
            <a:ext cx="2222906" cy="1024128"/>
          </a:xfrm>
          <a:prstGeom prst="rect">
            <a:avLst/>
          </a:prstGeom>
          <a:noFill/>
        </p:spPr>
        <p:txBody>
          <a:bodyPr wrap="square" lIns="0" tIns="0" rIns="0" bIns="0" anchor="t">
            <a:spAutoFit/>
          </a:bodyPr>
          <a:lstStyle/>
          <a:p>
            <a:pPr algn="l">
              <a:lnSpc>
                <a:spcPct val="118000"/>
              </a:lnSpc>
            </a:pPr>
            <a:r>
              <a:rPr sz="950" b="0" i="0">
                <a:solidFill>
                  <a:srgbClr val="64748B"/>
                </a:solidFill>
                <a:latin typeface="Calibri"/>
              </a:rPr>
              <a:t>interactive Power BI dashboards — executive monitoring and customer targeting, live now.</a:t>
            </a:r>
          </a:p>
        </p:txBody>
      </p:sp>
      <p:sp>
        <p:nvSpPr>
          <p:cNvPr id="30" name="Rounded Rectangle 29"/>
          <p:cNvSpPr/>
          <p:nvPr/>
        </p:nvSpPr>
        <p:spPr>
          <a:xfrm>
            <a:off x="4298594" y="4133087"/>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536338" y="4370831"/>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check_blue.png"/>
          <p:cNvPicPr>
            <a:picLocks noChangeAspect="1"/>
          </p:cNvPicPr>
          <p:nvPr/>
        </p:nvPicPr>
        <p:blipFill>
          <a:blip r:embed="rId7"/>
          <a:stretch>
            <a:fillRect/>
          </a:stretch>
        </p:blipFill>
        <p:spPr>
          <a:xfrm>
            <a:off x="4672401" y="4506894"/>
            <a:ext cx="294802" cy="294802"/>
          </a:xfrm>
          <a:prstGeom prst="rect">
            <a:avLst/>
          </a:prstGeom>
        </p:spPr>
      </p:pic>
      <p:sp>
        <p:nvSpPr>
          <p:cNvPr id="33" name="TextBox 32"/>
          <p:cNvSpPr txBox="1"/>
          <p:nvPr/>
        </p:nvSpPr>
        <p:spPr>
          <a:xfrm>
            <a:off x="5231282" y="4407407"/>
            <a:ext cx="2552090" cy="640080"/>
          </a:xfrm>
          <a:prstGeom prst="rect">
            <a:avLst/>
          </a:prstGeom>
          <a:noFill/>
        </p:spPr>
        <p:txBody>
          <a:bodyPr wrap="square" lIns="0" tIns="0" rIns="0" bIns="0" anchor="t">
            <a:spAutoFit/>
          </a:bodyPr>
          <a:lstStyle/>
          <a:p>
            <a:pPr algn="l">
              <a:lnSpc>
                <a:spcPct val="108000"/>
              </a:lnSpc>
            </a:pPr>
            <a:r>
              <a:rPr sz="1150" b="1" i="0">
                <a:solidFill>
                  <a:srgbClr val="1F3A5F"/>
                </a:solidFill>
                <a:latin typeface="Calibri"/>
              </a:rPr>
              <a:t>Evidence-backed action plan</a:t>
            </a:r>
          </a:p>
        </p:txBody>
      </p:sp>
      <p:sp>
        <p:nvSpPr>
          <p:cNvPr id="34" name="TextBox 33"/>
          <p:cNvSpPr txBox="1"/>
          <p:nvPr/>
        </p:nvSpPr>
        <p:spPr>
          <a:xfrm>
            <a:off x="4536338" y="5120640"/>
            <a:ext cx="1152144" cy="594360"/>
          </a:xfrm>
          <a:prstGeom prst="rect">
            <a:avLst/>
          </a:prstGeom>
          <a:noFill/>
        </p:spPr>
        <p:txBody>
          <a:bodyPr wrap="square" lIns="0" tIns="0" rIns="0" bIns="0" anchor="t">
            <a:spAutoFit/>
          </a:bodyPr>
          <a:lstStyle/>
          <a:p>
            <a:pPr algn="l"/>
            <a:r>
              <a:rPr sz="2600" b="1" i="0">
                <a:solidFill>
                  <a:srgbClr val="1F3A5F"/>
                </a:solidFill>
                <a:latin typeface="Cambria"/>
              </a:rPr>
              <a:t>8</a:t>
            </a:r>
          </a:p>
        </p:txBody>
      </p:sp>
      <p:sp>
        <p:nvSpPr>
          <p:cNvPr id="35" name="TextBox 34"/>
          <p:cNvSpPr txBox="1"/>
          <p:nvPr/>
        </p:nvSpPr>
        <p:spPr>
          <a:xfrm>
            <a:off x="5560466" y="5193792"/>
            <a:ext cx="2222906" cy="1024128"/>
          </a:xfrm>
          <a:prstGeom prst="rect">
            <a:avLst/>
          </a:prstGeom>
          <a:noFill/>
        </p:spPr>
        <p:txBody>
          <a:bodyPr wrap="square" lIns="0" tIns="0" rIns="0" bIns="0" anchor="t">
            <a:spAutoFit/>
          </a:bodyPr>
          <a:lstStyle/>
          <a:p>
            <a:pPr algn="l">
              <a:lnSpc>
                <a:spcPct val="118000"/>
              </a:lnSpc>
            </a:pPr>
            <a:r>
              <a:rPr sz="950" b="0" i="0">
                <a:solidFill>
                  <a:srgbClr val="64748B"/>
                </a:solidFill>
                <a:latin typeface="Calibri"/>
              </a:rPr>
              <a:t>recommendations, each traceable to a tested finding — not one based on intuition.</a:t>
            </a:r>
          </a:p>
        </p:txBody>
      </p:sp>
      <p:sp>
        <p:nvSpPr>
          <p:cNvPr id="36" name="Rounded Rectangle 35"/>
          <p:cNvSpPr/>
          <p:nvPr/>
        </p:nvSpPr>
        <p:spPr>
          <a:xfrm>
            <a:off x="8002828" y="4133087"/>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240572" y="4370831"/>
            <a:ext cx="566928" cy="56692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target_blue.png"/>
          <p:cNvPicPr>
            <a:picLocks noChangeAspect="1"/>
          </p:cNvPicPr>
          <p:nvPr/>
        </p:nvPicPr>
        <p:blipFill>
          <a:blip r:embed="rId8"/>
          <a:stretch>
            <a:fillRect/>
          </a:stretch>
        </p:blipFill>
        <p:spPr>
          <a:xfrm>
            <a:off x="8376635" y="4506894"/>
            <a:ext cx="294802" cy="294802"/>
          </a:xfrm>
          <a:prstGeom prst="rect">
            <a:avLst/>
          </a:prstGeom>
        </p:spPr>
      </p:pic>
      <p:sp>
        <p:nvSpPr>
          <p:cNvPr id="39" name="TextBox 38"/>
          <p:cNvSpPr txBox="1"/>
          <p:nvPr/>
        </p:nvSpPr>
        <p:spPr>
          <a:xfrm>
            <a:off x="8935516" y="4407407"/>
            <a:ext cx="2552090" cy="640080"/>
          </a:xfrm>
          <a:prstGeom prst="rect">
            <a:avLst/>
          </a:prstGeom>
          <a:noFill/>
        </p:spPr>
        <p:txBody>
          <a:bodyPr wrap="square" lIns="0" tIns="0" rIns="0" bIns="0" anchor="t">
            <a:spAutoFit/>
          </a:bodyPr>
          <a:lstStyle/>
          <a:p>
            <a:pPr algn="l">
              <a:lnSpc>
                <a:spcPct val="108000"/>
              </a:lnSpc>
            </a:pPr>
            <a:r>
              <a:rPr sz="1150" b="1" i="0">
                <a:solidFill>
                  <a:srgbClr val="1F3A5F"/>
                </a:solidFill>
                <a:latin typeface="Calibri"/>
              </a:rPr>
              <a:t>Business questions answered</a:t>
            </a:r>
          </a:p>
        </p:txBody>
      </p:sp>
      <p:sp>
        <p:nvSpPr>
          <p:cNvPr id="40" name="TextBox 39"/>
          <p:cNvSpPr txBox="1"/>
          <p:nvPr/>
        </p:nvSpPr>
        <p:spPr>
          <a:xfrm>
            <a:off x="8240572" y="5120640"/>
            <a:ext cx="1152144" cy="594360"/>
          </a:xfrm>
          <a:prstGeom prst="rect">
            <a:avLst/>
          </a:prstGeom>
          <a:noFill/>
        </p:spPr>
        <p:txBody>
          <a:bodyPr wrap="square" lIns="0" tIns="0" rIns="0" bIns="0" anchor="t">
            <a:spAutoFit/>
          </a:bodyPr>
          <a:lstStyle/>
          <a:p>
            <a:pPr algn="l"/>
            <a:r>
              <a:rPr sz="2600" b="1" i="0">
                <a:solidFill>
                  <a:srgbClr val="1F3A5F"/>
                </a:solidFill>
                <a:latin typeface="Cambria"/>
              </a:rPr>
              <a:t>4 / 4</a:t>
            </a:r>
          </a:p>
        </p:txBody>
      </p:sp>
      <p:sp>
        <p:nvSpPr>
          <p:cNvPr id="41" name="TextBox 40"/>
          <p:cNvSpPr txBox="1"/>
          <p:nvPr/>
        </p:nvSpPr>
        <p:spPr>
          <a:xfrm>
            <a:off x="9264700" y="5193792"/>
            <a:ext cx="2222906" cy="1024128"/>
          </a:xfrm>
          <a:prstGeom prst="rect">
            <a:avLst/>
          </a:prstGeom>
          <a:noFill/>
        </p:spPr>
        <p:txBody>
          <a:bodyPr wrap="square" lIns="0" tIns="0" rIns="0" bIns="0" anchor="t">
            <a:spAutoFit/>
          </a:bodyPr>
          <a:lstStyle/>
          <a:p>
            <a:pPr algn="l">
              <a:lnSpc>
                <a:spcPct val="118000"/>
              </a:lnSpc>
            </a:pPr>
            <a:r>
              <a:rPr sz="950" b="0" i="0">
                <a:solidFill>
                  <a:srgbClr val="64748B"/>
                </a:solidFill>
                <a:latin typeface="Calibri"/>
              </a:rPr>
              <a:t>of the original questions resolved with quantified confidence intervals where applicable.</a:t>
            </a:r>
          </a:p>
        </p:txBody>
      </p:sp>
      <p:sp>
        <p:nvSpPr>
          <p:cNvPr id="42" name="TextBox 41"/>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43" name="TextBox 42"/>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CONCLUSION</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From raw rows to decisions leadership can sign</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Three things this project proves — about the business, and about the method</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901952"/>
            <a:ext cx="3594506" cy="2971800"/>
          </a:xfrm>
          <a:prstGeom prst="roundRect">
            <a:avLst>
              <a:gd name="adj" fmla="val 276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0392" y="2212848"/>
            <a:ext cx="658368" cy="65836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db_blue.png"/>
          <p:cNvPicPr>
            <a:picLocks noChangeAspect="1"/>
          </p:cNvPicPr>
          <p:nvPr/>
        </p:nvPicPr>
        <p:blipFill>
          <a:blip r:embed="rId3"/>
          <a:stretch>
            <a:fillRect/>
          </a:stretch>
        </p:blipFill>
        <p:spPr>
          <a:xfrm>
            <a:off x="1008400" y="2370856"/>
            <a:ext cx="342351" cy="342351"/>
          </a:xfrm>
          <a:prstGeom prst="rect">
            <a:avLst/>
          </a:prstGeom>
        </p:spPr>
      </p:pic>
      <p:sp>
        <p:nvSpPr>
          <p:cNvPr id="9" name="TextBox 8"/>
          <p:cNvSpPr txBox="1"/>
          <p:nvPr/>
        </p:nvSpPr>
        <p:spPr>
          <a:xfrm>
            <a:off x="850392" y="3054096"/>
            <a:ext cx="3228746" cy="475488"/>
          </a:xfrm>
          <a:prstGeom prst="rect">
            <a:avLst/>
          </a:prstGeom>
          <a:noFill/>
        </p:spPr>
        <p:txBody>
          <a:bodyPr wrap="square" lIns="0" tIns="0" rIns="0" bIns="0" anchor="t">
            <a:spAutoFit/>
          </a:bodyPr>
          <a:lstStyle/>
          <a:p>
            <a:pPr algn="l"/>
            <a:r>
              <a:rPr sz="1500" b="1" i="0">
                <a:solidFill>
                  <a:srgbClr val="1F3A5F"/>
                </a:solidFill>
                <a:latin typeface="Cambria"/>
              </a:rPr>
              <a:t>From raw to reliable</a:t>
            </a:r>
          </a:p>
        </p:txBody>
      </p:sp>
      <p:sp>
        <p:nvSpPr>
          <p:cNvPr id="10" name="TextBox 9"/>
          <p:cNvSpPr txBox="1"/>
          <p:nvPr/>
        </p:nvSpPr>
        <p:spPr>
          <a:xfrm>
            <a:off x="850392" y="3621024"/>
            <a:ext cx="3228746" cy="1143000"/>
          </a:xfrm>
          <a:prstGeom prst="rect">
            <a:avLst/>
          </a:prstGeom>
          <a:noFill/>
        </p:spPr>
        <p:txBody>
          <a:bodyPr wrap="square" lIns="0" tIns="0" rIns="0" bIns="0" anchor="t">
            <a:spAutoFit/>
          </a:bodyPr>
          <a:lstStyle/>
          <a:p>
            <a:pPr algn="l">
              <a:lnSpc>
                <a:spcPct val="122000"/>
              </a:lnSpc>
            </a:pPr>
            <a:r>
              <a:rPr sz="1050" b="0" i="0">
                <a:solidFill>
                  <a:srgbClr val="3A4756"/>
                </a:solidFill>
                <a:latin typeface="Calibri"/>
              </a:rPr>
              <a:t>1,000 messy records became a cleaned, documented, SQL-queryable asset with a full audit trail — every number on every slide is traceable to source.</a:t>
            </a:r>
          </a:p>
        </p:txBody>
      </p:sp>
      <p:sp>
        <p:nvSpPr>
          <p:cNvPr id="11" name="Rounded Rectangle 10"/>
          <p:cNvSpPr/>
          <p:nvPr/>
        </p:nvSpPr>
        <p:spPr>
          <a:xfrm>
            <a:off x="4298594" y="1901952"/>
            <a:ext cx="3594506" cy="2971800"/>
          </a:xfrm>
          <a:prstGeom prst="roundRect">
            <a:avLst>
              <a:gd name="adj" fmla="val 276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54626" y="2212848"/>
            <a:ext cx="658368" cy="65836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linec_blue.png"/>
          <p:cNvPicPr>
            <a:picLocks noChangeAspect="1"/>
          </p:cNvPicPr>
          <p:nvPr/>
        </p:nvPicPr>
        <p:blipFill>
          <a:blip r:embed="rId4"/>
          <a:stretch>
            <a:fillRect/>
          </a:stretch>
        </p:blipFill>
        <p:spPr>
          <a:xfrm>
            <a:off x="4712634" y="2370856"/>
            <a:ext cx="342351" cy="342351"/>
          </a:xfrm>
          <a:prstGeom prst="rect">
            <a:avLst/>
          </a:prstGeom>
        </p:spPr>
      </p:pic>
      <p:sp>
        <p:nvSpPr>
          <p:cNvPr id="14" name="TextBox 13"/>
          <p:cNvSpPr txBox="1"/>
          <p:nvPr/>
        </p:nvSpPr>
        <p:spPr>
          <a:xfrm>
            <a:off x="4554626" y="3054096"/>
            <a:ext cx="3228746" cy="475488"/>
          </a:xfrm>
          <a:prstGeom prst="rect">
            <a:avLst/>
          </a:prstGeom>
          <a:noFill/>
        </p:spPr>
        <p:txBody>
          <a:bodyPr wrap="square" lIns="0" tIns="0" rIns="0" bIns="0" anchor="t">
            <a:spAutoFit/>
          </a:bodyPr>
          <a:lstStyle/>
          <a:p>
            <a:pPr algn="l"/>
            <a:r>
              <a:rPr sz="1500" b="1" i="0">
                <a:solidFill>
                  <a:srgbClr val="1F3A5F"/>
                </a:solidFill>
                <a:latin typeface="Cambria"/>
              </a:rPr>
              <a:t>Patterns, verified</a:t>
            </a:r>
          </a:p>
        </p:txBody>
      </p:sp>
      <p:sp>
        <p:nvSpPr>
          <p:cNvPr id="15" name="TextBox 14"/>
          <p:cNvSpPr txBox="1"/>
          <p:nvPr/>
        </p:nvSpPr>
        <p:spPr>
          <a:xfrm>
            <a:off x="4554626" y="3621024"/>
            <a:ext cx="3228746" cy="1143000"/>
          </a:xfrm>
          <a:prstGeom prst="rect">
            <a:avLst/>
          </a:prstGeom>
          <a:noFill/>
        </p:spPr>
        <p:txBody>
          <a:bodyPr wrap="square" lIns="0" tIns="0" rIns="0" bIns="0" anchor="t">
            <a:spAutoFit/>
          </a:bodyPr>
          <a:lstStyle/>
          <a:p>
            <a:pPr algn="l">
              <a:lnSpc>
                <a:spcPct val="122000"/>
              </a:lnSpc>
            </a:pPr>
            <a:r>
              <a:rPr sz="1050" b="0" i="0">
                <a:solidFill>
                  <a:srgbClr val="3A4756"/>
                </a:solidFill>
                <a:latin typeface="Calibri"/>
              </a:rPr>
              <a:t>Formal testing confirmed the real drivers — volume, category, geography — and retired two myths about gender and age that would have misdirected budgets.</a:t>
            </a:r>
          </a:p>
        </p:txBody>
      </p:sp>
      <p:sp>
        <p:nvSpPr>
          <p:cNvPr id="16" name="Rounded Rectangle 15"/>
          <p:cNvSpPr/>
          <p:nvPr/>
        </p:nvSpPr>
        <p:spPr>
          <a:xfrm>
            <a:off x="8002828" y="1901952"/>
            <a:ext cx="3594506" cy="2971800"/>
          </a:xfrm>
          <a:prstGeom prst="roundRect">
            <a:avLst>
              <a:gd name="adj" fmla="val 276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258860" y="2212848"/>
            <a:ext cx="658368" cy="658368"/>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gauge_blue.png"/>
          <p:cNvPicPr>
            <a:picLocks noChangeAspect="1"/>
          </p:cNvPicPr>
          <p:nvPr/>
        </p:nvPicPr>
        <p:blipFill>
          <a:blip r:embed="rId5"/>
          <a:stretch>
            <a:fillRect/>
          </a:stretch>
        </p:blipFill>
        <p:spPr>
          <a:xfrm>
            <a:off x="8416869" y="2370856"/>
            <a:ext cx="342351" cy="342351"/>
          </a:xfrm>
          <a:prstGeom prst="rect">
            <a:avLst/>
          </a:prstGeom>
        </p:spPr>
      </p:pic>
      <p:sp>
        <p:nvSpPr>
          <p:cNvPr id="19" name="TextBox 18"/>
          <p:cNvSpPr txBox="1"/>
          <p:nvPr/>
        </p:nvSpPr>
        <p:spPr>
          <a:xfrm>
            <a:off x="8258860" y="3054096"/>
            <a:ext cx="3228746" cy="475488"/>
          </a:xfrm>
          <a:prstGeom prst="rect">
            <a:avLst/>
          </a:prstGeom>
          <a:noFill/>
        </p:spPr>
        <p:txBody>
          <a:bodyPr wrap="square" lIns="0" tIns="0" rIns="0" bIns="0" anchor="t">
            <a:spAutoFit/>
          </a:bodyPr>
          <a:lstStyle/>
          <a:p>
            <a:pPr algn="l"/>
            <a:r>
              <a:rPr sz="1500" b="1" i="0">
                <a:solidFill>
                  <a:srgbClr val="1F3A5F"/>
                </a:solidFill>
                <a:latin typeface="Cambria"/>
              </a:rPr>
              <a:t>Decisions, operationalised</a:t>
            </a:r>
          </a:p>
        </p:txBody>
      </p:sp>
      <p:sp>
        <p:nvSpPr>
          <p:cNvPr id="20" name="TextBox 19"/>
          <p:cNvSpPr txBox="1"/>
          <p:nvPr/>
        </p:nvSpPr>
        <p:spPr>
          <a:xfrm>
            <a:off x="8258860" y="3621024"/>
            <a:ext cx="3228746" cy="1143000"/>
          </a:xfrm>
          <a:prstGeom prst="rect">
            <a:avLst/>
          </a:prstGeom>
          <a:noFill/>
        </p:spPr>
        <p:txBody>
          <a:bodyPr wrap="square" lIns="0" tIns="0" rIns="0" bIns="0" anchor="t">
            <a:spAutoFit/>
          </a:bodyPr>
          <a:lstStyle/>
          <a:p>
            <a:pPr algn="l">
              <a:lnSpc>
                <a:spcPct val="122000"/>
              </a:lnSpc>
            </a:pPr>
            <a:r>
              <a:rPr sz="1050" b="0" i="0">
                <a:solidFill>
                  <a:srgbClr val="3A4756"/>
                </a:solidFill>
                <a:latin typeface="Calibri"/>
              </a:rPr>
              <a:t>Two live dashboards and eight evidence-backed recommendations turn analysis into an operating rhythm the business checks daily.</a:t>
            </a:r>
          </a:p>
        </p:txBody>
      </p:sp>
      <p:sp>
        <p:nvSpPr>
          <p:cNvPr id="21" name="Rounded Rectangle 20"/>
          <p:cNvSpPr/>
          <p:nvPr/>
        </p:nvSpPr>
        <p:spPr>
          <a:xfrm>
            <a:off x="594360" y="5102352"/>
            <a:ext cx="11002975" cy="914400"/>
          </a:xfrm>
          <a:prstGeom prst="roundRect">
            <a:avLst>
              <a:gd name="adj" fmla="val 9000"/>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5248656"/>
            <a:ext cx="10088575" cy="658368"/>
          </a:xfrm>
          <a:prstGeom prst="rect">
            <a:avLst/>
          </a:prstGeom>
          <a:noFill/>
        </p:spPr>
        <p:txBody>
          <a:bodyPr wrap="square" lIns="0" tIns="0" rIns="0" bIns="0" anchor="t">
            <a:spAutoFit/>
          </a:bodyPr>
          <a:lstStyle/>
          <a:p>
            <a:pPr algn="ctr"/>
            <a:r>
              <a:rPr sz="1550" b="0" i="1">
                <a:solidFill>
                  <a:srgbClr val="1F3A5F"/>
                </a:solidFill>
                <a:latin typeface="Cambria"/>
              </a:rPr>
              <a:t>“Good analytics doesn’t end with charts — it ends with decisions someone is willing to sign.”</a:t>
            </a:r>
          </a:p>
        </p:txBody>
      </p:sp>
      <p:sp>
        <p:nvSpPr>
          <p:cNvPr id="23" name="TextBox 22"/>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24" name="TextBox 23"/>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1002975" cy="274320"/>
          </a:xfrm>
          <a:prstGeom prst="rect">
            <a:avLst/>
          </a:prstGeom>
          <a:noFill/>
        </p:spPr>
        <p:txBody>
          <a:bodyPr wrap="square" lIns="0" tIns="0" rIns="0" bIns="0" anchor="t">
            <a:spAutoFit/>
          </a:bodyPr>
          <a:lstStyle/>
          <a:p>
            <a:pPr algn="l"/>
            <a:r>
              <a:rPr sz="1050" b="1" i="0">
                <a:solidFill>
                  <a:srgbClr val="2E75B6"/>
                </a:solidFill>
                <a:latin typeface="Calibri"/>
              </a:rPr>
              <a:t>SALES ANALYTICS  ·  FUTURE SCOPE</a:t>
            </a:r>
          </a:p>
        </p:txBody>
      </p:sp>
      <p:sp>
        <p:nvSpPr>
          <p:cNvPr id="3" name="TextBox 2"/>
          <p:cNvSpPr txBox="1"/>
          <p:nvPr/>
        </p:nvSpPr>
        <p:spPr>
          <a:xfrm>
            <a:off x="594360" y="585216"/>
            <a:ext cx="11002975" cy="603504"/>
          </a:xfrm>
          <a:prstGeom prst="rect">
            <a:avLst/>
          </a:prstGeom>
          <a:noFill/>
        </p:spPr>
        <p:txBody>
          <a:bodyPr wrap="square" lIns="0" tIns="0" rIns="0" bIns="0" anchor="t">
            <a:spAutoFit/>
          </a:bodyPr>
          <a:lstStyle/>
          <a:p>
            <a:pPr algn="l"/>
            <a:r>
              <a:rPr sz="2900" b="1" i="0">
                <a:solidFill>
                  <a:srgbClr val="1F3A5F"/>
                </a:solidFill>
                <a:latin typeface="Cambria"/>
              </a:rPr>
              <a:t>From describing the past to predicting and automating the future</a:t>
            </a:r>
          </a:p>
        </p:txBody>
      </p:sp>
      <p:sp>
        <p:nvSpPr>
          <p:cNvPr id="4" name="TextBox 3"/>
          <p:cNvSpPr txBox="1"/>
          <p:nvPr/>
        </p:nvSpPr>
        <p:spPr>
          <a:xfrm>
            <a:off x="594360" y="1225296"/>
            <a:ext cx="11002975" cy="347472"/>
          </a:xfrm>
          <a:prstGeom prst="rect">
            <a:avLst/>
          </a:prstGeom>
          <a:noFill/>
        </p:spPr>
        <p:txBody>
          <a:bodyPr wrap="square" lIns="0" tIns="0" rIns="0" bIns="0" anchor="t">
            <a:spAutoFit/>
          </a:bodyPr>
          <a:lstStyle/>
          <a:p>
            <a:pPr algn="l"/>
            <a:r>
              <a:rPr sz="1300" b="0" i="0">
                <a:solidFill>
                  <a:srgbClr val="768392"/>
                </a:solidFill>
                <a:latin typeface="Calibri"/>
              </a:rPr>
              <a:t>Six natural extensions — each building on an asset this project already created</a:t>
            </a:r>
          </a:p>
        </p:txBody>
      </p:sp>
      <p:sp>
        <p:nvSpPr>
          <p:cNvPr id="5" name="Rectangle 4"/>
          <p:cNvSpPr/>
          <p:nvPr/>
        </p:nvSpPr>
        <p:spPr>
          <a:xfrm>
            <a:off x="594360" y="1664208"/>
            <a:ext cx="11002975" cy="10972"/>
          </a:xfrm>
          <a:prstGeom prst="rect">
            <a:avLst/>
          </a:prstGeom>
          <a:solidFill>
            <a:srgbClr val="DF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828800"/>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32104" y="2103120"/>
            <a:ext cx="585216" cy="585216"/>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up_blue.png"/>
          <p:cNvPicPr>
            <a:picLocks noChangeAspect="1"/>
          </p:cNvPicPr>
          <p:nvPr/>
        </p:nvPicPr>
        <p:blipFill>
          <a:blip r:embed="rId3"/>
          <a:stretch>
            <a:fillRect/>
          </a:stretch>
        </p:blipFill>
        <p:spPr>
          <a:xfrm>
            <a:off x="972555" y="2243571"/>
            <a:ext cx="304312" cy="304312"/>
          </a:xfrm>
          <a:prstGeom prst="rect">
            <a:avLst/>
          </a:prstGeom>
        </p:spPr>
      </p:pic>
      <p:sp>
        <p:nvSpPr>
          <p:cNvPr id="9" name="TextBox 8"/>
          <p:cNvSpPr txBox="1"/>
          <p:nvPr/>
        </p:nvSpPr>
        <p:spPr>
          <a:xfrm>
            <a:off x="1545336" y="2176272"/>
            <a:ext cx="2533802" cy="621792"/>
          </a:xfrm>
          <a:prstGeom prst="rect">
            <a:avLst/>
          </a:prstGeom>
          <a:noFill/>
        </p:spPr>
        <p:txBody>
          <a:bodyPr wrap="square" lIns="0" tIns="0" rIns="0" bIns="0" anchor="t">
            <a:spAutoFit/>
          </a:bodyPr>
          <a:lstStyle/>
          <a:p>
            <a:pPr algn="l">
              <a:lnSpc>
                <a:spcPct val="105000"/>
              </a:lnSpc>
            </a:pPr>
            <a:r>
              <a:rPr sz="1250" b="1" i="0">
                <a:solidFill>
                  <a:srgbClr val="1F3A5F"/>
                </a:solidFill>
                <a:latin typeface="Calibri"/>
              </a:rPr>
              <a:t>Demand Forecasting</a:t>
            </a:r>
          </a:p>
        </p:txBody>
      </p:sp>
      <p:sp>
        <p:nvSpPr>
          <p:cNvPr id="10" name="TextBox 9"/>
          <p:cNvSpPr txBox="1"/>
          <p:nvPr/>
        </p:nvSpPr>
        <p:spPr>
          <a:xfrm>
            <a:off x="832104" y="2871215"/>
            <a:ext cx="3247034" cy="1060704"/>
          </a:xfrm>
          <a:prstGeom prst="rect">
            <a:avLst/>
          </a:prstGeom>
          <a:noFill/>
        </p:spPr>
        <p:txBody>
          <a:bodyPr wrap="square" lIns="0" tIns="0" rIns="0" bIns="0" anchor="t">
            <a:spAutoFit/>
          </a:bodyPr>
          <a:lstStyle/>
          <a:p>
            <a:pPr algn="l">
              <a:lnSpc>
                <a:spcPct val="120000"/>
              </a:lnSpc>
            </a:pPr>
            <a:r>
              <a:rPr sz="950" b="0" i="0">
                <a:solidFill>
                  <a:srgbClr val="64748B"/>
                </a:solidFill>
                <a:latin typeface="Calibri"/>
              </a:rPr>
              <a:t>ARIMA or Prophet on the monthly revenue series — plan inventory ahead of the March and festive-season peaks now proved in the data.</a:t>
            </a:r>
          </a:p>
        </p:txBody>
      </p:sp>
      <p:sp>
        <p:nvSpPr>
          <p:cNvPr id="11" name="Rounded Rectangle 10"/>
          <p:cNvSpPr/>
          <p:nvPr/>
        </p:nvSpPr>
        <p:spPr>
          <a:xfrm>
            <a:off x="4298594" y="1828800"/>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536338" y="2103120"/>
            <a:ext cx="585216" cy="585216"/>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split_blue.png"/>
          <p:cNvPicPr>
            <a:picLocks noChangeAspect="1"/>
          </p:cNvPicPr>
          <p:nvPr/>
        </p:nvPicPr>
        <p:blipFill>
          <a:blip r:embed="rId4"/>
          <a:stretch>
            <a:fillRect/>
          </a:stretch>
        </p:blipFill>
        <p:spPr>
          <a:xfrm>
            <a:off x="4676790" y="2243571"/>
            <a:ext cx="304312" cy="304312"/>
          </a:xfrm>
          <a:prstGeom prst="rect">
            <a:avLst/>
          </a:prstGeom>
        </p:spPr>
      </p:pic>
      <p:sp>
        <p:nvSpPr>
          <p:cNvPr id="14" name="TextBox 13"/>
          <p:cNvSpPr txBox="1"/>
          <p:nvPr/>
        </p:nvSpPr>
        <p:spPr>
          <a:xfrm>
            <a:off x="5249570" y="2176272"/>
            <a:ext cx="2533802" cy="621792"/>
          </a:xfrm>
          <a:prstGeom prst="rect">
            <a:avLst/>
          </a:prstGeom>
          <a:noFill/>
        </p:spPr>
        <p:txBody>
          <a:bodyPr wrap="square" lIns="0" tIns="0" rIns="0" bIns="0" anchor="t">
            <a:spAutoFit/>
          </a:bodyPr>
          <a:lstStyle/>
          <a:p>
            <a:pPr algn="l">
              <a:lnSpc>
                <a:spcPct val="105000"/>
              </a:lnSpc>
            </a:pPr>
            <a:r>
              <a:rPr sz="1250" b="1" i="0">
                <a:solidFill>
                  <a:srgbClr val="1F3A5F"/>
                </a:solidFill>
                <a:latin typeface="Calibri"/>
              </a:rPr>
              <a:t>RFM Segmentation</a:t>
            </a:r>
          </a:p>
        </p:txBody>
      </p:sp>
      <p:sp>
        <p:nvSpPr>
          <p:cNvPr id="15" name="TextBox 14"/>
          <p:cNvSpPr txBox="1"/>
          <p:nvPr/>
        </p:nvSpPr>
        <p:spPr>
          <a:xfrm>
            <a:off x="4536338" y="2871215"/>
            <a:ext cx="3247034" cy="1060704"/>
          </a:xfrm>
          <a:prstGeom prst="rect">
            <a:avLst/>
          </a:prstGeom>
          <a:noFill/>
        </p:spPr>
        <p:txBody>
          <a:bodyPr wrap="square" lIns="0" tIns="0" rIns="0" bIns="0" anchor="t">
            <a:spAutoFit/>
          </a:bodyPr>
          <a:lstStyle/>
          <a:p>
            <a:pPr algn="l">
              <a:lnSpc>
                <a:spcPct val="120000"/>
              </a:lnSpc>
            </a:pPr>
            <a:r>
              <a:rPr sz="950" b="0" i="0">
                <a:solidFill>
                  <a:srgbClr val="64748B"/>
                </a:solidFill>
                <a:latin typeface="Calibri"/>
              </a:rPr>
              <a:t>Cluster the 947 customers by Recency, Frequency and Value to give the loyalty programme a precise, scored target list rather than a blanket offer.</a:t>
            </a:r>
          </a:p>
        </p:txBody>
      </p:sp>
      <p:sp>
        <p:nvSpPr>
          <p:cNvPr id="16" name="Rounded Rectangle 15"/>
          <p:cNvSpPr/>
          <p:nvPr/>
        </p:nvSpPr>
        <p:spPr>
          <a:xfrm>
            <a:off x="8002828" y="1828800"/>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240572" y="2103120"/>
            <a:ext cx="585216" cy="585216"/>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layers_blue.png"/>
          <p:cNvPicPr>
            <a:picLocks noChangeAspect="1"/>
          </p:cNvPicPr>
          <p:nvPr/>
        </p:nvPicPr>
        <p:blipFill>
          <a:blip r:embed="rId5"/>
          <a:stretch>
            <a:fillRect/>
          </a:stretch>
        </p:blipFill>
        <p:spPr>
          <a:xfrm>
            <a:off x="8381024" y="2243571"/>
            <a:ext cx="304312" cy="304312"/>
          </a:xfrm>
          <a:prstGeom prst="rect">
            <a:avLst/>
          </a:prstGeom>
        </p:spPr>
      </p:pic>
      <p:sp>
        <p:nvSpPr>
          <p:cNvPr id="19" name="TextBox 18"/>
          <p:cNvSpPr txBox="1"/>
          <p:nvPr/>
        </p:nvSpPr>
        <p:spPr>
          <a:xfrm>
            <a:off x="8953804" y="2176272"/>
            <a:ext cx="2533802" cy="621792"/>
          </a:xfrm>
          <a:prstGeom prst="rect">
            <a:avLst/>
          </a:prstGeom>
          <a:noFill/>
        </p:spPr>
        <p:txBody>
          <a:bodyPr wrap="square" lIns="0" tIns="0" rIns="0" bIns="0" anchor="t">
            <a:spAutoFit/>
          </a:bodyPr>
          <a:lstStyle/>
          <a:p>
            <a:pPr algn="l">
              <a:lnSpc>
                <a:spcPct val="105000"/>
              </a:lnSpc>
            </a:pPr>
            <a:r>
              <a:rPr sz="1250" b="1" i="0">
                <a:solidFill>
                  <a:srgbClr val="1F3A5F"/>
                </a:solidFill>
                <a:latin typeface="Calibri"/>
              </a:rPr>
              <a:t>Market-Basket Analysis</a:t>
            </a:r>
          </a:p>
        </p:txBody>
      </p:sp>
      <p:sp>
        <p:nvSpPr>
          <p:cNvPr id="20" name="TextBox 19"/>
          <p:cNvSpPr txBox="1"/>
          <p:nvPr/>
        </p:nvSpPr>
        <p:spPr>
          <a:xfrm>
            <a:off x="8240572" y="2871215"/>
            <a:ext cx="3247034" cy="1060704"/>
          </a:xfrm>
          <a:prstGeom prst="rect">
            <a:avLst/>
          </a:prstGeom>
          <a:noFill/>
        </p:spPr>
        <p:txBody>
          <a:bodyPr wrap="square" lIns="0" tIns="0" rIns="0" bIns="0" anchor="t">
            <a:spAutoFit/>
          </a:bodyPr>
          <a:lstStyle/>
          <a:p>
            <a:pPr algn="l">
              <a:lnSpc>
                <a:spcPct val="120000"/>
              </a:lnSpc>
            </a:pPr>
            <a:r>
              <a:rPr sz="950" b="0" i="0">
                <a:solidFill>
                  <a:srgbClr val="64748B"/>
                </a:solidFill>
                <a:latin typeface="Calibri"/>
              </a:rPr>
              <a:t>Association rules across the 1,000 transactions to design recommended bundles from real co-purchase patterns, not assumption.</a:t>
            </a:r>
          </a:p>
        </p:txBody>
      </p:sp>
      <p:sp>
        <p:nvSpPr>
          <p:cNvPr id="21" name="Rounded Rectangle 20"/>
          <p:cNvSpPr/>
          <p:nvPr/>
        </p:nvSpPr>
        <p:spPr>
          <a:xfrm>
            <a:off x="594360" y="4169664"/>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2104" y="4443984"/>
            <a:ext cx="585216" cy="585216"/>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gear_blue.png"/>
          <p:cNvPicPr>
            <a:picLocks noChangeAspect="1"/>
          </p:cNvPicPr>
          <p:nvPr/>
        </p:nvPicPr>
        <p:blipFill>
          <a:blip r:embed="rId6"/>
          <a:stretch>
            <a:fillRect/>
          </a:stretch>
        </p:blipFill>
        <p:spPr>
          <a:xfrm>
            <a:off x="972555" y="4584435"/>
            <a:ext cx="304312" cy="304312"/>
          </a:xfrm>
          <a:prstGeom prst="rect">
            <a:avLst/>
          </a:prstGeom>
        </p:spPr>
      </p:pic>
      <p:sp>
        <p:nvSpPr>
          <p:cNvPr id="24" name="TextBox 23"/>
          <p:cNvSpPr txBox="1"/>
          <p:nvPr/>
        </p:nvSpPr>
        <p:spPr>
          <a:xfrm>
            <a:off x="1545336" y="4517136"/>
            <a:ext cx="2533802" cy="621792"/>
          </a:xfrm>
          <a:prstGeom prst="rect">
            <a:avLst/>
          </a:prstGeom>
          <a:noFill/>
        </p:spPr>
        <p:txBody>
          <a:bodyPr wrap="square" lIns="0" tIns="0" rIns="0" bIns="0" anchor="t">
            <a:spAutoFit/>
          </a:bodyPr>
          <a:lstStyle/>
          <a:p>
            <a:pPr algn="l">
              <a:lnSpc>
                <a:spcPct val="105000"/>
              </a:lnSpc>
            </a:pPr>
            <a:r>
              <a:rPr sz="1250" b="1" i="0">
                <a:solidFill>
                  <a:srgbClr val="1F3A5F"/>
                </a:solidFill>
                <a:latin typeface="Calibri"/>
              </a:rPr>
              <a:t>Automated ETL Pipeline</a:t>
            </a:r>
          </a:p>
        </p:txBody>
      </p:sp>
      <p:sp>
        <p:nvSpPr>
          <p:cNvPr id="25" name="TextBox 24"/>
          <p:cNvSpPr txBox="1"/>
          <p:nvPr/>
        </p:nvSpPr>
        <p:spPr>
          <a:xfrm>
            <a:off x="832104" y="5212080"/>
            <a:ext cx="3247034" cy="1060704"/>
          </a:xfrm>
          <a:prstGeom prst="rect">
            <a:avLst/>
          </a:prstGeom>
          <a:noFill/>
        </p:spPr>
        <p:txBody>
          <a:bodyPr wrap="square" lIns="0" tIns="0" rIns="0" bIns="0" anchor="t">
            <a:spAutoFit/>
          </a:bodyPr>
          <a:lstStyle/>
          <a:p>
            <a:pPr algn="l">
              <a:lnSpc>
                <a:spcPct val="120000"/>
              </a:lnSpc>
            </a:pPr>
            <a:r>
              <a:rPr sz="950" b="0" i="0">
                <a:solidFill>
                  <a:srgbClr val="64748B"/>
                </a:solidFill>
                <a:latin typeface="Calibri"/>
              </a:rPr>
              <a:t>Scheduled ingest, clean and load — removing every manual refresh step and enabling daily data freshness in the dashboards.</a:t>
            </a:r>
          </a:p>
        </p:txBody>
      </p:sp>
      <p:sp>
        <p:nvSpPr>
          <p:cNvPr id="26" name="Rounded Rectangle 25"/>
          <p:cNvSpPr/>
          <p:nvPr/>
        </p:nvSpPr>
        <p:spPr>
          <a:xfrm>
            <a:off x="4298594" y="4169664"/>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536338" y="4443984"/>
            <a:ext cx="585216" cy="585216"/>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refresh_blue.png"/>
          <p:cNvPicPr>
            <a:picLocks noChangeAspect="1"/>
          </p:cNvPicPr>
          <p:nvPr/>
        </p:nvPicPr>
        <p:blipFill>
          <a:blip r:embed="rId7"/>
          <a:stretch>
            <a:fillRect/>
          </a:stretch>
        </p:blipFill>
        <p:spPr>
          <a:xfrm>
            <a:off x="4676790" y="4584435"/>
            <a:ext cx="304312" cy="304312"/>
          </a:xfrm>
          <a:prstGeom prst="rect">
            <a:avLst/>
          </a:prstGeom>
        </p:spPr>
      </p:pic>
      <p:sp>
        <p:nvSpPr>
          <p:cNvPr id="29" name="TextBox 28"/>
          <p:cNvSpPr txBox="1"/>
          <p:nvPr/>
        </p:nvSpPr>
        <p:spPr>
          <a:xfrm>
            <a:off x="5249570" y="4517136"/>
            <a:ext cx="2533802" cy="621792"/>
          </a:xfrm>
          <a:prstGeom prst="rect">
            <a:avLst/>
          </a:prstGeom>
          <a:noFill/>
        </p:spPr>
        <p:txBody>
          <a:bodyPr wrap="square" lIns="0" tIns="0" rIns="0" bIns="0" anchor="t">
            <a:spAutoFit/>
          </a:bodyPr>
          <a:lstStyle/>
          <a:p>
            <a:pPr algn="l">
              <a:lnSpc>
                <a:spcPct val="105000"/>
              </a:lnSpc>
            </a:pPr>
            <a:r>
              <a:rPr sz="1250" b="1" i="0">
                <a:solidFill>
                  <a:srgbClr val="1F3A5F"/>
                </a:solidFill>
                <a:latin typeface="Calibri"/>
              </a:rPr>
              <a:t>Real-Time Dashboards</a:t>
            </a:r>
          </a:p>
        </p:txBody>
      </p:sp>
      <p:sp>
        <p:nvSpPr>
          <p:cNvPr id="30" name="TextBox 29"/>
          <p:cNvSpPr txBox="1"/>
          <p:nvPr/>
        </p:nvSpPr>
        <p:spPr>
          <a:xfrm>
            <a:off x="4536338" y="5212080"/>
            <a:ext cx="3247034" cy="1060704"/>
          </a:xfrm>
          <a:prstGeom prst="rect">
            <a:avLst/>
          </a:prstGeom>
          <a:noFill/>
        </p:spPr>
        <p:txBody>
          <a:bodyPr wrap="square" lIns="0" tIns="0" rIns="0" bIns="0" anchor="t">
            <a:spAutoFit/>
          </a:bodyPr>
          <a:lstStyle/>
          <a:p>
            <a:pPr algn="l">
              <a:lnSpc>
                <a:spcPct val="120000"/>
              </a:lnSpc>
            </a:pPr>
            <a:r>
              <a:rPr sz="950" b="0" i="0">
                <a:solidFill>
                  <a:srgbClr val="64748B"/>
                </a:solidFill>
                <a:latin typeface="Calibri"/>
              </a:rPr>
              <a:t>Power BI Service with scheduled refresh and row-level security per region, so each city manager sees only their market.</a:t>
            </a:r>
          </a:p>
        </p:txBody>
      </p:sp>
      <p:sp>
        <p:nvSpPr>
          <p:cNvPr id="31" name="Rounded Rectangle 30"/>
          <p:cNvSpPr/>
          <p:nvPr/>
        </p:nvSpPr>
        <p:spPr>
          <a:xfrm>
            <a:off x="8002828" y="4169664"/>
            <a:ext cx="3594506" cy="2212848"/>
          </a:xfrm>
          <a:prstGeom prst="roundRect">
            <a:avLst>
              <a:gd name="adj" fmla="val 3719"/>
            </a:avLst>
          </a:prstGeom>
          <a:solidFill>
            <a:srgbClr val="F7FAFD"/>
          </a:solidFill>
          <a:ln w="9525">
            <a:solidFill>
              <a:srgbClr val="DFE6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240572" y="4443984"/>
            <a:ext cx="585216" cy="585216"/>
          </a:xfrm>
          <a:prstGeom prst="ellipse">
            <a:avLst/>
          </a:prstGeom>
          <a:solidFill>
            <a:srgbClr val="ED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cal_blue.png"/>
          <p:cNvPicPr>
            <a:picLocks noChangeAspect="1"/>
          </p:cNvPicPr>
          <p:nvPr/>
        </p:nvPicPr>
        <p:blipFill>
          <a:blip r:embed="rId8"/>
          <a:stretch>
            <a:fillRect/>
          </a:stretch>
        </p:blipFill>
        <p:spPr>
          <a:xfrm>
            <a:off x="8381024" y="4584435"/>
            <a:ext cx="304312" cy="304312"/>
          </a:xfrm>
          <a:prstGeom prst="rect">
            <a:avLst/>
          </a:prstGeom>
        </p:spPr>
      </p:pic>
      <p:sp>
        <p:nvSpPr>
          <p:cNvPr id="34" name="TextBox 33"/>
          <p:cNvSpPr txBox="1"/>
          <p:nvPr/>
        </p:nvSpPr>
        <p:spPr>
          <a:xfrm>
            <a:off x="8953804" y="4517136"/>
            <a:ext cx="2533802" cy="621792"/>
          </a:xfrm>
          <a:prstGeom prst="rect">
            <a:avLst/>
          </a:prstGeom>
          <a:noFill/>
        </p:spPr>
        <p:txBody>
          <a:bodyPr wrap="square" lIns="0" tIns="0" rIns="0" bIns="0" anchor="t">
            <a:spAutoFit/>
          </a:bodyPr>
          <a:lstStyle/>
          <a:p>
            <a:pPr algn="l">
              <a:lnSpc>
                <a:spcPct val="105000"/>
              </a:lnSpc>
            </a:pPr>
            <a:r>
              <a:rPr sz="1250" b="1" i="0">
                <a:solidFill>
                  <a:srgbClr val="1F3A5F"/>
                </a:solidFill>
                <a:latin typeface="Calibri"/>
              </a:rPr>
              <a:t>Promotion Uplift Testing</a:t>
            </a:r>
          </a:p>
        </p:txBody>
      </p:sp>
      <p:sp>
        <p:nvSpPr>
          <p:cNvPr id="35" name="TextBox 34"/>
          <p:cNvSpPr txBox="1"/>
          <p:nvPr/>
        </p:nvSpPr>
        <p:spPr>
          <a:xfrm>
            <a:off x="8240572" y="5212080"/>
            <a:ext cx="3247034" cy="1060704"/>
          </a:xfrm>
          <a:prstGeom prst="rect">
            <a:avLst/>
          </a:prstGeom>
          <a:noFill/>
        </p:spPr>
        <p:txBody>
          <a:bodyPr wrap="square" lIns="0" tIns="0" rIns="0" bIns="0" anchor="t">
            <a:spAutoFit/>
          </a:bodyPr>
          <a:lstStyle/>
          <a:p>
            <a:pPr algn="l">
              <a:lnSpc>
                <a:spcPct val="120000"/>
              </a:lnSpc>
            </a:pPr>
            <a:r>
              <a:rPr sz="950" b="0" i="0">
                <a:solidFill>
                  <a:srgbClr val="64748B"/>
                </a:solidFill>
                <a:latin typeface="Calibri"/>
              </a:rPr>
              <a:t>A/B frameworks to measure campaign ROI as it happens — extending the statistical toolkit from validating the past to optimising the future.</a:t>
            </a:r>
          </a:p>
        </p:txBody>
      </p:sp>
      <p:sp>
        <p:nvSpPr>
          <p:cNvPr id="36" name="TextBox 35"/>
          <p:cNvSpPr txBox="1"/>
          <p:nvPr/>
        </p:nvSpPr>
        <p:spPr>
          <a:xfrm>
            <a:off x="594360" y="6492240"/>
            <a:ext cx="8686800" cy="256032"/>
          </a:xfrm>
          <a:prstGeom prst="rect">
            <a:avLst/>
          </a:prstGeom>
          <a:noFill/>
        </p:spPr>
        <p:txBody>
          <a:bodyPr wrap="square" lIns="0" tIns="0" rIns="0" bIns="0" anchor="t">
            <a:spAutoFit/>
          </a:bodyPr>
          <a:lstStyle/>
          <a:p>
            <a:pPr algn="l"/>
            <a:r>
              <a:rPr sz="850" b="0" i="0">
                <a:solidFill>
                  <a:srgbClr val="768392"/>
                </a:solidFill>
                <a:latin typeface="Calibri"/>
              </a:rPr>
              <a:t>ApexPlanet Software Pvt. Ltd.  ·  Data Analytics Internship  ·  Task 4</a:t>
            </a:r>
          </a:p>
        </p:txBody>
      </p:sp>
      <p:sp>
        <p:nvSpPr>
          <p:cNvPr id="37" name="TextBox 36"/>
          <p:cNvSpPr txBox="1"/>
          <p:nvPr/>
        </p:nvSpPr>
        <p:spPr>
          <a:xfrm>
            <a:off x="11002975" y="6492240"/>
            <a:ext cx="594360" cy="256032"/>
          </a:xfrm>
          <a:prstGeom prst="rect">
            <a:avLst/>
          </a:prstGeom>
          <a:noFill/>
        </p:spPr>
        <p:txBody>
          <a:bodyPr wrap="square" lIns="0" tIns="0" rIns="0" bIns="0" anchor="t">
            <a:spAutoFit/>
          </a:bodyPr>
          <a:lstStyle/>
          <a:p>
            <a:pPr algn="r"/>
            <a:r>
              <a:rPr sz="900" b="0" i="0">
                <a:solidFill>
                  <a:srgbClr val="76839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50292"/>
          </a:xfrm>
          <a:prstGeom prst="roundRect">
            <a:avLst>
              <a:gd name="adj" fmla="val 163636"/>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170432"/>
            <a:ext cx="6858000" cy="320040"/>
          </a:xfrm>
          <a:prstGeom prst="rect">
            <a:avLst/>
          </a:prstGeom>
          <a:noFill/>
        </p:spPr>
        <p:txBody>
          <a:bodyPr wrap="square" lIns="0" tIns="0" rIns="0" bIns="0" anchor="t">
            <a:spAutoFit/>
          </a:bodyPr>
          <a:lstStyle/>
          <a:p>
            <a:pPr algn="l"/>
            <a:r>
              <a:rPr sz="900" b="1" i="0">
                <a:solidFill>
                  <a:srgbClr val="A9C4E8"/>
                </a:solidFill>
                <a:latin typeface="Calibri"/>
              </a:rPr>
              <a:t>SALES ANALYTICS  ·  END-TO-END PROJECT  ·  APEXPLANET DATA ANALYTICS INTERNSHIP  ·  TASK 4</a:t>
            </a:r>
          </a:p>
        </p:txBody>
      </p:sp>
      <p:sp>
        <p:nvSpPr>
          <p:cNvPr id="4" name="TextBox 3"/>
          <p:cNvSpPr txBox="1"/>
          <p:nvPr/>
        </p:nvSpPr>
        <p:spPr>
          <a:xfrm>
            <a:off x="914400" y="1554480"/>
            <a:ext cx="6858000" cy="914400"/>
          </a:xfrm>
          <a:prstGeom prst="rect">
            <a:avLst/>
          </a:prstGeom>
          <a:noFill/>
        </p:spPr>
        <p:txBody>
          <a:bodyPr wrap="square" lIns="0" tIns="0" rIns="0" bIns="0" anchor="t">
            <a:spAutoFit/>
          </a:bodyPr>
          <a:lstStyle/>
          <a:p>
            <a:pPr algn="l"/>
            <a:r>
              <a:rPr sz="5200" b="1" i="0">
                <a:solidFill>
                  <a:srgbClr val="FFFFFF"/>
                </a:solidFill>
                <a:latin typeface="Cambria"/>
              </a:rPr>
              <a:t>Thank you.</a:t>
            </a:r>
          </a:p>
        </p:txBody>
      </p:sp>
      <p:sp>
        <p:nvSpPr>
          <p:cNvPr id="5" name="Rectangle 4"/>
          <p:cNvSpPr/>
          <p:nvPr/>
        </p:nvSpPr>
        <p:spPr>
          <a:xfrm>
            <a:off x="914400" y="2578608"/>
            <a:ext cx="6583680" cy="1097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761488"/>
            <a:ext cx="6858000" cy="713232"/>
          </a:xfrm>
          <a:prstGeom prst="rect">
            <a:avLst/>
          </a:prstGeom>
          <a:noFill/>
        </p:spPr>
        <p:txBody>
          <a:bodyPr wrap="square" lIns="0" tIns="0" rIns="0" bIns="0" anchor="t">
            <a:spAutoFit/>
          </a:bodyPr>
          <a:lstStyle/>
          <a:p>
            <a:pPr algn="l">
              <a:spcAft>
                <a:spcPts val="400"/>
              </a:spcAft>
            </a:pPr>
            <a:r>
              <a:rPr sz="1700" b="1" i="0">
                <a:solidFill>
                  <a:srgbClr val="FFFFFF"/>
                </a:solidFill>
                <a:latin typeface="Calibri"/>
              </a:rPr>
              <a:t>Durga Prasad</a:t>
            </a:r>
          </a:p>
          <a:p>
            <a:pPr algn="l"/>
            <a:r>
              <a:rPr sz="1200" b="0" i="0">
                <a:solidFill>
                  <a:srgbClr val="A9C4E8"/>
                </a:solidFill>
                <a:latin typeface="Calibri"/>
              </a:rPr>
              <a:t>Data Analyst Intern  ·  ApexPlanet Software Pvt. Ltd.</a:t>
            </a:r>
          </a:p>
        </p:txBody>
      </p:sp>
      <p:sp>
        <p:nvSpPr>
          <p:cNvPr id="7" name="TextBox 6"/>
          <p:cNvSpPr txBox="1"/>
          <p:nvPr/>
        </p:nvSpPr>
        <p:spPr>
          <a:xfrm>
            <a:off x="914400" y="3675887"/>
            <a:ext cx="7863840" cy="438912"/>
          </a:xfrm>
          <a:prstGeom prst="rect">
            <a:avLst/>
          </a:prstGeom>
          <a:noFill/>
        </p:spPr>
        <p:txBody>
          <a:bodyPr wrap="square" lIns="0" tIns="0" rIns="0" bIns="0" anchor="t">
            <a:spAutoFit/>
          </a:bodyPr>
          <a:lstStyle/>
          <a:p>
            <a:pPr algn="l"/>
            <a:r>
              <a:rPr sz="1150" b="1" i="0">
                <a:solidFill>
                  <a:srgbClr val="A9C4E8"/>
                </a:solidFill>
                <a:latin typeface="Calibri"/>
              </a:rPr>
              <a:t>Project repository   </a:t>
            </a:r>
            <a:r>
              <a:rPr sz="1150" b="0" i="0">
                <a:solidFill>
                  <a:srgbClr val="FFFFFF"/>
                </a:solidFill>
                <a:latin typeface="Calibri"/>
              </a:rPr>
              <a:t>github.com/shettyprasad-git/Sales-Analytics-End-to-End-Project-ApexPlanet</a:t>
            </a:r>
          </a:p>
        </p:txBody>
      </p:sp>
      <p:sp>
        <p:nvSpPr>
          <p:cNvPr id="8" name="TextBox 7"/>
          <p:cNvSpPr txBox="1"/>
          <p:nvPr/>
        </p:nvSpPr>
        <p:spPr>
          <a:xfrm>
            <a:off x="914400" y="4224528"/>
            <a:ext cx="7863840" cy="347472"/>
          </a:xfrm>
          <a:prstGeom prst="rect">
            <a:avLst/>
          </a:prstGeom>
          <a:noFill/>
        </p:spPr>
        <p:txBody>
          <a:bodyPr wrap="square" lIns="0" tIns="0" rIns="0" bIns="0" anchor="t">
            <a:spAutoFit/>
          </a:bodyPr>
          <a:lstStyle/>
          <a:p>
            <a:pPr algn="l"/>
            <a:r>
              <a:rPr sz="1000" b="0" i="0">
                <a:solidFill>
                  <a:srgbClr val="A9C4E8"/>
                </a:solidFill>
                <a:latin typeface="Calibri"/>
              </a:rPr>
              <a:t>Python  ·  Pandas  ·  NumPy  ·  SQL  ·  MySQL  ·  Power BI  ·  Jupyter  ·  Git  ·  GitHub</a:t>
            </a:r>
          </a:p>
        </p:txBody>
      </p:sp>
      <p:sp>
        <p:nvSpPr>
          <p:cNvPr id="9" name="Rounded Rectangle 8"/>
          <p:cNvSpPr/>
          <p:nvPr/>
        </p:nvSpPr>
        <p:spPr>
          <a:xfrm>
            <a:off x="8979408" y="1005840"/>
            <a:ext cx="2907792" cy="5138928"/>
          </a:xfrm>
          <a:prstGeom prst="roundRect">
            <a:avLst>
              <a:gd name="adj" fmla="val 2830"/>
            </a:avLst>
          </a:prstGeom>
          <a:solidFill>
            <a:srgbClr val="162E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25712" y="1371600"/>
            <a:ext cx="2606040" cy="329184"/>
          </a:xfrm>
          <a:prstGeom prst="rect">
            <a:avLst/>
          </a:prstGeom>
          <a:noFill/>
        </p:spPr>
        <p:txBody>
          <a:bodyPr wrap="square" lIns="0" tIns="0" rIns="0" bIns="0" anchor="t">
            <a:spAutoFit/>
          </a:bodyPr>
          <a:lstStyle/>
          <a:p>
            <a:pPr algn="l"/>
            <a:r>
              <a:rPr sz="850" b="1" i="0">
                <a:solidFill>
                  <a:srgbClr val="A9C4E8"/>
                </a:solidFill>
                <a:latin typeface="Calibri"/>
              </a:rPr>
              <a:t>PROJECT AT A GLANCE</a:t>
            </a:r>
          </a:p>
        </p:txBody>
      </p:sp>
      <p:sp>
        <p:nvSpPr>
          <p:cNvPr id="11" name="TextBox 10"/>
          <p:cNvSpPr txBox="1"/>
          <p:nvPr/>
        </p:nvSpPr>
        <p:spPr>
          <a:xfrm>
            <a:off x="9125712" y="1847088"/>
            <a:ext cx="2615184" cy="713232"/>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₹139.4M</a:t>
            </a:r>
          </a:p>
          <a:p>
            <a:pPr algn="l"/>
            <a:r>
              <a:rPr sz="900" b="0" i="0">
                <a:solidFill>
                  <a:srgbClr val="A9C4E8"/>
                </a:solidFill>
                <a:latin typeface="Calibri"/>
              </a:rPr>
              <a:t>revenue analysed</a:t>
            </a:r>
          </a:p>
        </p:txBody>
      </p:sp>
      <p:sp>
        <p:nvSpPr>
          <p:cNvPr id="12" name="TextBox 11"/>
          <p:cNvSpPr txBox="1"/>
          <p:nvPr/>
        </p:nvSpPr>
        <p:spPr>
          <a:xfrm>
            <a:off x="9125712" y="2596896"/>
            <a:ext cx="2615184" cy="713232"/>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1,000</a:t>
            </a:r>
          </a:p>
          <a:p>
            <a:pPr algn="l"/>
            <a:r>
              <a:rPr sz="900" b="0" i="0">
                <a:solidFill>
                  <a:srgbClr val="A9C4E8"/>
                </a:solidFill>
                <a:latin typeface="Calibri"/>
              </a:rPr>
              <a:t>transactions processed</a:t>
            </a:r>
          </a:p>
        </p:txBody>
      </p:sp>
      <p:sp>
        <p:nvSpPr>
          <p:cNvPr id="13" name="TextBox 12"/>
          <p:cNvSpPr txBox="1"/>
          <p:nvPr/>
        </p:nvSpPr>
        <p:spPr>
          <a:xfrm>
            <a:off x="9125712" y="3346704"/>
            <a:ext cx="2615184" cy="713232"/>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4</a:t>
            </a:r>
          </a:p>
          <a:p>
            <a:pPr algn="l"/>
            <a:r>
              <a:rPr sz="900" b="0" i="0">
                <a:solidFill>
                  <a:srgbClr val="A9C4E8"/>
                </a:solidFill>
                <a:latin typeface="Calibri"/>
              </a:rPr>
              <a:t>statistical tests run</a:t>
            </a:r>
          </a:p>
        </p:txBody>
      </p:sp>
      <p:sp>
        <p:nvSpPr>
          <p:cNvPr id="14" name="TextBox 13"/>
          <p:cNvSpPr txBox="1"/>
          <p:nvPr/>
        </p:nvSpPr>
        <p:spPr>
          <a:xfrm>
            <a:off x="9125712" y="4096512"/>
            <a:ext cx="2615184" cy="713232"/>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2</a:t>
            </a:r>
          </a:p>
          <a:p>
            <a:pPr algn="l"/>
            <a:r>
              <a:rPr sz="900" b="0" i="0">
                <a:solidFill>
                  <a:srgbClr val="A9C4E8"/>
                </a:solidFill>
                <a:latin typeface="Calibri"/>
              </a:rPr>
              <a:t>Power BI dashboards</a:t>
            </a:r>
          </a:p>
        </p:txBody>
      </p:sp>
      <p:sp>
        <p:nvSpPr>
          <p:cNvPr id="15" name="TextBox 14"/>
          <p:cNvSpPr txBox="1"/>
          <p:nvPr/>
        </p:nvSpPr>
        <p:spPr>
          <a:xfrm>
            <a:off x="9125712" y="4846320"/>
            <a:ext cx="2615184" cy="713232"/>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8</a:t>
            </a:r>
          </a:p>
          <a:p>
            <a:pPr algn="l"/>
            <a:r>
              <a:rPr sz="900" b="0" i="0">
                <a:solidFill>
                  <a:srgbClr val="A9C4E8"/>
                </a:solidFill>
                <a:latin typeface="Calibri"/>
              </a:rPr>
              <a:t>action recommendations</a:t>
            </a:r>
          </a:p>
        </p:txBody>
      </p:sp>
      <p:sp>
        <p:nvSpPr>
          <p:cNvPr id="16" name="TextBox 15"/>
          <p:cNvSpPr txBox="1"/>
          <p:nvPr/>
        </p:nvSpPr>
        <p:spPr>
          <a:xfrm>
            <a:off x="9125712" y="5596127"/>
            <a:ext cx="2615184" cy="713232"/>
          </a:xfrm>
          <a:prstGeom prst="rect">
            <a:avLst/>
          </a:prstGeom>
          <a:noFill/>
        </p:spPr>
        <p:txBody>
          <a:bodyPr wrap="square" lIns="0" tIns="0" rIns="0" bIns="0" anchor="t">
            <a:spAutoFit/>
          </a:bodyPr>
          <a:lstStyle/>
          <a:p>
            <a:pPr algn="l">
              <a:spcAft>
                <a:spcPts val="0"/>
              </a:spcAft>
            </a:pPr>
            <a:r>
              <a:rPr sz="2200" b="1" i="0">
                <a:solidFill>
                  <a:srgbClr val="2E75B6"/>
                </a:solidFill>
                <a:latin typeface="Cambria"/>
              </a:rPr>
              <a:t>4 / 4</a:t>
            </a:r>
          </a:p>
          <a:p>
            <a:pPr algn="l"/>
            <a:r>
              <a:rPr sz="900" b="0" i="0">
                <a:solidFill>
                  <a:srgbClr val="A9C4E8"/>
                </a:solidFill>
                <a:latin typeface="Calibri"/>
              </a:rPr>
              <a:t>questions answered</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4377</Words>
  <Application>Microsoft Office PowerPoint</Application>
  <PresentationFormat>Widescreen</PresentationFormat>
  <Paragraphs>418</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Prasad Shetty</cp:lastModifiedBy>
  <cp:revision>3</cp:revision>
  <dcterms:created xsi:type="dcterms:W3CDTF">2013-01-27T09:14:16Z</dcterms:created>
  <dcterms:modified xsi:type="dcterms:W3CDTF">2026-07-07T13:19:29Z</dcterms:modified>
  <cp:category/>
</cp:coreProperties>
</file>